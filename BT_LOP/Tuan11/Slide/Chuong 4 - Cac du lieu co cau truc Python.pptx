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0" r:id="rId1"/>
  </p:sldMasterIdLst>
  <p:notesMasterIdLst>
    <p:notesMasterId r:id="rId64"/>
  </p:notesMasterIdLst>
  <p:handoutMasterIdLst>
    <p:handoutMasterId r:id="rId65"/>
  </p:handoutMasterIdLst>
  <p:sldIdLst>
    <p:sldId id="258" r:id="rId2"/>
    <p:sldId id="347" r:id="rId3"/>
    <p:sldId id="346" r:id="rId4"/>
    <p:sldId id="388" r:id="rId5"/>
    <p:sldId id="274" r:id="rId6"/>
    <p:sldId id="348" r:id="rId7"/>
    <p:sldId id="349" r:id="rId8"/>
    <p:sldId id="386" r:id="rId9"/>
    <p:sldId id="384" r:id="rId10"/>
    <p:sldId id="350" r:id="rId11"/>
    <p:sldId id="385" r:id="rId12"/>
    <p:sldId id="387" r:id="rId13"/>
    <p:sldId id="352" r:id="rId14"/>
    <p:sldId id="351" r:id="rId15"/>
    <p:sldId id="383" r:id="rId16"/>
    <p:sldId id="353" r:id="rId17"/>
    <p:sldId id="354" r:id="rId18"/>
    <p:sldId id="355" r:id="rId19"/>
    <p:sldId id="256" r:id="rId20"/>
    <p:sldId id="261" r:id="rId21"/>
    <p:sldId id="272" r:id="rId22"/>
    <p:sldId id="270" r:id="rId23"/>
    <p:sldId id="273" r:id="rId24"/>
    <p:sldId id="371" r:id="rId25"/>
    <p:sldId id="275" r:id="rId26"/>
    <p:sldId id="276" r:id="rId27"/>
    <p:sldId id="277" r:id="rId28"/>
    <p:sldId id="278" r:id="rId29"/>
    <p:sldId id="279" r:id="rId30"/>
    <p:sldId id="280" r:id="rId31"/>
    <p:sldId id="281" r:id="rId32"/>
    <p:sldId id="282" r:id="rId33"/>
    <p:sldId id="283" r:id="rId34"/>
    <p:sldId id="284" r:id="rId35"/>
    <p:sldId id="285" r:id="rId36"/>
    <p:sldId id="389" r:id="rId37"/>
    <p:sldId id="356" r:id="rId38"/>
    <p:sldId id="357" r:id="rId39"/>
    <p:sldId id="358" r:id="rId40"/>
    <p:sldId id="359" r:id="rId41"/>
    <p:sldId id="360" r:id="rId42"/>
    <p:sldId id="361" r:id="rId43"/>
    <p:sldId id="362" r:id="rId44"/>
    <p:sldId id="364" r:id="rId45"/>
    <p:sldId id="365" r:id="rId46"/>
    <p:sldId id="381" r:id="rId47"/>
    <p:sldId id="380" r:id="rId48"/>
    <p:sldId id="382" r:id="rId49"/>
    <p:sldId id="390" r:id="rId50"/>
    <p:sldId id="393" r:id="rId51"/>
    <p:sldId id="391" r:id="rId52"/>
    <p:sldId id="392" r:id="rId53"/>
    <p:sldId id="363" r:id="rId54"/>
    <p:sldId id="366" r:id="rId55"/>
    <p:sldId id="367" r:id="rId56"/>
    <p:sldId id="369" r:id="rId57"/>
    <p:sldId id="368" r:id="rId58"/>
    <p:sldId id="370" r:id="rId59"/>
    <p:sldId id="372" r:id="rId60"/>
    <p:sldId id="373" r:id="rId61"/>
    <p:sldId id="375" r:id="rId62"/>
    <p:sldId id="374" r:id="rId6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521415D9-36F7-43E2-AB2F-B90AF26B5E84}">
      <p14:sectionLst xmlns:p14="http://schemas.microsoft.com/office/powerpoint/2010/main">
        <p14:section name="Default Section" id="{B990FB62-7E74-4DAF-B219-27F690C29A75}">
          <p14:sldIdLst>
            <p14:sldId id="258"/>
            <p14:sldId id="347"/>
            <p14:sldId id="346"/>
          </p14:sldIdLst>
        </p14:section>
        <p14:section name="List" id="{A9910C8C-6FCF-4472-B0A7-B0EC47DC951E}">
          <p14:sldIdLst>
            <p14:sldId id="388"/>
            <p14:sldId id="274"/>
            <p14:sldId id="348"/>
            <p14:sldId id="349"/>
            <p14:sldId id="386"/>
            <p14:sldId id="384"/>
            <p14:sldId id="350"/>
            <p14:sldId id="385"/>
            <p14:sldId id="387"/>
            <p14:sldId id="352"/>
            <p14:sldId id="351"/>
            <p14:sldId id="383"/>
            <p14:sldId id="353"/>
            <p14:sldId id="354"/>
            <p14:sldId id="355"/>
            <p14:sldId id="256"/>
            <p14:sldId id="261"/>
            <p14:sldId id="272"/>
            <p14:sldId id="270"/>
            <p14:sldId id="273"/>
            <p14:sldId id="371"/>
            <p14:sldId id="275"/>
            <p14:sldId id="276"/>
            <p14:sldId id="277"/>
            <p14:sldId id="278"/>
            <p14:sldId id="279"/>
            <p14:sldId id="280"/>
            <p14:sldId id="281"/>
            <p14:sldId id="282"/>
            <p14:sldId id="283"/>
            <p14:sldId id="284"/>
            <p14:sldId id="285"/>
            <p14:sldId id="389"/>
            <p14:sldId id="356"/>
            <p14:sldId id="357"/>
            <p14:sldId id="358"/>
            <p14:sldId id="359"/>
            <p14:sldId id="360"/>
            <p14:sldId id="361"/>
            <p14:sldId id="362"/>
            <p14:sldId id="364"/>
            <p14:sldId id="365"/>
            <p14:sldId id="381"/>
            <p14:sldId id="380"/>
            <p14:sldId id="382"/>
            <p14:sldId id="390"/>
            <p14:sldId id="393"/>
            <p14:sldId id="391"/>
            <p14:sldId id="392"/>
            <p14:sldId id="363"/>
            <p14:sldId id="366"/>
            <p14:sldId id="367"/>
            <p14:sldId id="369"/>
            <p14:sldId id="368"/>
            <p14:sldId id="370"/>
            <p14:sldId id="372"/>
            <p14:sldId id="373"/>
            <p14:sldId id="375"/>
            <p14:sldId id="37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C5EA8"/>
    <a:srgbClr val="2D3382"/>
    <a:srgbClr val="2C33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55" autoAdjust="0"/>
    <p:restoredTop sz="88972" autoAdjust="0"/>
  </p:normalViewPr>
  <p:slideViewPr>
    <p:cSldViewPr>
      <p:cViewPr varScale="1">
        <p:scale>
          <a:sx n="77" d="100"/>
          <a:sy n="77" d="100"/>
        </p:scale>
        <p:origin x="14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42"/>
    </p:cViewPr>
  </p:sorterViewPr>
  <p:notesViewPr>
    <p:cSldViewPr>
      <p:cViewPr varScale="1">
        <p:scale>
          <a:sx n="45" d="100"/>
          <a:sy n="45" d="100"/>
        </p:scale>
        <p:origin x="-1386"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50FDBEAE-44DE-4A00-ACE8-B7CD1C1DF65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180227" name="Rectangle 3">
            <a:extLst>
              <a:ext uri="{FF2B5EF4-FFF2-40B4-BE49-F238E27FC236}">
                <a16:creationId xmlns:a16="http://schemas.microsoft.com/office/drawing/2014/main" id="{DE89D31A-E28F-4CBD-9A34-F422A3082AB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80228" name="Rectangle 4">
            <a:extLst>
              <a:ext uri="{FF2B5EF4-FFF2-40B4-BE49-F238E27FC236}">
                <a16:creationId xmlns:a16="http://schemas.microsoft.com/office/drawing/2014/main" id="{7C781173-42EB-4629-8A66-CE751A29FFBE}"/>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180229" name="Rectangle 5">
            <a:extLst>
              <a:ext uri="{FF2B5EF4-FFF2-40B4-BE49-F238E27FC236}">
                <a16:creationId xmlns:a16="http://schemas.microsoft.com/office/drawing/2014/main" id="{F865A14B-72B7-43DE-B984-5B0F3D3BB3A8}"/>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ACA5F5B9-3AA9-D140-930A-C115E07943F9}" type="slidenum">
              <a:rPr lang="en-US" altLang="en-VN"/>
              <a:pPr/>
              <a:t>‹#›</a:t>
            </a:fld>
            <a:endParaRPr lang="en-US" altLang="en-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D29F10EB-7358-40F7-B7F7-53F7FD93E01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atin typeface="Tahoma" pitchFamily="34" charset="0"/>
              </a:defRPr>
            </a:lvl1pPr>
          </a:lstStyle>
          <a:p>
            <a:pPr>
              <a:defRPr/>
            </a:pPr>
            <a:endParaRPr lang="en-US"/>
          </a:p>
        </p:txBody>
      </p:sp>
      <p:sp>
        <p:nvSpPr>
          <p:cNvPr id="131075" name="Rectangle 3">
            <a:extLst>
              <a:ext uri="{FF2B5EF4-FFF2-40B4-BE49-F238E27FC236}">
                <a16:creationId xmlns:a16="http://schemas.microsoft.com/office/drawing/2014/main" id="{7DFD3FAF-0FF3-43A3-8CC6-878557698B1D}"/>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defRPr>
            </a:lvl1pPr>
          </a:lstStyle>
          <a:p>
            <a:pPr>
              <a:defRPr/>
            </a:pPr>
            <a:endParaRPr lang="en-US"/>
          </a:p>
        </p:txBody>
      </p:sp>
      <p:sp>
        <p:nvSpPr>
          <p:cNvPr id="31748" name="Rectangle 4">
            <a:extLst>
              <a:ext uri="{FF2B5EF4-FFF2-40B4-BE49-F238E27FC236}">
                <a16:creationId xmlns:a16="http://schemas.microsoft.com/office/drawing/2014/main" id="{F720AB43-E98A-9A4D-B911-32568708BE8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1077" name="Rectangle 5">
            <a:extLst>
              <a:ext uri="{FF2B5EF4-FFF2-40B4-BE49-F238E27FC236}">
                <a16:creationId xmlns:a16="http://schemas.microsoft.com/office/drawing/2014/main" id="{E809439F-4716-4E8F-B222-02A4E15E5482}"/>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1078" name="Rectangle 6">
            <a:extLst>
              <a:ext uri="{FF2B5EF4-FFF2-40B4-BE49-F238E27FC236}">
                <a16:creationId xmlns:a16="http://schemas.microsoft.com/office/drawing/2014/main" id="{33AD13C1-9DB3-4439-ADB9-7A3C1BF47D85}"/>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Tahoma" pitchFamily="34" charset="0"/>
              </a:defRPr>
            </a:lvl1pPr>
          </a:lstStyle>
          <a:p>
            <a:pPr>
              <a:defRPr/>
            </a:pPr>
            <a:endParaRPr lang="en-US"/>
          </a:p>
        </p:txBody>
      </p:sp>
      <p:sp>
        <p:nvSpPr>
          <p:cNvPr id="131079" name="Rectangle 7">
            <a:extLst>
              <a:ext uri="{FF2B5EF4-FFF2-40B4-BE49-F238E27FC236}">
                <a16:creationId xmlns:a16="http://schemas.microsoft.com/office/drawing/2014/main" id="{815AC159-E7A7-4710-B727-2B18D70F053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C21AAE7B-BD7A-9B49-980F-9E80DA190BA0}" type="slidenum">
              <a:rPr lang="en-US" altLang="en-VN"/>
              <a:pPr/>
              <a:t>‹#›</a:t>
            </a:fld>
            <a:endParaRPr lang="en-US" altLang="en-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toidicode.com/cac-ham-xu-ly-list-trong-python-369.html#load-h2-5" TargetMode="External"/><Relationship Id="rId13" Type="http://schemas.openxmlformats.org/officeDocument/2006/relationships/hyperlink" Target="https://toidicode.com/cac-ham-xu-ly-list-trong-python-369.html#load-h2-9" TargetMode="External"/><Relationship Id="rId3" Type="http://schemas.openxmlformats.org/officeDocument/2006/relationships/hyperlink" Target="https://toidicode.com/cac-ham-xu-ly-list-trong-python-369.html#load-h2-0" TargetMode="External"/><Relationship Id="rId7" Type="http://schemas.openxmlformats.org/officeDocument/2006/relationships/hyperlink" Target="https://toidicode.com/cac-ham-xu-ly-list-trong-python-369.html#load-h2-4" TargetMode="External"/><Relationship Id="rId12" Type="http://schemas.openxmlformats.org/officeDocument/2006/relationships/hyperlink" Target="https://toidicode.com/cac-ham-xu-ly-list-trong-python-369.html#load-h2-8" TargetMode="External"/><Relationship Id="rId17" Type="http://schemas.openxmlformats.org/officeDocument/2006/relationships/hyperlink" Target="https://toidicode.com/cac-ham-xu-ly-list-trong-python-369.html#load-h2-13" TargetMode="External"/><Relationship Id="rId2" Type="http://schemas.openxmlformats.org/officeDocument/2006/relationships/slide" Target="../slides/slide18.xml"/><Relationship Id="rId16" Type="http://schemas.openxmlformats.org/officeDocument/2006/relationships/hyperlink" Target="https://toidicode.com/cac-ham-xu-ly-list-trong-python-369.html#load-h2-12" TargetMode="External"/><Relationship Id="rId1" Type="http://schemas.openxmlformats.org/officeDocument/2006/relationships/notesMaster" Target="../notesMasters/notesMaster1.xml"/><Relationship Id="rId6" Type="http://schemas.openxmlformats.org/officeDocument/2006/relationships/hyperlink" Target="https://toidicode.com/cac-ham-xu-ly-list-trong-python-369.html#load-h2-3" TargetMode="External"/><Relationship Id="rId11" Type="http://schemas.openxmlformats.org/officeDocument/2006/relationships/hyperlink" Target="https://toidicode.com/exception-trong-python-356.html" TargetMode="External"/><Relationship Id="rId5" Type="http://schemas.openxmlformats.org/officeDocument/2006/relationships/hyperlink" Target="https://toidicode.com/cac-ham-xu-ly-list-trong-python-369.html#load-h2-2" TargetMode="External"/><Relationship Id="rId15" Type="http://schemas.openxmlformats.org/officeDocument/2006/relationships/hyperlink" Target="https://toidicode.com/cac-ham-xu-ly-list-trong-python-369.html#load-h2-11" TargetMode="External"/><Relationship Id="rId10" Type="http://schemas.openxmlformats.org/officeDocument/2006/relationships/hyperlink" Target="https://toidicode.com/cac-ham-xu-ly-list-trong-python-369.html#load-h2-7" TargetMode="External"/><Relationship Id="rId4" Type="http://schemas.openxmlformats.org/officeDocument/2006/relationships/hyperlink" Target="https://toidicode.com/cac-ham-xu-ly-list-trong-python-369.html#load-h2-1" TargetMode="External"/><Relationship Id="rId9" Type="http://schemas.openxmlformats.org/officeDocument/2006/relationships/hyperlink" Target="https://toidicode.com/cac-ham-xu-ly-list-trong-python-369.html#load-h2-6" TargetMode="External"/><Relationship Id="rId14" Type="http://schemas.openxmlformats.org/officeDocument/2006/relationships/hyperlink" Target="https://toidicode.com/cac-ham-xu-ly-list-trong-python-369.html#load-h2-10"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a:t>
            </a:fld>
            <a:endParaRPr lang="en-US"/>
          </a:p>
        </p:txBody>
      </p:sp>
    </p:spTree>
    <p:extLst>
      <p:ext uri="{BB962C8B-B14F-4D97-AF65-F5344CB8AC3E}">
        <p14:creationId xmlns:p14="http://schemas.microsoft.com/office/powerpoint/2010/main" val="414277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sz="1200"/>
              <a:t>Một List là một danh sách các thành phần dữ liệu được phân cách bởi dấu phẩy và được bao ngoài bởi dấu ngoặc vuông. </a:t>
            </a:r>
          </a:p>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a:t>
            </a:fld>
            <a:endParaRPr lang="en-US"/>
          </a:p>
        </p:txBody>
      </p:sp>
    </p:spTree>
    <p:extLst>
      <p:ext uri="{BB962C8B-B14F-4D97-AF65-F5344CB8AC3E}">
        <p14:creationId xmlns:p14="http://schemas.microsoft.com/office/powerpoint/2010/main" val="1723302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[1,2,3,4,5,6,7,8,9]</a:t>
            </a:r>
          </a:p>
          <a:p>
            <a:r>
              <a:rPr lang="en-US"/>
              <a:t>b=[3,5,7,9,11]</a:t>
            </a:r>
          </a:p>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a:t>
            </a:fld>
            <a:endParaRPr lang="en-US"/>
          </a:p>
        </p:txBody>
      </p:sp>
    </p:spTree>
    <p:extLst>
      <p:ext uri="{BB962C8B-B14F-4D97-AF65-F5344CB8AC3E}">
        <p14:creationId xmlns:p14="http://schemas.microsoft.com/office/powerpoint/2010/main" val="2167433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a:t>
            </a:fld>
            <a:endParaRPr lang="en-US"/>
          </a:p>
        </p:txBody>
      </p:sp>
    </p:spTree>
    <p:extLst>
      <p:ext uri="{BB962C8B-B14F-4D97-AF65-F5344CB8AC3E}">
        <p14:creationId xmlns:p14="http://schemas.microsoft.com/office/powerpoint/2010/main" val="3601349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 Trong list a có thể có nhiều hơn n phần từ. Do người dùng nhập vào bao nhiêu thì chương trình đưa hết vào list a, nhưng khi sắp xếp, in ra thì chỉ làm việc với n phần tử đầu tiên. Muốn trong list a có đúng n phần tử (các phẩn tử nhập vào mà nhiều quá n thì xoá đi) thì sửa lệnh 2 thành </a:t>
            </a:r>
            <a:r>
              <a:rPr lang="en-US"/>
              <a:t>a = list(map(int, input().split()))[:n]</a:t>
            </a:r>
          </a:p>
          <a:p>
            <a:r>
              <a:rPr lang="en-US"/>
              <a:t>- Sử dụng cách khác sắp xếp nhanh hơn (3)</a:t>
            </a:r>
            <a:endParaRPr lang="en-VN"/>
          </a:p>
        </p:txBody>
      </p:sp>
      <p:sp>
        <p:nvSpPr>
          <p:cNvPr id="4" name="Slide Number Placeholder 3"/>
          <p:cNvSpPr>
            <a:spLocks noGrp="1"/>
          </p:cNvSpPr>
          <p:nvPr>
            <p:ph type="sldNum" sz="quarter" idx="5"/>
          </p:nvPr>
        </p:nvSpPr>
        <p:spPr/>
        <p:txBody>
          <a:bodyPr/>
          <a:lstStyle/>
          <a:p>
            <a:fld id="{C21AAE7B-BD7A-9B49-980F-9E80DA190BA0}" type="slidenum">
              <a:rPr lang="en-US" altLang="en-VN"/>
              <a:pPr/>
              <a:t>8</a:t>
            </a:fld>
            <a:endParaRPr lang="en-US" altLang="en-VN"/>
          </a:p>
        </p:txBody>
      </p:sp>
    </p:spTree>
    <p:extLst>
      <p:ext uri="{BB962C8B-B14F-4D97-AF65-F5344CB8AC3E}">
        <p14:creationId xmlns:p14="http://schemas.microsoft.com/office/powerpoint/2010/main" val="12048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Nhập/in ma trận</a:t>
            </a:r>
          </a:p>
          <a:p>
            <a:pPr algn="l"/>
            <a:r>
              <a:rPr lang="vi-VN" b="0" i="0">
                <a:solidFill>
                  <a:srgbClr val="374151"/>
                </a:solidFill>
                <a:effectLst/>
                <a:latin typeface="Söhne"/>
              </a:rPr>
              <a:t>Dòng thứ hai: ds = [list(map(float, input().split())) for _ in range(a)]</a:t>
            </a:r>
          </a:p>
          <a:p>
            <a:pPr algn="l">
              <a:buFont typeface="Arial" panose="020B0604020202020204" pitchFamily="34" charset="0"/>
              <a:buChar char="•"/>
            </a:pPr>
            <a:r>
              <a:rPr lang="vi-VN" b="0" i="0">
                <a:solidFill>
                  <a:srgbClr val="374151"/>
                </a:solidFill>
                <a:effectLst/>
                <a:latin typeface="Söhne"/>
              </a:rPr>
              <a:t>Sử dụng vòng lặp để đọc a dòng của ma trận từ đầu vào và lưu chúng vào biến ds (danh sách 2 chiều).</a:t>
            </a:r>
          </a:p>
          <a:p>
            <a:pPr algn="l">
              <a:buFont typeface="Arial" panose="020B0604020202020204" pitchFamily="34" charset="0"/>
              <a:buChar char="•"/>
            </a:pPr>
            <a:r>
              <a:rPr lang="vi-VN" b="0" i="0">
                <a:solidFill>
                  <a:srgbClr val="374151"/>
                </a:solidFill>
                <a:effectLst/>
                <a:latin typeface="Söhne"/>
              </a:rPr>
              <a:t>Hàm input() được sử dụng để đọc một dòng của ma trận.</a:t>
            </a:r>
          </a:p>
          <a:p>
            <a:pPr algn="l">
              <a:buFont typeface="Arial" panose="020B0604020202020204" pitchFamily="34" charset="0"/>
              <a:buChar char="•"/>
            </a:pPr>
            <a:r>
              <a:rPr lang="vi-VN" b="0" i="0">
                <a:solidFill>
                  <a:srgbClr val="374151"/>
                </a:solidFill>
                <a:effectLst/>
                <a:latin typeface="Söhne"/>
              </a:rPr>
              <a:t>Hàm split() được sử dụng để tách các giá trị trong dòng thành một danh sách.</a:t>
            </a:r>
          </a:p>
          <a:p>
            <a:pPr algn="l">
              <a:buFont typeface="Arial" panose="020B0604020202020204" pitchFamily="34" charset="0"/>
              <a:buChar char="•"/>
            </a:pPr>
            <a:r>
              <a:rPr lang="vi-VN" b="0" i="0">
                <a:solidFill>
                  <a:srgbClr val="374151"/>
                </a:solidFill>
                <a:effectLst/>
                <a:latin typeface="Söhne"/>
              </a:rPr>
              <a:t>Hàm map(float, ...) được sử dụng để chuyển đổi các giá trị trong danh sách sang dạng số thực (float).</a:t>
            </a:r>
          </a:p>
          <a:p>
            <a:pPr algn="l">
              <a:buFont typeface="Arial" panose="020B0604020202020204" pitchFamily="34" charset="0"/>
              <a:buChar char="•"/>
            </a:pPr>
            <a:r>
              <a:rPr lang="vi-VN" b="0" i="0">
                <a:solidFill>
                  <a:srgbClr val="374151"/>
                </a:solidFill>
                <a:effectLst/>
                <a:latin typeface="Söhne"/>
              </a:rPr>
              <a:t>Cuối cùng, biểu thức này tạo ra một danh sách các dòng của ma trận.</a:t>
            </a:r>
          </a:p>
          <a:p>
            <a:pPr algn="l">
              <a:buFont typeface="Arial" panose="020B0604020202020204" pitchFamily="34" charset="0"/>
              <a:buChar char="•"/>
            </a:pPr>
            <a:r>
              <a:rPr lang="vi-VN" b="0" i="0">
                <a:solidFill>
                  <a:srgbClr val="374151"/>
                </a:solidFill>
                <a:effectLst/>
                <a:latin typeface="Söhne"/>
              </a:rPr>
              <a:t>Với cách nhập này các hàng của list sẽ có số phần tử khác nhau, nhưng khi in ra thì ta chỉ in ra a hàng, b cột. Trong list vẫn còn tồn tại dữ liệu đầy đủ như ta nhập vào.</a:t>
            </a:r>
          </a:p>
          <a:p>
            <a:pPr algn="l">
              <a:buFont typeface="Arial" panose="020B0604020202020204" pitchFamily="34" charset="0"/>
              <a:buChar char="•"/>
            </a:pPr>
            <a:r>
              <a:rPr lang="vi-VN" b="0" i="0">
                <a:solidFill>
                  <a:srgbClr val="374151"/>
                </a:solidFill>
                <a:effectLst/>
                <a:latin typeface="Söhne"/>
              </a:rPr>
              <a:t>Đoạn chương trình dưới dù nhập vào ntn thì trong list chỉ có a hàng, b cột. Bằng cách thêm [:b] sau input().split(), chúng ta chỉ lấy b phần tử đầu tiên trên mỗi dòng để đảm bảo </a:t>
            </a:r>
            <a:r>
              <a:rPr lang="en-US" b="0" i="0">
                <a:solidFill>
                  <a:srgbClr val="374151"/>
                </a:solidFill>
                <a:effectLst/>
                <a:latin typeface="Söhne"/>
              </a:rPr>
              <a:t>rằng số phần tử trên mỗi hàng là </a:t>
            </a:r>
            <a:r>
              <a:rPr lang="en-US"/>
              <a:t>b</a:t>
            </a:r>
            <a:r>
              <a:rPr lang="en-US" b="0" i="0">
                <a:solidFill>
                  <a:srgbClr val="374151"/>
                </a:solidFill>
                <a:effectLst/>
                <a:latin typeface="Söhne"/>
              </a:rPr>
              <a:t>.</a:t>
            </a:r>
            <a:endParaRPr lang="vi-VN" b="0" i="0">
              <a:solidFill>
                <a:srgbClr val="374151"/>
              </a:solidFill>
              <a:effectLst/>
              <a:latin typeface="Söhne"/>
            </a:endParaRPr>
          </a:p>
          <a:p>
            <a:pPr algn="l">
              <a:buFont typeface="Arial" panose="020B0604020202020204" pitchFamily="34" charset="0"/>
              <a:buChar char="•"/>
            </a:pPr>
            <a:r>
              <a:rPr lang="vi-VN" b="0" i="0">
                <a:solidFill>
                  <a:srgbClr val="374151"/>
                </a:solidFill>
                <a:effectLst/>
                <a:latin typeface="Söhne"/>
              </a:rPr>
              <a:t>a, b = map(int, input().split())</a:t>
            </a:r>
          </a:p>
          <a:p>
            <a:pPr algn="l">
              <a:buFont typeface="Arial" panose="020B0604020202020204" pitchFamily="34" charset="0"/>
              <a:buChar char="•"/>
            </a:pPr>
            <a:r>
              <a:rPr lang="vi-VN" b="0" i="0">
                <a:solidFill>
                  <a:srgbClr val="374151"/>
                </a:solidFill>
                <a:effectLst/>
                <a:latin typeface="Söhne"/>
              </a:rPr>
              <a:t>ds = [list(map(float, input().split()))[:b] for _ in range(a)]</a:t>
            </a:r>
          </a:p>
          <a:p>
            <a:pPr algn="l">
              <a:buFont typeface="Arial" panose="020B0604020202020204" pitchFamily="34" charset="0"/>
              <a:buChar char="•"/>
            </a:pPr>
            <a:r>
              <a:rPr lang="vi-VN" b="0" i="0">
                <a:solidFill>
                  <a:srgbClr val="374151"/>
                </a:solidFill>
                <a:effectLst/>
                <a:latin typeface="Söhne"/>
              </a:rPr>
              <a:t>print(ds)</a:t>
            </a:r>
          </a:p>
          <a:p>
            <a:pPr algn="l">
              <a:buFont typeface="Arial" panose="020B0604020202020204" pitchFamily="34" charset="0"/>
              <a:buChar char="•"/>
            </a:pPr>
            <a:r>
              <a:rPr lang="vi-VN" b="0" i="0">
                <a:solidFill>
                  <a:srgbClr val="374151"/>
                </a:solidFill>
                <a:effectLst/>
                <a:latin typeface="Söhne"/>
              </a:rPr>
              <a:t>print("Ma tran")</a:t>
            </a:r>
          </a:p>
          <a:p>
            <a:pPr algn="l">
              <a:buFont typeface="Arial" panose="020B0604020202020204" pitchFamily="34" charset="0"/>
              <a:buChar char="•"/>
            </a:pPr>
            <a:r>
              <a:rPr lang="vi-VN" b="0" i="0">
                <a:solidFill>
                  <a:srgbClr val="374151"/>
                </a:solidFill>
                <a:effectLst/>
                <a:latin typeface="Söhne"/>
              </a:rPr>
              <a:t>for i in range(a):</a:t>
            </a:r>
          </a:p>
          <a:p>
            <a:pPr algn="l">
              <a:buFont typeface="Arial" panose="020B0604020202020204" pitchFamily="34" charset="0"/>
              <a:buChar char="•"/>
            </a:pPr>
            <a:r>
              <a:rPr lang="vi-VN" b="0" i="0">
                <a:solidFill>
                  <a:srgbClr val="374151"/>
                </a:solidFill>
                <a:effectLst/>
                <a:latin typeface="Söhne"/>
              </a:rPr>
              <a:t>    for j in range(b):</a:t>
            </a:r>
          </a:p>
          <a:p>
            <a:pPr algn="l">
              <a:buFont typeface="Arial" panose="020B0604020202020204" pitchFamily="34" charset="0"/>
              <a:buChar char="•"/>
            </a:pPr>
            <a:r>
              <a:rPr lang="vi-VN" b="0" i="0">
                <a:solidFill>
                  <a:srgbClr val="374151"/>
                </a:solidFill>
                <a:effectLst/>
                <a:latin typeface="Söhne"/>
              </a:rPr>
              <a:t>        print(ds[i][j], end=" ")</a:t>
            </a:r>
          </a:p>
          <a:p>
            <a:pPr algn="l">
              <a:buFont typeface="Arial" panose="020B0604020202020204" pitchFamily="34" charset="0"/>
              <a:buChar char="•"/>
            </a:pPr>
            <a:r>
              <a:rPr lang="vi-VN" b="0" i="0">
                <a:solidFill>
                  <a:srgbClr val="374151"/>
                </a:solidFill>
                <a:effectLst/>
                <a:latin typeface="Söhne"/>
              </a:rPr>
              <a:t>    print()</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i="0">
                <a:solidFill>
                  <a:srgbClr val="374151"/>
                </a:solidFill>
                <a:effectLst/>
                <a:latin typeface="Söhne"/>
              </a:rPr>
              <a:t># để nhập mỗi dòng định dạng khác nhau thì ds = [list(map(str, input().split()))[:b] for _ in range(a)] Lúc đó nhập vào Hung 1990 3.5 là ok.</a:t>
            </a:r>
          </a:p>
          <a:p>
            <a:pPr algn="l">
              <a:buFont typeface="Arial" panose="020B0604020202020204" pitchFamily="34" charset="0"/>
              <a:buChar char="•"/>
            </a:pPr>
            <a:endParaRPr lang="vi-VN" b="0" i="0">
              <a:solidFill>
                <a:srgbClr val="374151"/>
              </a:solidFill>
              <a:effectLst/>
              <a:latin typeface="Söhne"/>
            </a:endParaRPr>
          </a:p>
          <a:p>
            <a:pPr algn="l">
              <a:buFont typeface="Arial" panose="020B0604020202020204" pitchFamily="34" charset="0"/>
              <a:buChar char="•"/>
            </a:pPr>
            <a:endParaRPr lang="vi-VN" b="0" i="0">
              <a:solidFill>
                <a:srgbClr val="374151"/>
              </a:solidFill>
              <a:effectLst/>
              <a:latin typeface="Söhne"/>
            </a:endParaRPr>
          </a:p>
          <a:p>
            <a:pPr algn="l">
              <a:buFont typeface="Arial" panose="020B0604020202020204" pitchFamily="34" charset="0"/>
              <a:buChar char="•"/>
            </a:pPr>
            <a:endParaRPr lang="vi-VN" b="0" i="0">
              <a:solidFill>
                <a:srgbClr val="374151"/>
              </a:solidFill>
              <a:effectLst/>
              <a:latin typeface="Söhne"/>
            </a:endParaRPr>
          </a:p>
          <a:p>
            <a:endParaRPr lang="en-VN"/>
          </a:p>
        </p:txBody>
      </p:sp>
      <p:sp>
        <p:nvSpPr>
          <p:cNvPr id="4" name="Slide Number Placeholder 3"/>
          <p:cNvSpPr>
            <a:spLocks noGrp="1"/>
          </p:cNvSpPr>
          <p:nvPr>
            <p:ph type="sldNum" sz="quarter" idx="5"/>
          </p:nvPr>
        </p:nvSpPr>
        <p:spPr/>
        <p:txBody>
          <a:bodyPr/>
          <a:lstStyle/>
          <a:p>
            <a:fld id="{C21AAE7B-BD7A-9B49-980F-9E80DA190BA0}" type="slidenum">
              <a:rPr lang="en-US" altLang="en-VN"/>
              <a:pPr/>
              <a:t>9</a:t>
            </a:fld>
            <a:endParaRPr lang="en-US" altLang="en-VN"/>
          </a:p>
        </p:txBody>
      </p:sp>
    </p:spTree>
    <p:extLst>
      <p:ext uri="{BB962C8B-B14F-4D97-AF65-F5344CB8AC3E}">
        <p14:creationId xmlns:p14="http://schemas.microsoft.com/office/powerpoint/2010/main" val="336639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#nhập ma trận</a:t>
            </a:r>
          </a:p>
          <a:p>
            <a:r>
              <a:rPr lang="en-US"/>
              <a:t>a = []</a:t>
            </a:r>
            <a:br>
              <a:rPr lang="en-US"/>
            </a:br>
            <a:r>
              <a:rPr lang="en-US"/>
              <a:t>row = int(input(</a:t>
            </a:r>
            <a:r>
              <a:rPr kumimoji="1" lang="en-US" sz="1200" kern="1200">
                <a:solidFill>
                  <a:schemeClr val="tx1"/>
                </a:solidFill>
                <a:effectLst/>
                <a:latin typeface="Arial" charset="0"/>
                <a:ea typeface="+mn-ea"/>
                <a:cs typeface="+mn-cs"/>
              </a:rPr>
              <a:t>" Nhap so hang: "</a:t>
            </a:r>
            <a:r>
              <a:rPr lang="en-US"/>
              <a:t>))</a:t>
            </a:r>
            <a:br>
              <a:rPr lang="en-US"/>
            </a:br>
            <a:r>
              <a:rPr lang="en-US"/>
              <a:t>col = int(input(</a:t>
            </a:r>
            <a:r>
              <a:rPr kumimoji="1" lang="en-US" sz="1200" kern="1200">
                <a:solidFill>
                  <a:schemeClr val="tx1"/>
                </a:solidFill>
                <a:effectLst/>
                <a:latin typeface="Arial" charset="0"/>
                <a:ea typeface="+mn-ea"/>
                <a:cs typeface="+mn-cs"/>
              </a:rPr>
              <a:t>" Nhap so cot: "</a:t>
            </a:r>
            <a:r>
              <a:rPr lang="en-US"/>
              <a:t>))</a:t>
            </a:r>
            <a:br>
              <a:rPr lang="en-US"/>
            </a:br>
            <a:r>
              <a:rPr kumimoji="1" lang="en-US" sz="1200" kern="1200">
                <a:solidFill>
                  <a:schemeClr val="tx1"/>
                </a:solidFill>
                <a:effectLst/>
                <a:latin typeface="Arial" charset="0"/>
                <a:ea typeface="+mn-ea"/>
                <a:cs typeface="+mn-cs"/>
              </a:rPr>
              <a:t>for </a:t>
            </a:r>
            <a:r>
              <a:rPr lang="en-US"/>
              <a:t>i </a:t>
            </a:r>
            <a:r>
              <a:rPr kumimoji="1" lang="en-US" sz="1200" kern="1200">
                <a:solidFill>
                  <a:schemeClr val="tx1"/>
                </a:solidFill>
                <a:effectLst/>
                <a:latin typeface="Arial" charset="0"/>
                <a:ea typeface="+mn-ea"/>
                <a:cs typeface="+mn-cs"/>
              </a:rPr>
              <a:t>in </a:t>
            </a:r>
            <a:r>
              <a:rPr lang="en-US"/>
              <a:t>range(row):</a:t>
            </a:r>
            <a:br>
              <a:rPr lang="en-US"/>
            </a:br>
            <a:r>
              <a:rPr lang="en-US"/>
              <a:t>    gt_row = []</a:t>
            </a:r>
            <a:br>
              <a:rPr lang="en-US"/>
            </a:br>
            <a:r>
              <a:rPr lang="en-US"/>
              <a:t>    </a:t>
            </a:r>
            <a:r>
              <a:rPr kumimoji="1" lang="en-US" sz="1200" kern="1200">
                <a:solidFill>
                  <a:schemeClr val="tx1"/>
                </a:solidFill>
                <a:effectLst/>
                <a:latin typeface="Arial" charset="0"/>
                <a:ea typeface="+mn-ea"/>
                <a:cs typeface="+mn-cs"/>
              </a:rPr>
              <a:t>for </a:t>
            </a:r>
            <a:r>
              <a:rPr lang="en-US"/>
              <a:t>j </a:t>
            </a:r>
            <a:r>
              <a:rPr kumimoji="1" lang="en-US" sz="1200" kern="1200">
                <a:solidFill>
                  <a:schemeClr val="tx1"/>
                </a:solidFill>
                <a:effectLst/>
                <a:latin typeface="Arial" charset="0"/>
                <a:ea typeface="+mn-ea"/>
                <a:cs typeface="+mn-cs"/>
              </a:rPr>
              <a:t>in </a:t>
            </a:r>
            <a:r>
              <a:rPr lang="en-US"/>
              <a:t>range(col):</a:t>
            </a:r>
            <a:br>
              <a:rPr lang="en-US"/>
            </a:br>
            <a:r>
              <a:rPr lang="en-US"/>
              <a:t>        </a:t>
            </a:r>
            <a:r>
              <a:rPr kumimoji="1" lang="en-US" sz="1200" kern="1200">
                <a:solidFill>
                  <a:schemeClr val="tx1"/>
                </a:solidFill>
                <a:effectLst/>
                <a:latin typeface="Arial" charset="0"/>
                <a:ea typeface="+mn-ea"/>
                <a:cs typeface="+mn-cs"/>
              </a:rPr>
              <a:t># print(f'a[{i}][{j}]=')</a:t>
            </a:r>
            <a:br>
              <a:rPr kumimoji="1" lang="en-US" sz="1200" kern="1200">
                <a:solidFill>
                  <a:schemeClr val="tx1"/>
                </a:solidFill>
                <a:effectLst/>
                <a:latin typeface="Arial" charset="0"/>
                <a:ea typeface="+mn-ea"/>
                <a:cs typeface="+mn-cs"/>
              </a:rPr>
            </a:br>
            <a:r>
              <a:rPr kumimoji="1" lang="en-US" sz="1200" kern="1200">
                <a:solidFill>
                  <a:schemeClr val="tx1"/>
                </a:solidFill>
                <a:effectLst/>
                <a:latin typeface="Arial" charset="0"/>
                <a:ea typeface="+mn-ea"/>
                <a:cs typeface="+mn-cs"/>
              </a:rPr>
              <a:t>        </a:t>
            </a:r>
            <a:r>
              <a:rPr lang="en-US"/>
              <a:t>print(</a:t>
            </a:r>
            <a:r>
              <a:rPr kumimoji="1" lang="en-US" sz="1200" kern="1200">
                <a:solidFill>
                  <a:schemeClr val="tx1"/>
                </a:solidFill>
                <a:effectLst/>
                <a:latin typeface="Arial" charset="0"/>
                <a:ea typeface="+mn-ea"/>
                <a:cs typeface="+mn-cs"/>
              </a:rPr>
              <a:t>'a[', </a:t>
            </a:r>
            <a:r>
              <a:rPr lang="en-US"/>
              <a:t>i</a:t>
            </a:r>
            <a:r>
              <a:rPr kumimoji="1" lang="en-US" sz="1200" kern="1200">
                <a:solidFill>
                  <a:schemeClr val="tx1"/>
                </a:solidFill>
                <a:effectLst/>
                <a:latin typeface="Arial" charset="0"/>
                <a:ea typeface="+mn-ea"/>
                <a:cs typeface="+mn-cs"/>
              </a:rPr>
              <a:t>, '][', </a:t>
            </a:r>
            <a:r>
              <a:rPr lang="en-US"/>
              <a:t>j</a:t>
            </a:r>
            <a:r>
              <a:rPr kumimoji="1" lang="en-US" sz="1200" kern="1200">
                <a:solidFill>
                  <a:schemeClr val="tx1"/>
                </a:solidFill>
                <a:effectLst/>
                <a:latin typeface="Arial" charset="0"/>
                <a:ea typeface="+mn-ea"/>
                <a:cs typeface="+mn-cs"/>
              </a:rPr>
              <a:t>, ']=', end</a:t>
            </a:r>
            <a:r>
              <a:rPr lang="en-US"/>
              <a:t>=</a:t>
            </a:r>
            <a:r>
              <a:rPr kumimoji="1" lang="en-US" sz="1200" kern="1200">
                <a:solidFill>
                  <a:schemeClr val="tx1"/>
                </a:solidFill>
                <a:effectLst/>
                <a:latin typeface="Arial" charset="0"/>
                <a:ea typeface="+mn-ea"/>
                <a:cs typeface="+mn-cs"/>
              </a:rPr>
              <a:t>""</a:t>
            </a:r>
            <a:r>
              <a:rPr lang="en-US"/>
              <a:t>)</a:t>
            </a:r>
            <a:br>
              <a:rPr lang="en-US"/>
            </a:br>
            <a:r>
              <a:rPr lang="en-US"/>
              <a:t>        gt_row.append(int(input()))</a:t>
            </a:r>
            <a:br>
              <a:rPr lang="en-US"/>
            </a:br>
            <a:r>
              <a:rPr lang="en-US"/>
              <a:t>    a.append(gt_row)</a:t>
            </a:r>
            <a:br>
              <a:rPr lang="en-US"/>
            </a:br>
            <a:br>
              <a:rPr lang="en-US"/>
            </a:br>
            <a:r>
              <a:rPr lang="en-US"/>
              <a:t>print(a)</a:t>
            </a:r>
            <a:br>
              <a:rPr lang="en-US"/>
            </a:br>
            <a:r>
              <a:rPr lang="en-US"/>
              <a:t># in ma trận</a:t>
            </a:r>
          </a:p>
          <a:p>
            <a:r>
              <a:rPr lang="en-US"/>
              <a:t>a=[[</a:t>
            </a:r>
            <a:r>
              <a:rPr kumimoji="1" lang="en-US" sz="1200" kern="1200">
                <a:solidFill>
                  <a:schemeClr val="tx1"/>
                </a:solidFill>
                <a:effectLst/>
                <a:latin typeface="Arial" charset="0"/>
                <a:ea typeface="+mn-ea"/>
                <a:cs typeface="+mn-cs"/>
              </a:rPr>
              <a:t>1, 2,3</a:t>
            </a:r>
            <a:r>
              <a:rPr lang="en-US"/>
              <a:t>]</a:t>
            </a:r>
            <a:r>
              <a:rPr kumimoji="1" lang="en-US" sz="1200" kern="1200">
                <a:solidFill>
                  <a:schemeClr val="tx1"/>
                </a:solidFill>
                <a:effectLst/>
                <a:latin typeface="Arial" charset="0"/>
                <a:ea typeface="+mn-ea"/>
                <a:cs typeface="+mn-cs"/>
              </a:rPr>
              <a:t>, </a:t>
            </a:r>
            <a:r>
              <a:rPr lang="en-US"/>
              <a:t>[</a:t>
            </a:r>
            <a:r>
              <a:rPr kumimoji="1" lang="en-US" sz="1200" kern="1200">
                <a:solidFill>
                  <a:schemeClr val="tx1"/>
                </a:solidFill>
                <a:effectLst/>
                <a:latin typeface="Arial" charset="0"/>
                <a:ea typeface="+mn-ea"/>
                <a:cs typeface="+mn-cs"/>
              </a:rPr>
              <a:t>3, 4, 5, 6</a:t>
            </a:r>
            <a:r>
              <a:rPr lang="en-US"/>
              <a:t>]</a:t>
            </a:r>
            <a:r>
              <a:rPr kumimoji="1" lang="en-US" sz="1200" kern="1200">
                <a:solidFill>
                  <a:schemeClr val="tx1"/>
                </a:solidFill>
                <a:effectLst/>
                <a:latin typeface="Arial" charset="0"/>
                <a:ea typeface="+mn-ea"/>
                <a:cs typeface="+mn-cs"/>
              </a:rPr>
              <a:t>, </a:t>
            </a:r>
            <a:r>
              <a:rPr lang="en-US"/>
              <a:t>[</a:t>
            </a:r>
            <a:r>
              <a:rPr kumimoji="1" lang="en-US" sz="1200" kern="1200">
                <a:solidFill>
                  <a:schemeClr val="tx1"/>
                </a:solidFill>
                <a:effectLst/>
                <a:latin typeface="Arial" charset="0"/>
                <a:ea typeface="+mn-ea"/>
                <a:cs typeface="+mn-cs"/>
              </a:rPr>
              <a:t>1, 3</a:t>
            </a:r>
            <a:r>
              <a:rPr lang="en-US"/>
              <a:t>]]</a:t>
            </a:r>
            <a:br>
              <a:rPr lang="en-US"/>
            </a:br>
            <a:r>
              <a:rPr lang="en-US"/>
              <a:t>row =len(a)</a:t>
            </a:r>
            <a:br>
              <a:rPr lang="en-US"/>
            </a:br>
            <a:r>
              <a:rPr kumimoji="1" lang="en-US" sz="1200" kern="1200">
                <a:solidFill>
                  <a:schemeClr val="tx1"/>
                </a:solidFill>
                <a:effectLst/>
                <a:latin typeface="Arial" charset="0"/>
                <a:ea typeface="+mn-ea"/>
                <a:cs typeface="+mn-cs"/>
              </a:rPr>
              <a:t>for </a:t>
            </a:r>
            <a:r>
              <a:rPr lang="en-US"/>
              <a:t>i </a:t>
            </a:r>
            <a:r>
              <a:rPr kumimoji="1" lang="en-US" sz="1200" kern="1200">
                <a:solidFill>
                  <a:schemeClr val="tx1"/>
                </a:solidFill>
                <a:effectLst/>
                <a:latin typeface="Arial" charset="0"/>
                <a:ea typeface="+mn-ea"/>
                <a:cs typeface="+mn-cs"/>
              </a:rPr>
              <a:t>in </a:t>
            </a:r>
            <a:r>
              <a:rPr lang="en-US"/>
              <a:t>range (row):</a:t>
            </a:r>
            <a:br>
              <a:rPr lang="en-US"/>
            </a:br>
            <a:r>
              <a:rPr lang="en-US"/>
              <a:t>    col=len(a[i])</a:t>
            </a:r>
            <a:br>
              <a:rPr lang="en-US"/>
            </a:br>
            <a:r>
              <a:rPr lang="en-US"/>
              <a:t>    </a:t>
            </a:r>
            <a:r>
              <a:rPr kumimoji="1" lang="en-US" sz="1200" kern="1200">
                <a:solidFill>
                  <a:schemeClr val="tx1"/>
                </a:solidFill>
                <a:effectLst/>
                <a:latin typeface="Arial" charset="0"/>
                <a:ea typeface="+mn-ea"/>
                <a:cs typeface="+mn-cs"/>
              </a:rPr>
              <a:t>for </a:t>
            </a:r>
            <a:r>
              <a:rPr lang="en-US"/>
              <a:t>j </a:t>
            </a:r>
            <a:r>
              <a:rPr kumimoji="1" lang="en-US" sz="1200" kern="1200">
                <a:solidFill>
                  <a:schemeClr val="tx1"/>
                </a:solidFill>
                <a:effectLst/>
                <a:latin typeface="Arial" charset="0"/>
                <a:ea typeface="+mn-ea"/>
                <a:cs typeface="+mn-cs"/>
              </a:rPr>
              <a:t>in </a:t>
            </a:r>
            <a:r>
              <a:rPr lang="en-US"/>
              <a:t>range(col):</a:t>
            </a:r>
            <a:br>
              <a:rPr lang="en-US"/>
            </a:br>
            <a:r>
              <a:rPr lang="en-US"/>
              <a:t>        print(a[i][j]</a:t>
            </a:r>
            <a:r>
              <a:rPr kumimoji="1" lang="en-US" sz="1200" kern="1200">
                <a:solidFill>
                  <a:schemeClr val="tx1"/>
                </a:solidFill>
                <a:effectLst/>
                <a:latin typeface="Arial" charset="0"/>
                <a:ea typeface="+mn-ea"/>
                <a:cs typeface="+mn-cs"/>
              </a:rPr>
              <a:t>, end</a:t>
            </a:r>
            <a:r>
              <a:rPr lang="en-US"/>
              <a:t>=</a:t>
            </a:r>
            <a:r>
              <a:rPr kumimoji="1" lang="en-US" sz="1200" kern="1200">
                <a:solidFill>
                  <a:schemeClr val="tx1"/>
                </a:solidFill>
                <a:effectLst/>
                <a:latin typeface="Arial" charset="0"/>
                <a:ea typeface="+mn-ea"/>
                <a:cs typeface="+mn-cs"/>
              </a:rPr>
              <a:t>" "</a:t>
            </a:r>
            <a:r>
              <a:rPr lang="en-US"/>
              <a:t>)</a:t>
            </a:r>
            <a:br>
              <a:rPr lang="en-US"/>
            </a:br>
            <a:r>
              <a:rPr lang="en-US"/>
              <a:t>    print()</a:t>
            </a:r>
          </a:p>
        </p:txBody>
      </p:sp>
      <p:sp>
        <p:nvSpPr>
          <p:cNvPr id="4" name="Slide Number Placeholder 3"/>
          <p:cNvSpPr>
            <a:spLocks noGrp="1"/>
          </p:cNvSpPr>
          <p:nvPr>
            <p:ph type="sldNum" sz="quarter" idx="10"/>
          </p:nvPr>
        </p:nvSpPr>
        <p:spPr/>
        <p:txBody>
          <a:bodyPr/>
          <a:lstStyle/>
          <a:p>
            <a:fld id="{46D3E3EA-CC6A-448F-83C3-9A526F33CF9E}" type="slidenum">
              <a:rPr lang="en-US" smtClean="0"/>
              <a:t>10</a:t>
            </a:fld>
            <a:endParaRPr lang="en-US"/>
          </a:p>
        </p:txBody>
      </p:sp>
    </p:spTree>
    <p:extLst>
      <p:ext uri="{BB962C8B-B14F-4D97-AF65-F5344CB8AC3E}">
        <p14:creationId xmlns:p14="http://schemas.microsoft.com/office/powerpoint/2010/main" val="1543305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#tìm nhân viên có lương thấp nhất</a:t>
            </a:r>
          </a:p>
          <a:p>
            <a:r>
              <a:rPr lang="en-US"/>
              <a:t>n = int(input())</a:t>
            </a:r>
          </a:p>
          <a:p>
            <a:endParaRPr lang="en-US"/>
          </a:p>
          <a:p>
            <a:r>
              <a:rPr lang="en-US"/>
              <a:t>ds = [input().split() for _ in range(n)]</a:t>
            </a:r>
          </a:p>
          <a:p>
            <a:r>
              <a:rPr lang="en-US"/>
              <a:t>for i in range(n):</a:t>
            </a:r>
          </a:p>
          <a:p>
            <a:r>
              <a:rPr lang="en-US"/>
              <a:t>    ds[i][2] = float(ds[i][2])</a:t>
            </a:r>
          </a:p>
          <a:p>
            <a:r>
              <a:rPr lang="en-US"/>
              <a:t>    ds[i][3] = int(ds[i][3])</a:t>
            </a:r>
          </a:p>
          <a:p>
            <a:r>
              <a:rPr lang="en-US"/>
              <a:t>    ds[i].append(ds[i][2]*2000000+ds[i][3])</a:t>
            </a:r>
          </a:p>
          <a:p>
            <a:r>
              <a:rPr lang="en-US"/>
              <a:t>check = 0  </a:t>
            </a:r>
          </a:p>
          <a:p>
            <a:r>
              <a:rPr lang="en-US"/>
              <a:t>min = ds[0][4]</a:t>
            </a:r>
          </a:p>
          <a:p>
            <a:r>
              <a:rPr lang="en-US"/>
              <a:t>for i in range(n):</a:t>
            </a:r>
          </a:p>
          <a:p>
            <a:r>
              <a:rPr lang="en-US"/>
              <a:t>    if ds[i][4] &lt; min:</a:t>
            </a:r>
          </a:p>
          <a:p>
            <a:r>
              <a:rPr lang="en-US"/>
              <a:t>        min =ds[i][4]</a:t>
            </a:r>
          </a:p>
          <a:p>
            <a:r>
              <a:rPr lang="en-US"/>
              <a:t>        check =i</a:t>
            </a:r>
          </a:p>
          <a:p>
            <a:r>
              <a:rPr lang="en-US"/>
              <a:t>print('Nhan vien co luong thap nhat')        </a:t>
            </a:r>
          </a:p>
          <a:p>
            <a:r>
              <a:rPr lang="en-US"/>
              <a:t>print("{} {} {:.2f} {} {:.2f}".format(ds[check][0], ds[check][1], ds[check][2], ds[check][3], ds[check][4])) </a:t>
            </a:r>
            <a:endParaRPr lang="en-VN"/>
          </a:p>
        </p:txBody>
      </p:sp>
      <p:sp>
        <p:nvSpPr>
          <p:cNvPr id="4" name="Slide Number Placeholder 3"/>
          <p:cNvSpPr>
            <a:spLocks noGrp="1"/>
          </p:cNvSpPr>
          <p:nvPr>
            <p:ph type="sldNum" sz="quarter" idx="5"/>
          </p:nvPr>
        </p:nvSpPr>
        <p:spPr/>
        <p:txBody>
          <a:bodyPr/>
          <a:lstStyle/>
          <a:p>
            <a:fld id="{C21AAE7B-BD7A-9B49-980F-9E80DA190BA0}" type="slidenum">
              <a:rPr lang="en-US" altLang="en-VN"/>
              <a:pPr/>
              <a:t>11</a:t>
            </a:fld>
            <a:endParaRPr lang="en-US" altLang="en-VN"/>
          </a:p>
        </p:txBody>
      </p:sp>
    </p:spTree>
    <p:extLst>
      <p:ext uri="{BB962C8B-B14F-4D97-AF65-F5344CB8AC3E}">
        <p14:creationId xmlns:p14="http://schemas.microsoft.com/office/powerpoint/2010/main" val="363387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i="1" kern="1200">
                <a:solidFill>
                  <a:schemeClr val="tx1"/>
                </a:solidFill>
                <a:effectLst/>
                <a:latin typeface="Arial" charset="0"/>
                <a:ea typeface="+mn-ea"/>
                <a:cs typeface="+mn-cs"/>
              </a:rPr>
              <a:t>'''</a:t>
            </a:r>
            <a:br>
              <a:rPr kumimoji="1" lang="en-US" sz="1200" i="1" kern="1200">
                <a:solidFill>
                  <a:schemeClr val="tx1"/>
                </a:solidFill>
                <a:effectLst/>
                <a:latin typeface="Arial" charset="0"/>
                <a:ea typeface="+mn-ea"/>
                <a:cs typeface="+mn-cs"/>
              </a:rPr>
            </a:br>
            <a:r>
              <a:rPr kumimoji="1" lang="en-US" sz="1200" i="1" kern="1200">
                <a:solidFill>
                  <a:schemeClr val="tx1"/>
                </a:solidFill>
                <a:effectLst/>
                <a:latin typeface="Arial" charset="0"/>
                <a:ea typeface="+mn-ea"/>
                <a:cs typeface="+mn-cs"/>
              </a:rPr>
              <a:t>Số phần tử của từng hàng là khác nhau</a:t>
            </a:r>
            <a:br>
              <a:rPr kumimoji="1" lang="en-US" sz="1200" i="1" kern="1200">
                <a:solidFill>
                  <a:schemeClr val="tx1"/>
                </a:solidFill>
                <a:effectLst/>
                <a:latin typeface="Arial" charset="0"/>
                <a:ea typeface="+mn-ea"/>
                <a:cs typeface="+mn-cs"/>
              </a:rPr>
            </a:br>
            <a:r>
              <a:rPr kumimoji="1" lang="en-US" sz="1200" i="1" kern="1200">
                <a:solidFill>
                  <a:schemeClr val="tx1"/>
                </a:solidFill>
                <a:effectLst/>
                <a:latin typeface="Arial" charset="0"/>
                <a:ea typeface="+mn-ea"/>
                <a:cs typeface="+mn-cs"/>
              </a:rPr>
              <a:t>'''</a:t>
            </a:r>
            <a:br>
              <a:rPr kumimoji="1" lang="en-US" sz="1200" i="1" kern="1200">
                <a:solidFill>
                  <a:schemeClr val="tx1"/>
                </a:solidFill>
                <a:effectLst/>
                <a:latin typeface="Arial" charset="0"/>
                <a:ea typeface="+mn-ea"/>
                <a:cs typeface="+mn-cs"/>
              </a:rPr>
            </a:br>
            <a:r>
              <a:rPr lang="en-US"/>
              <a:t>a = []</a:t>
            </a:r>
            <a:br>
              <a:rPr lang="en-US"/>
            </a:br>
            <a:r>
              <a:rPr lang="en-US"/>
              <a:t>row = int(input(</a:t>
            </a:r>
            <a:r>
              <a:rPr kumimoji="1" lang="en-US" sz="1200" kern="1200">
                <a:solidFill>
                  <a:schemeClr val="tx1"/>
                </a:solidFill>
                <a:effectLst/>
                <a:latin typeface="Arial" charset="0"/>
                <a:ea typeface="+mn-ea"/>
                <a:cs typeface="+mn-cs"/>
              </a:rPr>
              <a:t>" Nhap so hang: "</a:t>
            </a:r>
            <a:r>
              <a:rPr lang="en-US"/>
              <a:t>))</a:t>
            </a:r>
            <a:br>
              <a:rPr lang="en-US"/>
            </a:br>
            <a:r>
              <a:rPr kumimoji="1" lang="en-US" sz="1200" kern="1200">
                <a:solidFill>
                  <a:schemeClr val="tx1"/>
                </a:solidFill>
                <a:effectLst/>
                <a:latin typeface="Arial" charset="0"/>
                <a:ea typeface="+mn-ea"/>
                <a:cs typeface="+mn-cs"/>
              </a:rPr>
              <a:t>for </a:t>
            </a:r>
            <a:r>
              <a:rPr lang="en-US"/>
              <a:t>i </a:t>
            </a:r>
            <a:r>
              <a:rPr kumimoji="1" lang="en-US" sz="1200" kern="1200">
                <a:solidFill>
                  <a:schemeClr val="tx1"/>
                </a:solidFill>
                <a:effectLst/>
                <a:latin typeface="Arial" charset="0"/>
                <a:ea typeface="+mn-ea"/>
                <a:cs typeface="+mn-cs"/>
              </a:rPr>
              <a:t>in </a:t>
            </a:r>
            <a:r>
              <a:rPr lang="en-US"/>
              <a:t>range(row):</a:t>
            </a:r>
            <a:br>
              <a:rPr lang="en-US"/>
            </a:br>
            <a:r>
              <a:rPr lang="en-US"/>
              <a:t>    col = int(input(</a:t>
            </a:r>
            <a:r>
              <a:rPr kumimoji="1" lang="en-US" sz="1200" kern="1200">
                <a:solidFill>
                  <a:schemeClr val="tx1"/>
                </a:solidFill>
                <a:effectLst/>
                <a:latin typeface="Arial" charset="0"/>
                <a:ea typeface="+mn-ea"/>
                <a:cs typeface="+mn-cs"/>
              </a:rPr>
              <a:t>" Nhap so cot cua hang %d: "</a:t>
            </a:r>
            <a:r>
              <a:rPr lang="en-US"/>
              <a:t>%i))</a:t>
            </a:r>
            <a:br>
              <a:rPr lang="en-US"/>
            </a:br>
            <a:r>
              <a:rPr lang="en-US"/>
              <a:t>    gt_row = []</a:t>
            </a:r>
            <a:br>
              <a:rPr lang="en-US"/>
            </a:br>
            <a:r>
              <a:rPr lang="en-US"/>
              <a:t>    </a:t>
            </a:r>
            <a:r>
              <a:rPr kumimoji="1" lang="en-US" sz="1200" kern="1200">
                <a:solidFill>
                  <a:schemeClr val="tx1"/>
                </a:solidFill>
                <a:effectLst/>
                <a:latin typeface="Arial" charset="0"/>
                <a:ea typeface="+mn-ea"/>
                <a:cs typeface="+mn-cs"/>
              </a:rPr>
              <a:t>for </a:t>
            </a:r>
            <a:r>
              <a:rPr lang="en-US"/>
              <a:t>j </a:t>
            </a:r>
            <a:r>
              <a:rPr kumimoji="1" lang="en-US" sz="1200" kern="1200">
                <a:solidFill>
                  <a:schemeClr val="tx1"/>
                </a:solidFill>
                <a:effectLst/>
                <a:latin typeface="Arial" charset="0"/>
                <a:ea typeface="+mn-ea"/>
                <a:cs typeface="+mn-cs"/>
              </a:rPr>
              <a:t>in </a:t>
            </a:r>
            <a:r>
              <a:rPr lang="en-US"/>
              <a:t>range(col):</a:t>
            </a:r>
            <a:br>
              <a:rPr lang="en-US"/>
            </a:br>
            <a:r>
              <a:rPr lang="en-US"/>
              <a:t>        </a:t>
            </a:r>
            <a:r>
              <a:rPr kumimoji="1" lang="en-US" sz="1200" kern="1200">
                <a:solidFill>
                  <a:schemeClr val="tx1"/>
                </a:solidFill>
                <a:effectLst/>
                <a:latin typeface="Arial" charset="0"/>
                <a:ea typeface="+mn-ea"/>
                <a:cs typeface="+mn-cs"/>
              </a:rPr>
              <a:t># print(f'a[{i}][{j}]=')</a:t>
            </a:r>
            <a:br>
              <a:rPr kumimoji="1" lang="en-US" sz="1200" kern="1200">
                <a:solidFill>
                  <a:schemeClr val="tx1"/>
                </a:solidFill>
                <a:effectLst/>
                <a:latin typeface="Arial" charset="0"/>
                <a:ea typeface="+mn-ea"/>
                <a:cs typeface="+mn-cs"/>
              </a:rPr>
            </a:br>
            <a:r>
              <a:rPr kumimoji="1" lang="en-US" sz="1200" kern="1200">
                <a:solidFill>
                  <a:schemeClr val="tx1"/>
                </a:solidFill>
                <a:effectLst/>
                <a:latin typeface="Arial" charset="0"/>
                <a:ea typeface="+mn-ea"/>
                <a:cs typeface="+mn-cs"/>
              </a:rPr>
              <a:t>        </a:t>
            </a:r>
            <a:r>
              <a:rPr lang="en-US"/>
              <a:t>print(</a:t>
            </a:r>
            <a:r>
              <a:rPr kumimoji="1" lang="en-US" sz="1200" kern="1200">
                <a:solidFill>
                  <a:schemeClr val="tx1"/>
                </a:solidFill>
                <a:effectLst/>
                <a:latin typeface="Arial" charset="0"/>
                <a:ea typeface="+mn-ea"/>
                <a:cs typeface="+mn-cs"/>
              </a:rPr>
              <a:t>'a[', </a:t>
            </a:r>
            <a:r>
              <a:rPr lang="en-US"/>
              <a:t>i</a:t>
            </a:r>
            <a:r>
              <a:rPr kumimoji="1" lang="en-US" sz="1200" kern="1200">
                <a:solidFill>
                  <a:schemeClr val="tx1"/>
                </a:solidFill>
                <a:effectLst/>
                <a:latin typeface="Arial" charset="0"/>
                <a:ea typeface="+mn-ea"/>
                <a:cs typeface="+mn-cs"/>
              </a:rPr>
              <a:t>, '][', </a:t>
            </a:r>
            <a:r>
              <a:rPr lang="en-US"/>
              <a:t>j</a:t>
            </a:r>
            <a:r>
              <a:rPr kumimoji="1" lang="en-US" sz="1200" kern="1200">
                <a:solidFill>
                  <a:schemeClr val="tx1"/>
                </a:solidFill>
                <a:effectLst/>
                <a:latin typeface="Arial" charset="0"/>
                <a:ea typeface="+mn-ea"/>
                <a:cs typeface="+mn-cs"/>
              </a:rPr>
              <a:t>, ']=', end</a:t>
            </a:r>
            <a:r>
              <a:rPr lang="en-US"/>
              <a:t>=</a:t>
            </a:r>
            <a:r>
              <a:rPr kumimoji="1" lang="en-US" sz="1200" kern="1200">
                <a:solidFill>
                  <a:schemeClr val="tx1"/>
                </a:solidFill>
                <a:effectLst/>
                <a:latin typeface="Arial" charset="0"/>
                <a:ea typeface="+mn-ea"/>
                <a:cs typeface="+mn-cs"/>
              </a:rPr>
              <a:t>""</a:t>
            </a:r>
            <a:r>
              <a:rPr lang="en-US"/>
              <a:t>)</a:t>
            </a:r>
            <a:br>
              <a:rPr lang="en-US"/>
            </a:br>
            <a:r>
              <a:rPr lang="en-US"/>
              <a:t>        gt_row.append(int(input()))</a:t>
            </a:r>
            <a:br>
              <a:rPr lang="en-US"/>
            </a:br>
            <a:r>
              <a:rPr lang="en-US"/>
              <a:t>    a.append(gt_row)</a:t>
            </a:r>
            <a:br>
              <a:rPr lang="en-US"/>
            </a:br>
            <a:br>
              <a:rPr lang="en-US"/>
            </a:br>
            <a:r>
              <a:rPr lang="en-US"/>
              <a:t>print(a)</a:t>
            </a:r>
            <a:br>
              <a:rPr lang="en-US"/>
            </a:br>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13</a:t>
            </a:fld>
            <a:endParaRPr lang="en-US"/>
          </a:p>
        </p:txBody>
      </p:sp>
    </p:spTree>
    <p:extLst>
      <p:ext uri="{BB962C8B-B14F-4D97-AF65-F5344CB8AC3E}">
        <p14:creationId xmlns:p14="http://schemas.microsoft.com/office/powerpoint/2010/main" val="358266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a:solidFill>
                  <a:schemeClr val="tx1"/>
                </a:solidFill>
                <a:effectLst/>
                <a:latin typeface="Arial" charset="0"/>
                <a:ea typeface="+mn-ea"/>
                <a:cs typeface="+mn-cs"/>
              </a:rPr>
              <a:t>def nhap_mang</a:t>
            </a:r>
            <a:r>
              <a:rPr lang="en-US"/>
              <a:t>(a</a:t>
            </a:r>
            <a:r>
              <a:rPr kumimoji="1" lang="en-US" sz="1200" kern="1200">
                <a:solidFill>
                  <a:schemeClr val="tx1"/>
                </a:solidFill>
                <a:effectLst/>
                <a:latin typeface="Arial" charset="0"/>
                <a:ea typeface="+mn-ea"/>
                <a:cs typeface="+mn-cs"/>
              </a:rPr>
              <a:t>, </a:t>
            </a:r>
            <a:r>
              <a:rPr lang="en-US"/>
              <a:t>row</a:t>
            </a:r>
            <a:r>
              <a:rPr kumimoji="1" lang="en-US" sz="1200" kern="1200">
                <a:solidFill>
                  <a:schemeClr val="tx1"/>
                </a:solidFill>
                <a:effectLst/>
                <a:latin typeface="Arial" charset="0"/>
                <a:ea typeface="+mn-ea"/>
                <a:cs typeface="+mn-cs"/>
              </a:rPr>
              <a:t>, </a:t>
            </a:r>
            <a:r>
              <a:rPr lang="en-US"/>
              <a:t>col):</a:t>
            </a:r>
            <a:br>
              <a:rPr lang="en-US"/>
            </a:br>
            <a:r>
              <a:rPr lang="en-US"/>
              <a:t>    </a:t>
            </a:r>
            <a:r>
              <a:rPr kumimoji="1" lang="en-US" sz="1200" kern="1200">
                <a:solidFill>
                  <a:schemeClr val="tx1"/>
                </a:solidFill>
                <a:effectLst/>
                <a:latin typeface="Arial" charset="0"/>
                <a:ea typeface="+mn-ea"/>
                <a:cs typeface="+mn-cs"/>
              </a:rPr>
              <a:t>for </a:t>
            </a:r>
            <a:r>
              <a:rPr lang="en-US"/>
              <a:t>i </a:t>
            </a:r>
            <a:r>
              <a:rPr kumimoji="1" lang="en-US" sz="1200" kern="1200">
                <a:solidFill>
                  <a:schemeClr val="tx1"/>
                </a:solidFill>
                <a:effectLst/>
                <a:latin typeface="Arial" charset="0"/>
                <a:ea typeface="+mn-ea"/>
                <a:cs typeface="+mn-cs"/>
              </a:rPr>
              <a:t>in </a:t>
            </a:r>
            <a:r>
              <a:rPr lang="en-US"/>
              <a:t>range(row):</a:t>
            </a:r>
            <a:br>
              <a:rPr lang="en-US"/>
            </a:br>
            <a:r>
              <a:rPr lang="en-US"/>
              <a:t>        gt_row = []</a:t>
            </a:r>
            <a:br>
              <a:rPr lang="en-US"/>
            </a:br>
            <a:r>
              <a:rPr lang="en-US"/>
              <a:t>        </a:t>
            </a:r>
            <a:r>
              <a:rPr kumimoji="1" lang="en-US" sz="1200" kern="1200">
                <a:solidFill>
                  <a:schemeClr val="tx1"/>
                </a:solidFill>
                <a:effectLst/>
                <a:latin typeface="Arial" charset="0"/>
                <a:ea typeface="+mn-ea"/>
                <a:cs typeface="+mn-cs"/>
              </a:rPr>
              <a:t>for </a:t>
            </a:r>
            <a:r>
              <a:rPr lang="en-US"/>
              <a:t>j </a:t>
            </a:r>
            <a:r>
              <a:rPr kumimoji="1" lang="en-US" sz="1200" kern="1200">
                <a:solidFill>
                  <a:schemeClr val="tx1"/>
                </a:solidFill>
                <a:effectLst/>
                <a:latin typeface="Arial" charset="0"/>
                <a:ea typeface="+mn-ea"/>
                <a:cs typeface="+mn-cs"/>
              </a:rPr>
              <a:t>in </a:t>
            </a:r>
            <a:r>
              <a:rPr lang="en-US"/>
              <a:t>range(col):</a:t>
            </a:r>
            <a:br>
              <a:rPr lang="en-US"/>
            </a:br>
            <a:r>
              <a:rPr lang="en-US"/>
              <a:t>            </a:t>
            </a:r>
            <a:r>
              <a:rPr kumimoji="1" lang="en-US" sz="1200" kern="1200">
                <a:solidFill>
                  <a:schemeClr val="tx1"/>
                </a:solidFill>
                <a:effectLst/>
                <a:latin typeface="Arial" charset="0"/>
                <a:ea typeface="+mn-ea"/>
                <a:cs typeface="+mn-cs"/>
              </a:rPr>
              <a:t># print(f'a[{i}][{j}]=')</a:t>
            </a:r>
            <a:br>
              <a:rPr kumimoji="1" lang="en-US" sz="1200" kern="1200">
                <a:solidFill>
                  <a:schemeClr val="tx1"/>
                </a:solidFill>
                <a:effectLst/>
                <a:latin typeface="Arial" charset="0"/>
                <a:ea typeface="+mn-ea"/>
                <a:cs typeface="+mn-cs"/>
              </a:rPr>
            </a:br>
            <a:r>
              <a:rPr kumimoji="1" lang="en-US" sz="1200" kern="1200">
                <a:solidFill>
                  <a:schemeClr val="tx1"/>
                </a:solidFill>
                <a:effectLst/>
                <a:latin typeface="Arial" charset="0"/>
                <a:ea typeface="+mn-ea"/>
                <a:cs typeface="+mn-cs"/>
              </a:rPr>
              <a:t>            </a:t>
            </a:r>
            <a:r>
              <a:rPr lang="en-US"/>
              <a:t>print(</a:t>
            </a:r>
            <a:r>
              <a:rPr kumimoji="1" lang="en-US" sz="1200" kern="1200">
                <a:solidFill>
                  <a:schemeClr val="tx1"/>
                </a:solidFill>
                <a:effectLst/>
                <a:latin typeface="Arial" charset="0"/>
                <a:ea typeface="+mn-ea"/>
                <a:cs typeface="+mn-cs"/>
              </a:rPr>
              <a:t>'a[', </a:t>
            </a:r>
            <a:r>
              <a:rPr lang="en-US"/>
              <a:t>i</a:t>
            </a:r>
            <a:r>
              <a:rPr kumimoji="1" lang="en-US" sz="1200" kern="1200">
                <a:solidFill>
                  <a:schemeClr val="tx1"/>
                </a:solidFill>
                <a:effectLst/>
                <a:latin typeface="Arial" charset="0"/>
                <a:ea typeface="+mn-ea"/>
                <a:cs typeface="+mn-cs"/>
              </a:rPr>
              <a:t>, '][', </a:t>
            </a:r>
            <a:r>
              <a:rPr lang="en-US"/>
              <a:t>j</a:t>
            </a:r>
            <a:r>
              <a:rPr kumimoji="1" lang="en-US" sz="1200" kern="1200">
                <a:solidFill>
                  <a:schemeClr val="tx1"/>
                </a:solidFill>
                <a:effectLst/>
                <a:latin typeface="Arial" charset="0"/>
                <a:ea typeface="+mn-ea"/>
                <a:cs typeface="+mn-cs"/>
              </a:rPr>
              <a:t>, ']=', end</a:t>
            </a:r>
            <a:r>
              <a:rPr lang="en-US"/>
              <a:t>=</a:t>
            </a:r>
            <a:r>
              <a:rPr kumimoji="1" lang="en-US" sz="1200" kern="1200">
                <a:solidFill>
                  <a:schemeClr val="tx1"/>
                </a:solidFill>
                <a:effectLst/>
                <a:latin typeface="Arial" charset="0"/>
                <a:ea typeface="+mn-ea"/>
                <a:cs typeface="+mn-cs"/>
              </a:rPr>
              <a:t>""</a:t>
            </a:r>
            <a:r>
              <a:rPr lang="en-US"/>
              <a:t>)</a:t>
            </a:r>
            <a:br>
              <a:rPr lang="en-US"/>
            </a:br>
            <a:r>
              <a:rPr lang="en-US"/>
              <a:t>            gt_row.append(int(input()))</a:t>
            </a:r>
            <a:br>
              <a:rPr lang="en-US"/>
            </a:br>
            <a:r>
              <a:rPr lang="en-US"/>
              <a:t>        a.append(gt_row)</a:t>
            </a:r>
            <a:br>
              <a:rPr lang="en-US"/>
            </a:br>
            <a:br>
              <a:rPr lang="en-US"/>
            </a:br>
            <a:br>
              <a:rPr lang="en-US"/>
            </a:br>
            <a:r>
              <a:rPr kumimoji="1" lang="en-US" sz="1200" kern="1200">
                <a:solidFill>
                  <a:schemeClr val="tx1"/>
                </a:solidFill>
                <a:effectLst/>
                <a:latin typeface="Arial" charset="0"/>
                <a:ea typeface="+mn-ea"/>
                <a:cs typeface="+mn-cs"/>
              </a:rPr>
              <a:t>def in_mang</a:t>
            </a:r>
            <a:r>
              <a:rPr lang="en-US"/>
              <a:t>(a</a:t>
            </a:r>
            <a:r>
              <a:rPr kumimoji="1" lang="en-US" sz="1200" kern="1200">
                <a:solidFill>
                  <a:schemeClr val="tx1"/>
                </a:solidFill>
                <a:effectLst/>
                <a:latin typeface="Arial" charset="0"/>
                <a:ea typeface="+mn-ea"/>
                <a:cs typeface="+mn-cs"/>
              </a:rPr>
              <a:t>, row, col</a:t>
            </a:r>
            <a:r>
              <a:rPr lang="en-US"/>
              <a:t>):</a:t>
            </a:r>
            <a:br>
              <a:rPr lang="en-US"/>
            </a:br>
            <a:r>
              <a:rPr lang="en-US"/>
              <a:t>    row = len(a)</a:t>
            </a:r>
            <a:br>
              <a:rPr lang="en-US"/>
            </a:br>
            <a:r>
              <a:rPr lang="en-US"/>
              <a:t>    </a:t>
            </a:r>
            <a:r>
              <a:rPr kumimoji="1" lang="en-US" sz="1200" kern="1200">
                <a:solidFill>
                  <a:schemeClr val="tx1"/>
                </a:solidFill>
                <a:effectLst/>
                <a:latin typeface="Arial" charset="0"/>
                <a:ea typeface="+mn-ea"/>
                <a:cs typeface="+mn-cs"/>
              </a:rPr>
              <a:t>for </a:t>
            </a:r>
            <a:r>
              <a:rPr lang="en-US"/>
              <a:t>i </a:t>
            </a:r>
            <a:r>
              <a:rPr kumimoji="1" lang="en-US" sz="1200" kern="1200">
                <a:solidFill>
                  <a:schemeClr val="tx1"/>
                </a:solidFill>
                <a:effectLst/>
                <a:latin typeface="Arial" charset="0"/>
                <a:ea typeface="+mn-ea"/>
                <a:cs typeface="+mn-cs"/>
              </a:rPr>
              <a:t>in </a:t>
            </a:r>
            <a:r>
              <a:rPr lang="en-US"/>
              <a:t>range(row):</a:t>
            </a:r>
            <a:br>
              <a:rPr lang="en-US"/>
            </a:br>
            <a:r>
              <a:rPr lang="en-US"/>
              <a:t>        col = len(a[i])</a:t>
            </a:r>
            <a:br>
              <a:rPr lang="en-US"/>
            </a:br>
            <a:r>
              <a:rPr lang="en-US"/>
              <a:t>        </a:t>
            </a:r>
            <a:r>
              <a:rPr kumimoji="1" lang="en-US" sz="1200" kern="1200">
                <a:solidFill>
                  <a:schemeClr val="tx1"/>
                </a:solidFill>
                <a:effectLst/>
                <a:latin typeface="Arial" charset="0"/>
                <a:ea typeface="+mn-ea"/>
                <a:cs typeface="+mn-cs"/>
              </a:rPr>
              <a:t>for </a:t>
            </a:r>
            <a:r>
              <a:rPr lang="en-US"/>
              <a:t>j </a:t>
            </a:r>
            <a:r>
              <a:rPr kumimoji="1" lang="en-US" sz="1200" kern="1200">
                <a:solidFill>
                  <a:schemeClr val="tx1"/>
                </a:solidFill>
                <a:effectLst/>
                <a:latin typeface="Arial" charset="0"/>
                <a:ea typeface="+mn-ea"/>
                <a:cs typeface="+mn-cs"/>
              </a:rPr>
              <a:t>in </a:t>
            </a:r>
            <a:r>
              <a:rPr lang="en-US"/>
              <a:t>range(col):</a:t>
            </a:r>
            <a:br>
              <a:rPr lang="en-US"/>
            </a:br>
            <a:r>
              <a:rPr lang="en-US"/>
              <a:t>            print(a[i][j]</a:t>
            </a:r>
            <a:r>
              <a:rPr kumimoji="1" lang="en-US" sz="1200" kern="1200">
                <a:solidFill>
                  <a:schemeClr val="tx1"/>
                </a:solidFill>
                <a:effectLst/>
                <a:latin typeface="Arial" charset="0"/>
                <a:ea typeface="+mn-ea"/>
                <a:cs typeface="+mn-cs"/>
              </a:rPr>
              <a:t>, end</a:t>
            </a:r>
            <a:r>
              <a:rPr lang="en-US"/>
              <a:t>=</a:t>
            </a:r>
            <a:r>
              <a:rPr kumimoji="1" lang="en-US" sz="1200" kern="1200">
                <a:solidFill>
                  <a:schemeClr val="tx1"/>
                </a:solidFill>
                <a:effectLst/>
                <a:latin typeface="Arial" charset="0"/>
                <a:ea typeface="+mn-ea"/>
                <a:cs typeface="+mn-cs"/>
              </a:rPr>
              <a:t>" "</a:t>
            </a:r>
            <a:r>
              <a:rPr lang="en-US"/>
              <a:t>)</a:t>
            </a:r>
            <a:br>
              <a:rPr lang="en-US"/>
            </a:br>
            <a:r>
              <a:rPr lang="en-US"/>
              <a:t>        print()</a:t>
            </a:r>
            <a:br>
              <a:rPr lang="en-US"/>
            </a:br>
            <a:br>
              <a:rPr lang="en-US"/>
            </a:br>
            <a:br>
              <a:rPr lang="en-US"/>
            </a:br>
            <a:r>
              <a:rPr lang="en-US"/>
              <a:t>a = []</a:t>
            </a:r>
            <a:br>
              <a:rPr lang="en-US"/>
            </a:br>
            <a:r>
              <a:rPr lang="en-US"/>
              <a:t>row = int(input(</a:t>
            </a:r>
            <a:r>
              <a:rPr kumimoji="1" lang="en-US" sz="1200" kern="1200">
                <a:solidFill>
                  <a:schemeClr val="tx1"/>
                </a:solidFill>
                <a:effectLst/>
                <a:latin typeface="Arial" charset="0"/>
                <a:ea typeface="+mn-ea"/>
                <a:cs typeface="+mn-cs"/>
              </a:rPr>
              <a:t>" Nhap so hang: "</a:t>
            </a:r>
            <a:r>
              <a:rPr lang="en-US"/>
              <a:t>))</a:t>
            </a:r>
            <a:br>
              <a:rPr lang="en-US"/>
            </a:br>
            <a:r>
              <a:rPr lang="en-US"/>
              <a:t>col = int(input(</a:t>
            </a:r>
            <a:r>
              <a:rPr kumimoji="1" lang="en-US" sz="1200" kern="1200">
                <a:solidFill>
                  <a:schemeClr val="tx1"/>
                </a:solidFill>
                <a:effectLst/>
                <a:latin typeface="Arial" charset="0"/>
                <a:ea typeface="+mn-ea"/>
                <a:cs typeface="+mn-cs"/>
              </a:rPr>
              <a:t>" Nhap so cot: "</a:t>
            </a:r>
            <a:r>
              <a:rPr lang="en-US"/>
              <a:t>))</a:t>
            </a:r>
            <a:br>
              <a:rPr lang="en-US"/>
            </a:br>
            <a:r>
              <a:rPr lang="en-US"/>
              <a:t>nhap_mang(a</a:t>
            </a:r>
            <a:r>
              <a:rPr kumimoji="1" lang="en-US" sz="1200" kern="1200">
                <a:solidFill>
                  <a:schemeClr val="tx1"/>
                </a:solidFill>
                <a:effectLst/>
                <a:latin typeface="Arial" charset="0"/>
                <a:ea typeface="+mn-ea"/>
                <a:cs typeface="+mn-cs"/>
              </a:rPr>
              <a:t>, </a:t>
            </a:r>
            <a:r>
              <a:rPr lang="en-US"/>
              <a:t>row</a:t>
            </a:r>
            <a:r>
              <a:rPr kumimoji="1" lang="en-US" sz="1200" kern="1200">
                <a:solidFill>
                  <a:schemeClr val="tx1"/>
                </a:solidFill>
                <a:effectLst/>
                <a:latin typeface="Arial" charset="0"/>
                <a:ea typeface="+mn-ea"/>
                <a:cs typeface="+mn-cs"/>
              </a:rPr>
              <a:t>, </a:t>
            </a:r>
            <a:r>
              <a:rPr lang="en-US"/>
              <a:t>col)</a:t>
            </a:r>
            <a:br>
              <a:rPr lang="en-US"/>
            </a:br>
            <a:r>
              <a:rPr lang="en-US"/>
              <a:t>in_mang(a</a:t>
            </a:r>
            <a:r>
              <a:rPr kumimoji="1" lang="en-US" sz="1200" kern="1200">
                <a:solidFill>
                  <a:schemeClr val="tx1"/>
                </a:solidFill>
                <a:effectLst/>
                <a:latin typeface="Arial" charset="0"/>
                <a:ea typeface="+mn-ea"/>
                <a:cs typeface="+mn-cs"/>
              </a:rPr>
              <a:t>, </a:t>
            </a:r>
            <a:r>
              <a:rPr lang="en-US"/>
              <a:t>row</a:t>
            </a:r>
            <a:r>
              <a:rPr kumimoji="1" lang="en-US" sz="1200" kern="1200">
                <a:solidFill>
                  <a:schemeClr val="tx1"/>
                </a:solidFill>
                <a:effectLst/>
                <a:latin typeface="Arial" charset="0"/>
                <a:ea typeface="+mn-ea"/>
                <a:cs typeface="+mn-cs"/>
              </a:rPr>
              <a:t>, </a:t>
            </a:r>
            <a:r>
              <a:rPr lang="en-US"/>
              <a:t>col)</a:t>
            </a:r>
            <a:br>
              <a:rPr lang="en-US"/>
            </a:br>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14</a:t>
            </a:fld>
            <a:endParaRPr lang="en-US"/>
          </a:p>
        </p:txBody>
      </p:sp>
    </p:spTree>
    <p:extLst>
      <p:ext uri="{BB962C8B-B14F-4D97-AF65-F5344CB8AC3E}">
        <p14:creationId xmlns:p14="http://schemas.microsoft.com/office/powerpoint/2010/main" val="319313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 nhap_ma_tran(so_dong, so_cot):</a:t>
            </a:r>
          </a:p>
          <a:p>
            <a:r>
              <a:rPr lang="en-US"/>
              <a:t>    ma_tran = []</a:t>
            </a:r>
          </a:p>
          <a:p>
            <a:r>
              <a:rPr lang="en-US"/>
              <a:t>    for i in range(so_dong):</a:t>
            </a:r>
          </a:p>
          <a:p>
            <a:r>
              <a:rPr lang="en-US"/>
              <a:t>        dong = []</a:t>
            </a:r>
          </a:p>
          <a:p>
            <a:r>
              <a:rPr lang="en-US"/>
              <a:t>        for j in range(so_cot):</a:t>
            </a:r>
          </a:p>
          <a:p>
            <a:r>
              <a:rPr lang="en-US"/>
              <a:t>            gia_tri = int(input(f"Nhập giá trị tại hàng {i+1}, cột {j+1}: "))</a:t>
            </a:r>
          </a:p>
          <a:p>
            <a:r>
              <a:rPr lang="en-US"/>
              <a:t>            dong.append(gia_tri)</a:t>
            </a:r>
          </a:p>
          <a:p>
            <a:r>
              <a:rPr lang="en-US"/>
              <a:t>        ma_tran.append(dong)</a:t>
            </a:r>
          </a:p>
          <a:p>
            <a:r>
              <a:rPr lang="en-US"/>
              <a:t>    return ma_tran</a:t>
            </a:r>
          </a:p>
          <a:p>
            <a:endParaRPr lang="en-US"/>
          </a:p>
          <a:p>
            <a:r>
              <a:rPr lang="en-US"/>
              <a:t>def xuat_ma_tran(ma_tran):</a:t>
            </a:r>
          </a:p>
          <a:p>
            <a:r>
              <a:rPr lang="en-US"/>
              <a:t>    for dong in ma_tran:</a:t>
            </a:r>
          </a:p>
          <a:p>
            <a:r>
              <a:rPr lang="en-US"/>
              <a:t>        for gia_tri in dong:</a:t>
            </a:r>
          </a:p>
          <a:p>
            <a:r>
              <a:rPr lang="en-US"/>
              <a:t>            print(gia_tri, end="\t")</a:t>
            </a:r>
          </a:p>
          <a:p>
            <a:r>
              <a:rPr lang="en-US"/>
              <a:t>        print()</a:t>
            </a:r>
          </a:p>
          <a:p>
            <a:endParaRPr lang="en-US"/>
          </a:p>
          <a:p>
            <a:r>
              <a:rPr lang="en-US"/>
              <a:t>so_dong = int(input("Nhập số dòng của ma trận: "))</a:t>
            </a:r>
          </a:p>
          <a:p>
            <a:r>
              <a:rPr lang="en-US"/>
              <a:t>so_cot = int(input("Nhập số cột của ma trận: "))</a:t>
            </a:r>
          </a:p>
          <a:p>
            <a:endParaRPr lang="en-US"/>
          </a:p>
          <a:p>
            <a:r>
              <a:rPr lang="en-US"/>
              <a:t>ma_tran = nhap_ma_tran(so_dong, so_cot)</a:t>
            </a:r>
          </a:p>
          <a:p>
            <a:endParaRPr lang="en-US"/>
          </a:p>
          <a:p>
            <a:r>
              <a:rPr lang="en-US"/>
              <a:t>print("Ma trận vừa nhập:")</a:t>
            </a:r>
          </a:p>
          <a:p>
            <a:r>
              <a:rPr lang="en-US"/>
              <a:t>xuat_ma_tran(ma_tran)</a:t>
            </a:r>
          </a:p>
          <a:p>
            <a:endParaRPr lang="en-VN"/>
          </a:p>
        </p:txBody>
      </p:sp>
      <p:sp>
        <p:nvSpPr>
          <p:cNvPr id="4" name="Slide Number Placeholder 3"/>
          <p:cNvSpPr>
            <a:spLocks noGrp="1"/>
          </p:cNvSpPr>
          <p:nvPr>
            <p:ph type="sldNum" sz="quarter" idx="5"/>
          </p:nvPr>
        </p:nvSpPr>
        <p:spPr/>
        <p:txBody>
          <a:bodyPr/>
          <a:lstStyle/>
          <a:p>
            <a:fld id="{C21AAE7B-BD7A-9B49-980F-9E80DA190BA0}" type="slidenum">
              <a:rPr lang="en-US" altLang="en-VN"/>
              <a:pPr/>
              <a:t>15</a:t>
            </a:fld>
            <a:endParaRPr lang="en-US" altLang="en-VN"/>
          </a:p>
        </p:txBody>
      </p:sp>
    </p:spTree>
    <p:extLst>
      <p:ext uri="{BB962C8B-B14F-4D97-AF65-F5344CB8AC3E}">
        <p14:creationId xmlns:p14="http://schemas.microsoft.com/office/powerpoint/2010/main" val="1670939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16</a:t>
            </a:fld>
            <a:endParaRPr lang="en-US"/>
          </a:p>
        </p:txBody>
      </p:sp>
    </p:spTree>
    <p:extLst>
      <p:ext uri="{BB962C8B-B14F-4D97-AF65-F5344CB8AC3E}">
        <p14:creationId xmlns:p14="http://schemas.microsoft.com/office/powerpoint/2010/main" val="338104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17</a:t>
            </a:fld>
            <a:endParaRPr lang="en-US"/>
          </a:p>
        </p:txBody>
      </p:sp>
    </p:spTree>
    <p:extLst>
      <p:ext uri="{BB962C8B-B14F-4D97-AF65-F5344CB8AC3E}">
        <p14:creationId xmlns:p14="http://schemas.microsoft.com/office/powerpoint/2010/main" val="1967993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1" kern="1200">
                <a:solidFill>
                  <a:schemeClr val="tx1"/>
                </a:solidFill>
                <a:effectLst/>
                <a:latin typeface="Arial" charset="0"/>
                <a:ea typeface="+mn-ea"/>
                <a:cs typeface="+mn-cs"/>
              </a:rPr>
              <a:t>STT</a:t>
            </a:r>
            <a:endParaRPr kumimoji="1" lang="en-VN" sz="1200" kern="1200">
              <a:solidFill>
                <a:schemeClr val="tx1"/>
              </a:solidFill>
              <a:effectLst/>
              <a:latin typeface="Arial" charset="0"/>
              <a:ea typeface="+mn-ea"/>
              <a:cs typeface="+mn-cs"/>
            </a:endParaRPr>
          </a:p>
          <a:p>
            <a:r>
              <a:rPr kumimoji="1" lang="en-US" sz="1200" b="1" kern="1200">
                <a:solidFill>
                  <a:schemeClr val="tx1"/>
                </a:solidFill>
                <a:effectLst/>
                <a:latin typeface="Arial" charset="0"/>
                <a:ea typeface="+mn-ea"/>
                <a:cs typeface="+mn-cs"/>
              </a:rPr>
              <a:t>Hàm</a:t>
            </a:r>
            <a:endParaRPr kumimoji="1" lang="en-VN" sz="1200" kern="1200">
              <a:solidFill>
                <a:schemeClr val="tx1"/>
              </a:solidFill>
              <a:effectLst/>
              <a:latin typeface="Arial" charset="0"/>
              <a:ea typeface="+mn-ea"/>
              <a:cs typeface="+mn-cs"/>
            </a:endParaRPr>
          </a:p>
          <a:p>
            <a:r>
              <a:rPr kumimoji="1" lang="en-US" sz="1200" b="1" kern="1200">
                <a:solidFill>
                  <a:schemeClr val="tx1"/>
                </a:solidFill>
                <a:effectLst/>
                <a:latin typeface="Arial" charset="0"/>
                <a:ea typeface="+mn-ea"/>
                <a:cs typeface="+mn-cs"/>
              </a:rPr>
              <a:t>Tác dụng</a:t>
            </a:r>
            <a:endParaRPr kumimoji="1" lang="en-VN" sz="1200" kern="1200">
              <a:solidFill>
                <a:schemeClr val="tx1"/>
              </a:solidFill>
              <a:effectLst/>
              <a:latin typeface="Arial" charset="0"/>
              <a:ea typeface="+mn-ea"/>
              <a:cs typeface="+mn-cs"/>
            </a:endParaRPr>
          </a:p>
          <a:p>
            <a:r>
              <a:rPr kumimoji="1" lang="en-US" sz="1200" b="1" kern="1200">
                <a:solidFill>
                  <a:schemeClr val="tx1"/>
                </a:solidFill>
                <a:effectLst/>
                <a:latin typeface="Arial" charset="0"/>
                <a:ea typeface="+mn-ea"/>
                <a:cs typeface="+mn-cs"/>
              </a:rPr>
              <a:t>Ví dụ</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3"/>
              </a:rPr>
              <a:t>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list(data)</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chuyển đổi kiểu dữ liệu của một biến sang dạng </a:t>
            </a:r>
            <a:r>
              <a:rPr kumimoji="1" lang="en-VN" sz="1200" kern="1200">
                <a:solidFill>
                  <a:schemeClr val="tx1"/>
                </a:solidFill>
                <a:effectLst/>
                <a:latin typeface="Arial" charset="0"/>
                <a:ea typeface="+mn-ea"/>
                <a:cs typeface="+mn-cs"/>
              </a:rPr>
              <a:t>list.</a:t>
            </a:r>
          </a:p>
          <a:p>
            <a:r>
              <a:rPr kumimoji="1" lang="en-US" sz="1200" kern="1200">
                <a:solidFill>
                  <a:schemeClr val="tx1"/>
                </a:solidFill>
                <a:effectLst/>
                <a:latin typeface="Arial" charset="0"/>
                <a:ea typeface="+mn-ea"/>
                <a:cs typeface="+mn-cs"/>
              </a:rPr>
              <a:t>str=”ABC”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print(list(str)) #[‘A’, ‘B’, ‘C’]</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4"/>
              </a:rPr>
              <a:t>len().</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len(list)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Trả về số lượng phần tử có trong 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len(list) #3</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5"/>
              </a:rPr>
              <a:t>max().</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max(list)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Trả về phần tử có giá trị lớn nhất trong list. Nếu là chuỗi thì nó sẽ trả về phần tử có độ dài chuỗi dài nhất, nếu là số thì nó sẽ trả về phần tử có số lớn nhất.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max(list) #’C’</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6"/>
              </a:rPr>
              <a:t>min().</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min(list)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Ngược lại với max</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 </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7"/>
              </a:rPr>
              <a:t>append().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mylist.append(obj)</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thêm phần vào cuối của một </a:t>
            </a:r>
            <a:r>
              <a:rPr kumimoji="1" lang="en-VN" sz="1200" kern="1200">
                <a:solidFill>
                  <a:schemeClr val="tx1"/>
                </a:solidFill>
                <a:effectLst/>
                <a:latin typeface="Arial" charset="0"/>
                <a:ea typeface="+mn-ea"/>
                <a:cs typeface="+mn-cs"/>
              </a:rPr>
              <a:t>list.</a:t>
            </a:r>
          </a:p>
          <a:p>
            <a:r>
              <a:rPr kumimoji="1" lang="en-US" sz="1200" kern="1200">
                <a:solidFill>
                  <a:schemeClr val="tx1"/>
                </a:solidFill>
                <a:effectLst/>
                <a:latin typeface="Arial" charset="0"/>
                <a:ea typeface="+mn-ea"/>
                <a:cs typeface="+mn-cs"/>
              </a:rPr>
              <a:t>list =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list.append('D')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['A', 'B', 'C', 'D']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list.append(('E', 'F'))</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['A', 'B', 'C', 'D', ('E', 'F')]</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8"/>
              </a:rPr>
              <a:t>extend().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list1.extend(list2)</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kế thừa lại các phần tử của list2 và thêm vào trong list1.</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list.extend('D')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  ['A', 'B', 'C', 'D']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list.extend(('E', 'F'))</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  ['A', 'B', 'C', 'D', 'E', 'F']</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9"/>
              </a:rPr>
              <a:t>count().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mylist.count(val)</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đếm số lần xuất hiện của một thành phần trong 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print(list.count('A'))#  1</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10"/>
              </a:rPr>
              <a:t>index().</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mylist.index(val)</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trả về index xuất hiện đầu tiên của phần tử mà bạn muốn tìm và nếu như không tìm thấy thì nó sẽ gọi </a:t>
            </a:r>
            <a:r>
              <a:rPr kumimoji="1" lang="en-VN" sz="1200" u="none" strike="noStrike" kern="1200">
                <a:solidFill>
                  <a:schemeClr val="tx1"/>
                </a:solidFill>
                <a:effectLst/>
                <a:latin typeface="Arial" charset="0"/>
                <a:ea typeface="+mn-ea"/>
                <a:cs typeface="+mn-cs"/>
                <a:hlinkClick r:id="rId11"/>
              </a:rPr>
              <a:t>exception</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print(list.index('B'))#  1</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print(list.index('D'))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  ValueError: 'D' is not in list</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12"/>
              </a:rPr>
              <a:t>insert().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mylist.insert(index, val)</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thêm phần tử vào vị trí index của list, và các phần tử sau index đó sẽ được đẩy về phía sau.</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list.insert(0, 'Z')</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['Z',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list.insert(2, 'D')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['Z', 'A', 'D', 'B', 'C']</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13"/>
              </a:rPr>
              <a:t>reverse().</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mylist.reverse()</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đảo ngược vị trí của các phần tử trong 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list.reverse()</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['C', 'B', 'A']</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14"/>
              </a:rPr>
              <a:t>remove().</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mylist.remove(val)</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xóa phần tử khỏi 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'B', 'C']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list.remove('C')</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['A', 'B']</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15"/>
              </a:rPr>
              <a:t>pop().</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mylist.pop(index)</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xóa bỏ phần tử trong list dựa trên index của nó.</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'B', 'C', 'D', 'E']</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list.pop()</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['A', 'B', 'C', 'D']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list.pop(2)</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['A', 'B', 'D']</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16"/>
              </a:rPr>
              <a:t>sort().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mylist.sort(reverse, key)</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sắp xếp lại các phần tử trong list theo một thứ tự xác định.</a:t>
            </a:r>
            <a:endParaRPr kumimoji="1" lang="en-VN" sz="1200" kern="1200">
              <a:solidFill>
                <a:schemeClr val="tx1"/>
              </a:solidFill>
              <a:effectLst/>
              <a:latin typeface="Arial" charset="0"/>
              <a:ea typeface="+mn-ea"/>
              <a:cs typeface="+mn-cs"/>
            </a:endParaRPr>
          </a:p>
          <a:p>
            <a:pPr lvl="0"/>
            <a:r>
              <a:rPr kumimoji="1" lang="en-US" sz="1200" kern="1200">
                <a:solidFill>
                  <a:schemeClr val="tx1"/>
                </a:solidFill>
                <a:effectLst/>
                <a:latin typeface="Arial" charset="0"/>
                <a:ea typeface="+mn-ea"/>
                <a:cs typeface="+mn-cs"/>
              </a:rPr>
              <a:t>mylist là list mà các bạn muốn sắp xếp.</a:t>
            </a:r>
            <a:endParaRPr kumimoji="1" lang="en-VN" sz="1200" kern="1200">
              <a:solidFill>
                <a:schemeClr val="tx1"/>
              </a:solidFill>
              <a:effectLst/>
              <a:latin typeface="Arial" charset="0"/>
              <a:ea typeface="+mn-ea"/>
              <a:cs typeface="+mn-cs"/>
            </a:endParaRPr>
          </a:p>
          <a:p>
            <a:pPr lvl="0"/>
            <a:r>
              <a:rPr kumimoji="1" lang="en-US" sz="1200" kern="1200">
                <a:solidFill>
                  <a:schemeClr val="tx1"/>
                </a:solidFill>
                <a:effectLst/>
                <a:latin typeface="Arial" charset="0"/>
                <a:ea typeface="+mn-ea"/>
                <a:cs typeface="+mn-cs"/>
              </a:rPr>
              <a:t>reverse là một boolean cấu hình kiểu sắp xếp. Nếu reverse = True thì list sẽ được sắp xếp từ lớn đến bé, nếu reverse = False thì list sẽ được sắp xếp theo thứ tự từ bé đến lớn. Mặc định thì reverse = False.</a:t>
            </a:r>
            <a:endParaRPr kumimoji="1" lang="en-VN" sz="1200" kern="1200">
              <a:solidFill>
                <a:schemeClr val="tx1"/>
              </a:solidFill>
              <a:effectLst/>
              <a:latin typeface="Arial" charset="0"/>
              <a:ea typeface="+mn-ea"/>
              <a:cs typeface="+mn-cs"/>
            </a:endParaRPr>
          </a:p>
          <a:p>
            <a:pPr lvl="0"/>
            <a:r>
              <a:rPr kumimoji="1" lang="en-US" sz="1200" kern="1200">
                <a:solidFill>
                  <a:schemeClr val="tx1"/>
                </a:solidFill>
                <a:effectLst/>
                <a:latin typeface="Arial" charset="0"/>
                <a:ea typeface="+mn-ea"/>
                <a:cs typeface="+mn-cs"/>
              </a:rPr>
              <a:t>key là callback def để xử lý list hoặc là một lamda function (thường được dùng để sắp xếp các list tuple hoặc dictionary).</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'C', 'B', 'E', 'D']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list.sort()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['A', 'B', 'C', 'D', 'E']</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list.sort(reverse=True)</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  ['E', 'D', 'C', 'B', 'A']</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def custom_sort(elem):</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    return elem[1]</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[(1, 2), (5, 7), (7, 100), (4, 4)]</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list.sort(key=custom_sort)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[(1, 2), (4, 4), (5, 7), (7, 100)]</a:t>
            </a:r>
            <a:endParaRPr kumimoji="1" lang="en-VN" sz="1200" kern="1200">
              <a:solidFill>
                <a:schemeClr val="tx1"/>
              </a:solidFill>
              <a:effectLst/>
              <a:latin typeface="Arial" charset="0"/>
              <a:ea typeface="+mn-ea"/>
              <a:cs typeface="+mn-cs"/>
            </a:endParaRPr>
          </a:p>
          <a:p>
            <a:pPr lvl="0"/>
            <a:r>
              <a:rPr kumimoji="1" lang="en-VN" sz="1200" kern="1200">
                <a:solidFill>
                  <a:schemeClr val="tx1"/>
                </a:solidFill>
                <a:effectLst/>
                <a:latin typeface="Arial" charset="0"/>
                <a:ea typeface="+mn-ea"/>
                <a:cs typeface="+mn-cs"/>
              </a:rPr>
              <a:t> </a:t>
            </a:r>
          </a:p>
          <a:p>
            <a:r>
              <a:rPr kumimoji="1" lang="en-US" sz="1200" u="none" strike="noStrike" kern="1200">
                <a:solidFill>
                  <a:schemeClr val="tx1"/>
                </a:solidFill>
                <a:effectLst/>
                <a:latin typeface="Arial" charset="0"/>
                <a:ea typeface="+mn-ea"/>
                <a:cs typeface="+mn-cs"/>
                <a:hlinkClick r:id="rId17"/>
              </a:rPr>
              <a:t>clear().</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mylist.clear()</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tác dụng xóa bỏ hết tất cả các phần tử trong list.</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 = ['A', 'C', 'B', 'E', 'D']</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list.clear()</a:t>
            </a:r>
            <a:endParaRPr kumimoji="1" lang="en-VN" sz="1200" kern="1200">
              <a:solidFill>
                <a:schemeClr val="tx1"/>
              </a:solidFill>
              <a:effectLst/>
              <a:latin typeface="Arial" charset="0"/>
              <a:ea typeface="+mn-ea"/>
              <a:cs typeface="+mn-cs"/>
            </a:endParaRPr>
          </a:p>
          <a:p>
            <a:r>
              <a:rPr kumimoji="1" lang="en-US" sz="1200" kern="1200">
                <a:solidFill>
                  <a:schemeClr val="tx1"/>
                </a:solidFill>
                <a:effectLst/>
                <a:latin typeface="Arial" charset="0"/>
                <a:ea typeface="+mn-ea"/>
                <a:cs typeface="+mn-cs"/>
              </a:rPr>
              <a:t>print(list)#  []</a:t>
            </a:r>
            <a:endParaRPr kumimoji="1" lang="en-VN" sz="1200" kern="1200">
              <a:solidFill>
                <a:schemeClr val="tx1"/>
              </a:solidFill>
              <a:effectLst/>
              <a:latin typeface="Arial" charset="0"/>
              <a:ea typeface="+mn-ea"/>
              <a:cs typeface="+mn-cs"/>
            </a:endParaRPr>
          </a:p>
          <a:p>
            <a:r>
              <a:rPr kumimoji="1" lang="en-VN" sz="1200" kern="1200">
                <a:solidFill>
                  <a:schemeClr val="tx1"/>
                </a:solidFill>
                <a:effectLst/>
                <a:latin typeface="Arial" charset="0"/>
                <a:ea typeface="+mn-ea"/>
                <a:cs typeface="+mn-cs"/>
              </a:rPr>
              <a:t> </a:t>
            </a:r>
          </a:p>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18</a:t>
            </a:fld>
            <a:endParaRPr lang="en-US"/>
          </a:p>
        </p:txBody>
      </p:sp>
    </p:spTree>
    <p:extLst>
      <p:ext uri="{BB962C8B-B14F-4D97-AF65-F5344CB8AC3E}">
        <p14:creationId xmlns:p14="http://schemas.microsoft.com/office/powerpoint/2010/main" val="850016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19</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21</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22</a:t>
            </a:fld>
            <a:endParaRPr lang="en-US"/>
          </a:p>
        </p:txBody>
      </p:sp>
    </p:spTree>
    <p:extLst>
      <p:ext uri="{BB962C8B-B14F-4D97-AF65-F5344CB8AC3E}">
        <p14:creationId xmlns:p14="http://schemas.microsoft.com/office/powerpoint/2010/main" val="1759822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23</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24</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25</a:t>
            </a:fld>
            <a:endParaRPr lang="en-US"/>
          </a:p>
        </p:txBody>
      </p:sp>
    </p:spTree>
    <p:extLst>
      <p:ext uri="{BB962C8B-B14F-4D97-AF65-F5344CB8AC3E}">
        <p14:creationId xmlns:p14="http://schemas.microsoft.com/office/powerpoint/2010/main" val="4074040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26</a:t>
            </a:fld>
            <a:endParaRPr lang="en-US"/>
          </a:p>
        </p:txBody>
      </p:sp>
    </p:spTree>
    <p:extLst>
      <p:ext uri="{BB962C8B-B14F-4D97-AF65-F5344CB8AC3E}">
        <p14:creationId xmlns:p14="http://schemas.microsoft.com/office/powerpoint/2010/main" val="3581340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27</a:t>
            </a:fld>
            <a:endParaRPr lang="en-US"/>
          </a:p>
        </p:txBody>
      </p:sp>
    </p:spTree>
    <p:extLst>
      <p:ext uri="{BB962C8B-B14F-4D97-AF65-F5344CB8AC3E}">
        <p14:creationId xmlns:p14="http://schemas.microsoft.com/office/powerpoint/2010/main" val="3110849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28</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29</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30</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31</a:t>
            </a:fld>
            <a:endParaRPr lang="en-US"/>
          </a:p>
        </p:txBody>
      </p:sp>
    </p:spTree>
    <p:extLst>
      <p:ext uri="{BB962C8B-B14F-4D97-AF65-F5344CB8AC3E}">
        <p14:creationId xmlns:p14="http://schemas.microsoft.com/office/powerpoint/2010/main" val="4161788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32</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33</a:t>
            </a:fld>
            <a:endParaRPr lang="en-US"/>
          </a:p>
        </p:txBody>
      </p:sp>
    </p:spTree>
    <p:extLst>
      <p:ext uri="{BB962C8B-B14F-4D97-AF65-F5344CB8AC3E}">
        <p14:creationId xmlns:p14="http://schemas.microsoft.com/office/powerpoint/2010/main" val="21901258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34</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35</a:t>
            </a:fld>
            <a:endParaRPr lang="en-US"/>
          </a:p>
        </p:txBody>
      </p:sp>
    </p:spTree>
    <p:extLst>
      <p:ext uri="{BB962C8B-B14F-4D97-AF65-F5344CB8AC3E}">
        <p14:creationId xmlns:p14="http://schemas.microsoft.com/office/powerpoint/2010/main" val="8494659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36</a:t>
            </a:fld>
            <a:endParaRPr lang="en-US"/>
          </a:p>
        </p:txBody>
      </p:sp>
    </p:spTree>
    <p:extLst>
      <p:ext uri="{BB962C8B-B14F-4D97-AF65-F5344CB8AC3E}">
        <p14:creationId xmlns:p14="http://schemas.microsoft.com/office/powerpoint/2010/main" val="585192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sz="1200"/>
              <a:t>Một tập hợp các cặp key-value không có thứ tự, có thể thay đổi và lập chỉ mục (truy cập phần tử theo chỉ mục). </a:t>
            </a:r>
          </a:p>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37</a:t>
            </a:fld>
            <a:endParaRPr lang="en-US"/>
          </a:p>
        </p:txBody>
      </p:sp>
    </p:spTree>
    <p:extLst>
      <p:ext uri="{BB962C8B-B14F-4D97-AF65-F5344CB8AC3E}">
        <p14:creationId xmlns:p14="http://schemas.microsoft.com/office/powerpoint/2010/main" val="21547071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39874648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39</a:t>
            </a:fld>
            <a:endParaRPr lang="en-US"/>
          </a:p>
        </p:txBody>
      </p:sp>
    </p:spTree>
    <p:extLst>
      <p:ext uri="{BB962C8B-B14F-4D97-AF65-F5344CB8AC3E}">
        <p14:creationId xmlns:p14="http://schemas.microsoft.com/office/powerpoint/2010/main" val="3483103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Kết quả khi dùng get</a:t>
            </a:r>
          </a:p>
          <a:p>
            <a:r>
              <a:rPr lang="en-US"/>
              <a:t>brand : Honda </a:t>
            </a:r>
          </a:p>
          <a:p>
            <a:r>
              <a:rPr lang="en-US"/>
              <a:t>model : Honda Civic </a:t>
            </a:r>
          </a:p>
          <a:p>
            <a:r>
              <a:rPr lang="en-US"/>
              <a:t>year : 2022</a:t>
            </a:r>
          </a:p>
          <a:p>
            <a:r>
              <a:rPr lang="en-US"/>
              <a:t>Kết quả khi dùng values</a:t>
            </a:r>
          </a:p>
          <a:p>
            <a:r>
              <a:rPr lang="en-US"/>
              <a:t>Honda </a:t>
            </a:r>
          </a:p>
          <a:p>
            <a:r>
              <a:rPr lang="en-US"/>
              <a:t>Honda Civic </a:t>
            </a:r>
          </a:p>
          <a:p>
            <a:r>
              <a:rPr lang="en-US"/>
              <a:t>2022</a:t>
            </a:r>
          </a:p>
          <a:p>
            <a:endParaRPr lang="en-US"/>
          </a:p>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40</a:t>
            </a:fld>
            <a:endParaRPr lang="en-US"/>
          </a:p>
        </p:txBody>
      </p:sp>
    </p:spTree>
    <p:extLst>
      <p:ext uri="{BB962C8B-B14F-4D97-AF65-F5344CB8AC3E}">
        <p14:creationId xmlns:p14="http://schemas.microsoft.com/office/powerpoint/2010/main" val="40954345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41</a:t>
            </a:fld>
            <a:endParaRPr lang="en-US"/>
          </a:p>
        </p:txBody>
      </p:sp>
    </p:spTree>
    <p:extLst>
      <p:ext uri="{BB962C8B-B14F-4D97-AF65-F5344CB8AC3E}">
        <p14:creationId xmlns:p14="http://schemas.microsoft.com/office/powerpoint/2010/main" val="25546467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42</a:t>
            </a:fld>
            <a:endParaRPr lang="en-US"/>
          </a:p>
        </p:txBody>
      </p:sp>
    </p:spTree>
    <p:extLst>
      <p:ext uri="{BB962C8B-B14F-4D97-AF65-F5344CB8AC3E}">
        <p14:creationId xmlns:p14="http://schemas.microsoft.com/office/powerpoint/2010/main" val="25528432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43</a:t>
            </a:fld>
            <a:endParaRPr lang="en-US"/>
          </a:p>
        </p:txBody>
      </p:sp>
    </p:spTree>
    <p:extLst>
      <p:ext uri="{BB962C8B-B14F-4D97-AF65-F5344CB8AC3E}">
        <p14:creationId xmlns:p14="http://schemas.microsoft.com/office/powerpoint/2010/main" val="14084501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#dict() là constructor, để tạo một dict mới ta có thể làm như sau</a:t>
            </a:r>
          </a:p>
          <a:p>
            <a:r>
              <a:rPr lang="en-US"/>
              <a:t>dictCar =</a:t>
            </a:r>
            <a:r>
              <a:rPr kumimoji="1" lang="en-US" sz="1200" b="0" i="0" kern="1200">
                <a:solidFill>
                  <a:schemeClr val="tx1"/>
                </a:solidFill>
                <a:effectLst/>
                <a:latin typeface="Arial" charset="0"/>
                <a:ea typeface="+mn-ea"/>
                <a:cs typeface="+mn-cs"/>
              </a:rPr>
              <a:t> </a:t>
            </a:r>
            <a:r>
              <a:rPr lang="en-US"/>
              <a:t>dict(brand="Honda", model="Honda Civic", year=1972)</a:t>
            </a:r>
          </a:p>
        </p:txBody>
      </p:sp>
      <p:sp>
        <p:nvSpPr>
          <p:cNvPr id="4" name="Slide Number Placeholder 3"/>
          <p:cNvSpPr>
            <a:spLocks noGrp="1"/>
          </p:cNvSpPr>
          <p:nvPr>
            <p:ph type="sldNum" sz="quarter" idx="10"/>
          </p:nvPr>
        </p:nvSpPr>
        <p:spPr/>
        <p:txBody>
          <a:bodyPr/>
          <a:lstStyle/>
          <a:p>
            <a:fld id="{46D3E3EA-CC6A-448F-83C3-9A526F33CF9E}" type="slidenum">
              <a:rPr lang="en-US" smtClean="0"/>
              <a:t>44</a:t>
            </a:fld>
            <a:endParaRPr lang="en-US"/>
          </a:p>
        </p:txBody>
      </p:sp>
    </p:spTree>
    <p:extLst>
      <p:ext uri="{BB962C8B-B14F-4D97-AF65-F5344CB8AC3E}">
        <p14:creationId xmlns:p14="http://schemas.microsoft.com/office/powerpoint/2010/main" val="33840737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45</a:t>
            </a:fld>
            <a:endParaRPr lang="en-US"/>
          </a:p>
        </p:txBody>
      </p:sp>
    </p:spTree>
    <p:extLst>
      <p:ext uri="{BB962C8B-B14F-4D97-AF65-F5344CB8AC3E}">
        <p14:creationId xmlns:p14="http://schemas.microsoft.com/office/powerpoint/2010/main" val="35015020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vi-VN" sz="1200" b="0" i="0" kern="1200">
                <a:solidFill>
                  <a:schemeClr val="tx1"/>
                </a:solidFill>
                <a:effectLst/>
                <a:latin typeface="Arial" charset="0"/>
                <a:ea typeface="+mn-ea"/>
                <a:cs typeface="+mn-cs"/>
              </a:rPr>
              <a:t>hàm </a:t>
            </a:r>
            <a:r>
              <a:rPr lang="vi-VN"/>
              <a:t>sorted(dict, key=dict.get, reverse=False)</a:t>
            </a:r>
            <a:r>
              <a:rPr kumimoji="1" lang="vi-VN" sz="1200" b="0" i="0" kern="1200">
                <a:solidFill>
                  <a:schemeClr val="tx1"/>
                </a:solidFill>
                <a:effectLst/>
                <a:latin typeface="Arial" charset="0"/>
                <a:ea typeface="+mn-ea"/>
                <a:cs typeface="+mn-cs"/>
              </a:rPr>
              <a:t> sẽ trả về một list các giá trị đã được sắp xếp.</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vi-VN" sz="1200" b="0" i="0" kern="1200">
                <a:solidFill>
                  <a:schemeClr val="tx1"/>
                </a:solidFill>
                <a:effectLst/>
                <a:latin typeface="Arial" charset="0"/>
                <a:ea typeface="+mn-ea"/>
                <a:cs typeface="+mn-cs"/>
              </a:rPr>
              <a:t>Để chuyển về kiểu dict ta cần ép kiểu </a:t>
            </a:r>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46</a:t>
            </a:fld>
            <a:endParaRPr lang="en-US"/>
          </a:p>
        </p:txBody>
      </p:sp>
    </p:spTree>
    <p:extLst>
      <p:ext uri="{BB962C8B-B14F-4D97-AF65-F5344CB8AC3E}">
        <p14:creationId xmlns:p14="http://schemas.microsoft.com/office/powerpoint/2010/main" val="7457860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1AAE7B-BD7A-9B49-980F-9E80DA190BA0}" type="slidenum">
              <a:rPr lang="en-US" altLang="en-VN" smtClean="0"/>
              <a:pPr/>
              <a:t>51</a:t>
            </a:fld>
            <a:endParaRPr lang="en-US" altLang="en-VN"/>
          </a:p>
        </p:txBody>
      </p:sp>
    </p:spTree>
    <p:extLst>
      <p:ext uri="{BB962C8B-B14F-4D97-AF65-F5344CB8AC3E}">
        <p14:creationId xmlns:p14="http://schemas.microsoft.com/office/powerpoint/2010/main" val="15786222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53</a:t>
            </a:fld>
            <a:endParaRPr lang="en-US"/>
          </a:p>
        </p:txBody>
      </p:sp>
    </p:spTree>
    <p:extLst>
      <p:ext uri="{BB962C8B-B14F-4D97-AF65-F5344CB8AC3E}">
        <p14:creationId xmlns:p14="http://schemas.microsoft.com/office/powerpoint/2010/main" val="29565127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Vì các phần tử trong set không có chỉ mục nên không thể truy cập như list nhưng có thể dùng for, in để truy cập hoặc kiểm tra</a:t>
            </a:r>
          </a:p>
        </p:txBody>
      </p:sp>
      <p:sp>
        <p:nvSpPr>
          <p:cNvPr id="4" name="Slide Number Placeholder 3"/>
          <p:cNvSpPr>
            <a:spLocks noGrp="1"/>
          </p:cNvSpPr>
          <p:nvPr>
            <p:ph type="sldNum" sz="quarter" idx="10"/>
          </p:nvPr>
        </p:nvSpPr>
        <p:spPr/>
        <p:txBody>
          <a:bodyPr/>
          <a:lstStyle/>
          <a:p>
            <a:fld id="{46D3E3EA-CC6A-448F-83C3-9A526F33CF9E}" type="slidenum">
              <a:rPr lang="en-US" smtClean="0"/>
              <a:t>54</a:t>
            </a:fld>
            <a:endParaRPr lang="en-US"/>
          </a:p>
        </p:txBody>
      </p:sp>
    </p:spTree>
    <p:extLst>
      <p:ext uri="{BB962C8B-B14F-4D97-AF65-F5344CB8AC3E}">
        <p14:creationId xmlns:p14="http://schemas.microsoft.com/office/powerpoint/2010/main" val="21799301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55</a:t>
            </a:fld>
            <a:endParaRPr lang="en-US"/>
          </a:p>
        </p:txBody>
      </p:sp>
    </p:spTree>
    <p:extLst>
      <p:ext uri="{BB962C8B-B14F-4D97-AF65-F5344CB8AC3E}">
        <p14:creationId xmlns:p14="http://schemas.microsoft.com/office/powerpoint/2010/main" val="37313144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kern="1200">
                <a:solidFill>
                  <a:schemeClr val="tx1"/>
                </a:solidFill>
                <a:effectLst/>
                <a:latin typeface="Arial" charset="0"/>
                <a:ea typeface="+mn-ea"/>
                <a:cs typeface="+mn-cs"/>
              </a:rPr>
              <a:t>Nếu phần tử cần xóa không tồn tại, hàm remove() sẽ phát sinh lỗi.</a:t>
            </a:r>
          </a:p>
          <a:p>
            <a:r>
              <a:rPr kumimoji="1" lang="vi-VN" sz="1200" b="0" i="0" kern="1200">
                <a:solidFill>
                  <a:schemeClr val="tx1"/>
                </a:solidFill>
                <a:effectLst/>
                <a:latin typeface="Arial" charset="0"/>
                <a:ea typeface="+mn-ea"/>
                <a:cs typeface="+mn-cs"/>
              </a:rPr>
              <a:t>Nếu mục cần xóa không tồn tại, discard() sẽ không sinh ra lỗi.</a:t>
            </a:r>
          </a:p>
          <a:p>
            <a:r>
              <a:rPr kumimoji="1" lang="vi-VN" sz="1200" b="0" i="0" kern="1200">
                <a:solidFill>
                  <a:schemeClr val="tx1"/>
                </a:solidFill>
                <a:effectLst/>
                <a:latin typeface="Arial" charset="0"/>
                <a:ea typeface="+mn-ea"/>
                <a:cs typeface="+mn-cs"/>
              </a:rPr>
              <a:t>Bạn cũng có thể sử dụng hàm pop(), để xóa một phần tử, nhưng phương thức này sẽ xóa phần tử cuối cùng. Nhưng set không có thứ tự, vì vậy bạn sẽ không biết mục nào bị xóa. Nói cách khác xoá ngẫu nhiên</a:t>
            </a:r>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56</a:t>
            </a:fld>
            <a:endParaRPr lang="en-US"/>
          </a:p>
        </p:txBody>
      </p:sp>
    </p:spTree>
    <p:extLst>
      <p:ext uri="{BB962C8B-B14F-4D97-AF65-F5344CB8AC3E}">
        <p14:creationId xmlns:p14="http://schemas.microsoft.com/office/powerpoint/2010/main" val="20173230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57</a:t>
            </a:fld>
            <a:endParaRPr lang="en-US"/>
          </a:p>
        </p:txBody>
      </p:sp>
    </p:spTree>
    <p:extLst>
      <p:ext uri="{BB962C8B-B14F-4D97-AF65-F5344CB8AC3E}">
        <p14:creationId xmlns:p14="http://schemas.microsoft.com/office/powerpoint/2010/main" val="5790319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58</a:t>
            </a:fld>
            <a:endParaRPr lang="en-US"/>
          </a:p>
        </p:txBody>
      </p:sp>
    </p:spTree>
    <p:extLst>
      <p:ext uri="{BB962C8B-B14F-4D97-AF65-F5344CB8AC3E}">
        <p14:creationId xmlns:p14="http://schemas.microsoft.com/office/powerpoint/2010/main" val="12645121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59</a:t>
            </a:fld>
            <a:endParaRPr lang="en-US"/>
          </a:p>
        </p:txBody>
      </p:sp>
    </p:spTree>
    <p:extLst>
      <p:ext uri="{BB962C8B-B14F-4D97-AF65-F5344CB8AC3E}">
        <p14:creationId xmlns:p14="http://schemas.microsoft.com/office/powerpoint/2010/main" val="35005047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60</a:t>
            </a:fld>
            <a:endParaRPr lang="en-US"/>
          </a:p>
        </p:txBody>
      </p:sp>
    </p:spTree>
    <p:extLst>
      <p:ext uri="{BB962C8B-B14F-4D97-AF65-F5344CB8AC3E}">
        <p14:creationId xmlns:p14="http://schemas.microsoft.com/office/powerpoint/2010/main" val="33093295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61</a:t>
            </a:fld>
            <a:endParaRPr lang="en-US"/>
          </a:p>
        </p:txBody>
      </p:sp>
    </p:spTree>
    <p:extLst>
      <p:ext uri="{BB962C8B-B14F-4D97-AF65-F5344CB8AC3E}">
        <p14:creationId xmlns:p14="http://schemas.microsoft.com/office/powerpoint/2010/main" val="18238626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62</a:t>
            </a:fld>
            <a:endParaRPr lang="en-US"/>
          </a:p>
        </p:txBody>
      </p:sp>
    </p:spTree>
    <p:extLst>
      <p:ext uri="{BB962C8B-B14F-4D97-AF65-F5344CB8AC3E}">
        <p14:creationId xmlns:p14="http://schemas.microsoft.com/office/powerpoint/2010/main" val="329739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53">
            <a:extLst>
              <a:ext uri="{FF2B5EF4-FFF2-40B4-BE49-F238E27FC236}">
                <a16:creationId xmlns:a16="http://schemas.microsoft.com/office/drawing/2014/main" id="{5DE2E64A-5777-9046-865A-3E67310504E0}"/>
              </a:ext>
            </a:extLst>
          </p:cNvPr>
          <p:cNvSpPr>
            <a:spLocks noChangeArrowheads="1"/>
          </p:cNvSpPr>
          <p:nvPr/>
        </p:nvSpPr>
        <p:spPr bwMode="gray">
          <a:xfrm flipV="1">
            <a:off x="0" y="3003550"/>
            <a:ext cx="9144000" cy="777875"/>
          </a:xfrm>
          <a:prstGeom prst="rect">
            <a:avLst/>
          </a:prstGeom>
          <a:gradFill rotWithShape="1">
            <a:gsLst>
              <a:gs pos="0">
                <a:schemeClr val="accent2">
                  <a:gamma/>
                  <a:tint val="0"/>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a:solidFill>
                <a:srgbClr val="000000"/>
              </a:solidFill>
            </a:endParaRPr>
          </a:p>
        </p:txBody>
      </p:sp>
      <p:sp>
        <p:nvSpPr>
          <p:cNvPr id="3074" name="Rectangle 2"/>
          <p:cNvSpPr>
            <a:spLocks noGrp="1" noChangeArrowheads="1"/>
          </p:cNvSpPr>
          <p:nvPr>
            <p:ph type="ctrTitle" hasCustomPrompt="1"/>
          </p:nvPr>
        </p:nvSpPr>
        <p:spPr bwMode="auto">
          <a:xfrm>
            <a:off x="295275" y="3035300"/>
            <a:ext cx="8534400" cy="685800"/>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3600">
                <a:solidFill>
                  <a:schemeClr val="tx2"/>
                </a:solidFill>
              </a:defRPr>
            </a:lvl1pPr>
          </a:lstStyle>
          <a:p>
            <a:pPr lvl="0"/>
            <a:r>
              <a:rPr lang="en-US" noProof="0"/>
              <a:t>NGÔNG NGỮ LẬP TRÌNH PYTHON</a:t>
            </a:r>
          </a:p>
        </p:txBody>
      </p:sp>
      <p:sp>
        <p:nvSpPr>
          <p:cNvPr id="3075" name="Rectangle 3"/>
          <p:cNvSpPr>
            <a:spLocks noGrp="1" noChangeArrowheads="1"/>
          </p:cNvSpPr>
          <p:nvPr>
            <p:ph type="subTitle" idx="1" hasCustomPrompt="1"/>
          </p:nvPr>
        </p:nvSpPr>
        <p:spPr bwMode="white">
          <a:xfrm>
            <a:off x="1600200" y="4800600"/>
            <a:ext cx="5867400" cy="381000"/>
          </a:xfrm>
        </p:spPr>
        <p:txBody>
          <a:bodyPr/>
          <a:lstStyle>
            <a:lvl1pPr marL="0" indent="0" algn="ctr">
              <a:buFont typeface="Wingdings" panose="05000000000000000000" pitchFamily="2" charset="2"/>
              <a:buNone/>
              <a:defRPr sz="1800" b="1">
                <a:solidFill>
                  <a:schemeClr val="bg1"/>
                </a:solidFill>
              </a:defRPr>
            </a:lvl1pPr>
          </a:lstStyle>
          <a:p>
            <a:pPr lvl="0"/>
            <a:r>
              <a:rPr lang="en-US" noProof="0"/>
              <a:t>CHƯƠNG 3. HÀM TRONG PYTHON</a:t>
            </a:r>
          </a:p>
        </p:txBody>
      </p:sp>
    </p:spTree>
    <p:extLst>
      <p:ext uri="{BB962C8B-B14F-4D97-AF65-F5344CB8AC3E}">
        <p14:creationId xmlns:p14="http://schemas.microsoft.com/office/powerpoint/2010/main" val="3656843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B87D4D78-F675-F29C-0AC5-A4419173EC4A}"/>
              </a:ext>
            </a:extLst>
          </p:cNvPr>
          <p:cNvSpPr txBox="1"/>
          <p:nvPr userDrawn="1"/>
        </p:nvSpPr>
        <p:spPr>
          <a:xfrm>
            <a:off x="6150873" y="6550223"/>
            <a:ext cx="2993127"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vi-VN" altLang="en-VN" sz="1400"/>
              <a:t>Lập trình cơ bản Python/</a:t>
            </a:r>
            <a:r>
              <a:rPr lang="vi-VN" altLang="en-VN" sz="1400" err="1"/>
              <a:t>Chương 4</a:t>
            </a:r>
            <a:r>
              <a:rPr lang="en-US" altLang="en-VN" sz="1400"/>
              <a:t>/ </a:t>
            </a:r>
            <a:fld id="{F6A94F50-5340-8F41-9F0B-278FB63B8536}" type="slidenum">
              <a:rPr lang="en-US" altLang="en-VN" sz="1400"/>
              <a:t>‹#›</a:t>
            </a:fld>
            <a:endParaRPr lang="en-US" sz="1400"/>
          </a:p>
        </p:txBody>
      </p:sp>
    </p:spTree>
    <p:extLst>
      <p:ext uri="{BB962C8B-B14F-4D97-AF65-F5344CB8AC3E}">
        <p14:creationId xmlns:p14="http://schemas.microsoft.com/office/powerpoint/2010/main" val="1758115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458200" cy="533400"/>
          </a:xfrm>
        </p:spPr>
        <p:txBody>
          <a:bodyPr/>
          <a:lstStyle/>
          <a:p>
            <a:r>
              <a:rPr lang="en-US"/>
              <a:t>Click to edit Master title style</a:t>
            </a:r>
          </a:p>
        </p:txBody>
      </p:sp>
      <p:sp>
        <p:nvSpPr>
          <p:cNvPr id="3" name="Table Placeholder 2"/>
          <p:cNvSpPr>
            <a:spLocks noGrp="1"/>
          </p:cNvSpPr>
          <p:nvPr>
            <p:ph type="tbl" idx="1"/>
          </p:nvPr>
        </p:nvSpPr>
        <p:spPr>
          <a:xfrm>
            <a:off x="457200" y="1219200"/>
            <a:ext cx="8229600" cy="5105400"/>
          </a:xfrm>
        </p:spPr>
        <p:txBody>
          <a:bodyPr/>
          <a:lstStyle/>
          <a:p>
            <a:pPr lvl="0"/>
            <a:r>
              <a:rPr lang="en-US" noProof="0"/>
              <a:t>Click icon to add table</a:t>
            </a:r>
          </a:p>
        </p:txBody>
      </p:sp>
      <p:sp>
        <p:nvSpPr>
          <p:cNvPr id="4" name="Rectangle 4">
            <a:extLst>
              <a:ext uri="{FF2B5EF4-FFF2-40B4-BE49-F238E27FC236}">
                <a16:creationId xmlns:a16="http://schemas.microsoft.com/office/drawing/2014/main" id="{35C265ED-49A8-6549-B613-448E381685CD}"/>
              </a:ext>
            </a:extLst>
          </p:cNvPr>
          <p:cNvSpPr>
            <a:spLocks noGrp="1" noChangeArrowheads="1"/>
          </p:cNvSpPr>
          <p:nvPr>
            <p:ph type="dt" sz="half" idx="10"/>
          </p:nvPr>
        </p:nvSpPr>
        <p:spPr>
          <a:xfrm>
            <a:off x="457200" y="6400800"/>
            <a:ext cx="2133600" cy="320675"/>
          </a:xfrm>
          <a:prstGeom prst="rect">
            <a:avLst/>
          </a:prstGeom>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020A702-2B0B-7147-92A1-54ACB292CE24}"/>
              </a:ext>
            </a:extLst>
          </p:cNvPr>
          <p:cNvSpPr>
            <a:spLocks noGrp="1" noChangeArrowheads="1"/>
          </p:cNvSpPr>
          <p:nvPr>
            <p:ph type="ftr" sz="quarter" idx="11"/>
          </p:nvPr>
        </p:nvSpPr>
        <p:spPr>
          <a:xfrm>
            <a:off x="3124200" y="6400800"/>
            <a:ext cx="2895600" cy="320675"/>
          </a:xfrm>
          <a:prstGeom prst="rect">
            <a:avLst/>
          </a:prstGeom>
          <a:ln/>
        </p:spPr>
        <p:txBody>
          <a:bodyPr/>
          <a:lstStyle>
            <a:lvl1pPr>
              <a:defRPr/>
            </a:lvl1pPr>
          </a:lstStyle>
          <a:p>
            <a:pPr>
              <a:defRPr/>
            </a:pPr>
            <a:endParaRPr lang="en-US"/>
          </a:p>
        </p:txBody>
      </p:sp>
      <p:sp>
        <p:nvSpPr>
          <p:cNvPr id="8" name="TextBox 7">
            <a:extLst>
              <a:ext uri="{FF2B5EF4-FFF2-40B4-BE49-F238E27FC236}">
                <a16:creationId xmlns:a16="http://schemas.microsoft.com/office/drawing/2014/main" id="{FCD17075-37D8-D487-44F4-607C0D146D45}"/>
              </a:ext>
            </a:extLst>
          </p:cNvPr>
          <p:cNvSpPr txBox="1"/>
          <p:nvPr userDrawn="1"/>
        </p:nvSpPr>
        <p:spPr>
          <a:xfrm>
            <a:off x="6150873" y="6550223"/>
            <a:ext cx="2993127"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vi-VN" altLang="en-VN" sz="1400"/>
              <a:t>Lập trình cơ bản Python/</a:t>
            </a:r>
            <a:r>
              <a:rPr lang="vi-VN" altLang="en-VN" sz="1400" err="1"/>
              <a:t>Chương 4</a:t>
            </a:r>
            <a:r>
              <a:rPr lang="en-US" altLang="en-VN" sz="1400"/>
              <a:t>/ </a:t>
            </a:r>
            <a:fld id="{F6A94F50-5340-8F41-9F0B-278FB63B8536}" type="slidenum">
              <a:rPr lang="en-US" altLang="en-VN" sz="1400"/>
              <a:t>‹#›</a:t>
            </a:fld>
            <a:endParaRPr lang="en-US" sz="1400"/>
          </a:p>
        </p:txBody>
      </p:sp>
    </p:spTree>
    <p:extLst>
      <p:ext uri="{BB962C8B-B14F-4D97-AF65-F5344CB8AC3E}">
        <p14:creationId xmlns:p14="http://schemas.microsoft.com/office/powerpoint/2010/main" val="1063563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6150873" y="6550223"/>
            <a:ext cx="2993127"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vi-VN" altLang="en-VN" sz="1400"/>
              <a:t>Lập trình cơ bản Python/</a:t>
            </a:r>
            <a:r>
              <a:rPr lang="en-US" altLang="en-VN" sz="1400" err="1"/>
              <a:t>Chương</a:t>
            </a:r>
            <a:r>
              <a:rPr lang="en-US" altLang="en-VN" sz="1400"/>
              <a:t> 4/ </a:t>
            </a:r>
            <a:fld id="{F6A94F50-5340-8F41-9F0B-278FB63B8536}" type="slidenum">
              <a:rPr lang="en-US" altLang="en-VN" sz="1400"/>
              <a:t>‹#›</a:t>
            </a:fld>
            <a:endParaRPr lang="en-US" sz="1400"/>
          </a:p>
        </p:txBody>
      </p:sp>
    </p:spTree>
    <p:extLst>
      <p:ext uri="{BB962C8B-B14F-4D97-AF65-F5344CB8AC3E}">
        <p14:creationId xmlns:p14="http://schemas.microsoft.com/office/powerpoint/2010/main" val="41623829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050" name="Object 44">
            <a:extLst>
              <a:ext uri="{FF2B5EF4-FFF2-40B4-BE49-F238E27FC236}">
                <a16:creationId xmlns:a16="http://schemas.microsoft.com/office/drawing/2014/main" id="{04889410-A453-8748-BA70-DAFDE695150E}"/>
              </a:ext>
            </a:extLst>
          </p:cNvPr>
          <p:cNvGraphicFramePr>
            <a:graphicFrameLocks noChangeAspect="1"/>
          </p:cNvGraphicFramePr>
          <p:nvPr/>
        </p:nvGraphicFramePr>
        <p:xfrm>
          <a:off x="0" y="0"/>
          <a:ext cx="9144000" cy="1066800"/>
        </p:xfrm>
        <a:graphic>
          <a:graphicData uri="http://schemas.openxmlformats.org/presentationml/2006/ole">
            <mc:AlternateContent xmlns:mc="http://schemas.openxmlformats.org/markup-compatibility/2006">
              <mc:Choice xmlns:v="urn:schemas-microsoft-com:vml" Requires="v">
                <p:oleObj name="Image" r:id="rId6" imgW="4349750" imgH="552450" progId="Photoshop.Image.6">
                  <p:embed/>
                </p:oleObj>
              </mc:Choice>
              <mc:Fallback>
                <p:oleObj name="Image" r:id="rId6" imgW="4349750" imgH="552450" progId="Photoshop.Image.6">
                  <p:embed/>
                  <p:pic>
                    <p:nvPicPr>
                      <p:cNvPr id="0" name="Object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9144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9" name="Rectangle 45">
            <a:extLst>
              <a:ext uri="{FF2B5EF4-FFF2-40B4-BE49-F238E27FC236}">
                <a16:creationId xmlns:a16="http://schemas.microsoft.com/office/drawing/2014/main" id="{3FDD4CD5-4AE9-3A43-8232-22BDAFBECED4}"/>
              </a:ext>
            </a:extLst>
          </p:cNvPr>
          <p:cNvSpPr>
            <a:spLocks noChangeArrowheads="1"/>
          </p:cNvSpPr>
          <p:nvPr/>
        </p:nvSpPr>
        <p:spPr bwMode="gray">
          <a:xfrm>
            <a:off x="0" y="990600"/>
            <a:ext cx="9144000" cy="120650"/>
          </a:xfrm>
          <a:prstGeom prst="rect">
            <a:avLst/>
          </a:prstGeom>
          <a:gradFill rotWithShape="1">
            <a:gsLst>
              <a:gs pos="0">
                <a:schemeClr val="accent2"/>
              </a:gs>
              <a:gs pos="50000">
                <a:schemeClr val="accent2">
                  <a:gamma/>
                  <a:tint val="48627"/>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a:solidFill>
                <a:srgbClr val="000000"/>
              </a:solidFill>
            </a:endParaRPr>
          </a:p>
        </p:txBody>
      </p:sp>
      <p:sp>
        <p:nvSpPr>
          <p:cNvPr id="1027" name="Rectangle 3">
            <a:extLst>
              <a:ext uri="{FF2B5EF4-FFF2-40B4-BE49-F238E27FC236}">
                <a16:creationId xmlns:a16="http://schemas.microsoft.com/office/drawing/2014/main" id="{C5AEEFB2-D350-A945-9C3D-3091701AC03E}"/>
              </a:ext>
            </a:extLst>
          </p:cNvPr>
          <p:cNvSpPr>
            <a:spLocks noGrp="1" noChangeArrowheads="1"/>
          </p:cNvSpPr>
          <p:nvPr>
            <p:ph type="body" idx="1"/>
          </p:nvPr>
        </p:nvSpPr>
        <p:spPr bwMode="auto">
          <a:xfrm>
            <a:off x="457200" y="1219200"/>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Rectangle 6">
            <a:extLst>
              <a:ext uri="{FF2B5EF4-FFF2-40B4-BE49-F238E27FC236}">
                <a16:creationId xmlns:a16="http://schemas.microsoft.com/office/drawing/2014/main" id="{74FD047B-1A7F-CD49-B3E0-B93AF286DF61}"/>
              </a:ext>
            </a:extLst>
          </p:cNvPr>
          <p:cNvSpPr>
            <a:spLocks noGrp="1" noChangeArrowheads="1"/>
          </p:cNvSpPr>
          <p:nvPr>
            <p:ph type="sldNum" sz="quarter" idx="4"/>
          </p:nvPr>
        </p:nvSpPr>
        <p:spPr bwMode="auto">
          <a:xfrm>
            <a:off x="6324600" y="6400800"/>
            <a:ext cx="23622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solidFill>
                  <a:srgbClr val="000000"/>
                </a:solidFill>
              </a:defRPr>
            </a:lvl1pPr>
          </a:lstStyle>
          <a:p>
            <a:r>
              <a:rPr lang="vi-VN" altLang="en-VN"/>
              <a:t>Lập trình cơ bản Python/</a:t>
            </a:r>
            <a:r>
              <a:rPr lang="vi-VN" altLang="en-VN" err="1"/>
              <a:t>Chương 4</a:t>
            </a:r>
            <a:r>
              <a:rPr lang="en-US" altLang="en-VN"/>
              <a:t>/ </a:t>
            </a:r>
            <a:fld id="{B05EE22A-D66F-6B46-9486-713D260165E6}" type="slidenum">
              <a:rPr lang="en-US" altLang="en-VN"/>
              <a:pPr/>
              <a:t>‹#›</a:t>
            </a:fld>
            <a:endParaRPr lang="en-US" altLang="en-VN"/>
          </a:p>
          <a:p>
            <a:endParaRPr lang="en-US" altLang="en-VN"/>
          </a:p>
        </p:txBody>
      </p:sp>
      <p:sp>
        <p:nvSpPr>
          <p:cNvPr id="2056" name="Rectangle 2">
            <a:extLst>
              <a:ext uri="{FF2B5EF4-FFF2-40B4-BE49-F238E27FC236}">
                <a16:creationId xmlns:a16="http://schemas.microsoft.com/office/drawing/2014/main" id="{9601932A-0426-7548-A1DD-2085FF88A091}"/>
              </a:ext>
            </a:extLst>
          </p:cNvPr>
          <p:cNvSpPr>
            <a:spLocks noGrp="1" noChangeArrowheads="1"/>
          </p:cNvSpPr>
          <p:nvPr>
            <p:ph type="title"/>
          </p:nvPr>
        </p:nvSpPr>
        <p:spPr bwMode="white">
          <a:xfrm>
            <a:off x="381000" y="304800"/>
            <a:ext cx="8458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VN"/>
              <a:t>Click to edit Master title style</a:t>
            </a:r>
          </a:p>
        </p:txBody>
      </p:sp>
    </p:spTree>
  </p:cSld>
  <p:clrMap bg1="lt1" tx1="dk1" bg2="lt2" tx2="dk2" accent1="accent1" accent2="accent2" accent3="accent3" accent4="accent4" accent5="accent5" accent6="accent6" hlink="hlink" folHlink="folHlink"/>
  <p:sldLayoutIdLst>
    <p:sldLayoutId id="2147483919" r:id="rId1"/>
    <p:sldLayoutId id="2147483885" r:id="rId2"/>
    <p:sldLayoutId id="2147483895" r:id="rId3"/>
    <p:sldLayoutId id="2147483920" r:id="rId4"/>
  </p:sldLayoutIdLst>
  <p:txStyles>
    <p:titleStyle>
      <a:lvl1pPr algn="ctr" rtl="0" fontAlgn="base">
        <a:spcBef>
          <a:spcPct val="0"/>
        </a:spcBef>
        <a:spcAft>
          <a:spcPct val="0"/>
        </a:spcAft>
        <a:defRPr sz="3000" b="1" kern="1200">
          <a:solidFill>
            <a:schemeClr val="bg1"/>
          </a:solidFill>
          <a:latin typeface="+mj-lt"/>
          <a:ea typeface="+mj-ea"/>
          <a:cs typeface="+mj-cs"/>
        </a:defRPr>
      </a:lvl1pPr>
      <a:lvl2pPr algn="ctr" rtl="0" fontAlgn="base">
        <a:spcBef>
          <a:spcPct val="0"/>
        </a:spcBef>
        <a:spcAft>
          <a:spcPct val="0"/>
        </a:spcAft>
        <a:defRPr sz="3000" b="1">
          <a:solidFill>
            <a:schemeClr val="bg1"/>
          </a:solidFill>
          <a:latin typeface="Times New Roman" panose="02020603050405020304" pitchFamily="18" charset="0"/>
        </a:defRPr>
      </a:lvl2pPr>
      <a:lvl3pPr algn="ctr" rtl="0" fontAlgn="base">
        <a:spcBef>
          <a:spcPct val="0"/>
        </a:spcBef>
        <a:spcAft>
          <a:spcPct val="0"/>
        </a:spcAft>
        <a:defRPr sz="3000" b="1">
          <a:solidFill>
            <a:schemeClr val="bg1"/>
          </a:solidFill>
          <a:latin typeface="Times New Roman" panose="02020603050405020304" pitchFamily="18" charset="0"/>
        </a:defRPr>
      </a:lvl3pPr>
      <a:lvl4pPr algn="ctr" rtl="0" fontAlgn="base">
        <a:spcBef>
          <a:spcPct val="0"/>
        </a:spcBef>
        <a:spcAft>
          <a:spcPct val="0"/>
        </a:spcAft>
        <a:defRPr sz="3000" b="1">
          <a:solidFill>
            <a:schemeClr val="bg1"/>
          </a:solidFill>
          <a:latin typeface="Times New Roman" panose="02020603050405020304" pitchFamily="18" charset="0"/>
        </a:defRPr>
      </a:lvl4pPr>
      <a:lvl5pPr algn="ctr" rtl="0" fontAlgn="base">
        <a:spcBef>
          <a:spcPct val="0"/>
        </a:spcBef>
        <a:spcAft>
          <a:spcPct val="0"/>
        </a:spcAft>
        <a:defRPr sz="3000" b="1">
          <a:solidFill>
            <a:schemeClr val="bg1"/>
          </a:solidFill>
          <a:latin typeface="Times New Roman" panose="02020603050405020304" pitchFamily="18" charset="0"/>
        </a:defRPr>
      </a:lvl5pPr>
      <a:lvl6pPr marL="342900" algn="ctr" rtl="0" eaLnBrk="1" fontAlgn="base" hangingPunct="1">
        <a:spcBef>
          <a:spcPct val="0"/>
        </a:spcBef>
        <a:spcAft>
          <a:spcPct val="0"/>
        </a:spcAft>
        <a:defRPr sz="3000" b="1">
          <a:solidFill>
            <a:schemeClr val="bg1"/>
          </a:solidFill>
          <a:latin typeface="Times New Roman" panose="02020603050405020304" pitchFamily="18" charset="0"/>
        </a:defRPr>
      </a:lvl6pPr>
      <a:lvl7pPr marL="685800" algn="ctr" rtl="0" eaLnBrk="1" fontAlgn="base" hangingPunct="1">
        <a:spcBef>
          <a:spcPct val="0"/>
        </a:spcBef>
        <a:spcAft>
          <a:spcPct val="0"/>
        </a:spcAft>
        <a:defRPr sz="3000" b="1">
          <a:solidFill>
            <a:schemeClr val="bg1"/>
          </a:solidFill>
          <a:latin typeface="Times New Roman" panose="02020603050405020304" pitchFamily="18" charset="0"/>
        </a:defRPr>
      </a:lvl7pPr>
      <a:lvl8pPr marL="1028700" algn="ctr" rtl="0" eaLnBrk="1" fontAlgn="base" hangingPunct="1">
        <a:spcBef>
          <a:spcPct val="0"/>
        </a:spcBef>
        <a:spcAft>
          <a:spcPct val="0"/>
        </a:spcAft>
        <a:defRPr sz="3000" b="1">
          <a:solidFill>
            <a:schemeClr val="bg1"/>
          </a:solidFill>
          <a:latin typeface="Times New Roman" panose="02020603050405020304" pitchFamily="18" charset="0"/>
        </a:defRPr>
      </a:lvl8pPr>
      <a:lvl9pPr marL="1371600" algn="ctr" rtl="0" eaLnBrk="1" fontAlgn="base" hangingPunct="1">
        <a:spcBef>
          <a:spcPct val="0"/>
        </a:spcBef>
        <a:spcAft>
          <a:spcPct val="0"/>
        </a:spcAft>
        <a:defRPr sz="3000" b="1">
          <a:solidFill>
            <a:schemeClr val="bg1"/>
          </a:solidFill>
          <a:latin typeface="Times New Roman" panose="02020603050405020304" pitchFamily="18" charset="0"/>
        </a:defRPr>
      </a:lvl9pPr>
    </p:titleStyle>
    <p:bodyStyle>
      <a:lvl1pPr marL="257175" indent="-257175" algn="l" rtl="0" fontAlgn="base">
        <a:spcBef>
          <a:spcPct val="20000"/>
        </a:spcBef>
        <a:spcAft>
          <a:spcPct val="0"/>
        </a:spcAft>
        <a:buClr>
          <a:schemeClr val="tx2"/>
        </a:buClr>
        <a:buFont typeface="Wingdings" pitchFamily="2" charset="2"/>
        <a:buChar char="v"/>
        <a:defRPr sz="2100" kern="1200">
          <a:solidFill>
            <a:schemeClr val="tx1"/>
          </a:solidFill>
          <a:latin typeface="+mn-lt"/>
          <a:ea typeface="+mn-ea"/>
          <a:cs typeface="+mn-cs"/>
        </a:defRPr>
      </a:lvl1pPr>
      <a:lvl2pPr marL="557213" indent="-214313" algn="l" rtl="0" fontAlgn="base">
        <a:spcBef>
          <a:spcPct val="20000"/>
        </a:spcBef>
        <a:spcAft>
          <a:spcPct val="0"/>
        </a:spcAft>
        <a:buClr>
          <a:schemeClr val="accent1"/>
        </a:buClr>
        <a:buFont typeface="Wingdings" pitchFamily="2" charset="2"/>
        <a:buChar char="§"/>
        <a:defRPr sz="1900" kern="1200">
          <a:solidFill>
            <a:schemeClr val="tx1"/>
          </a:solidFill>
          <a:latin typeface="+mn-lt"/>
          <a:ea typeface="+mn-ea"/>
          <a:cs typeface="+mn-cs"/>
        </a:defRPr>
      </a:lvl2pPr>
      <a:lvl3pPr marL="857250" indent="-171450" algn="l" rtl="0" fontAlgn="base">
        <a:spcBef>
          <a:spcPct val="20000"/>
        </a:spcBef>
        <a:spcAft>
          <a:spcPct val="0"/>
        </a:spcAft>
        <a:buClr>
          <a:schemeClr val="accent2"/>
        </a:buClr>
        <a:buChar char="•"/>
        <a:defRPr sz="1600" kern="1200">
          <a:solidFill>
            <a:schemeClr val="tx1"/>
          </a:solidFill>
          <a:latin typeface="+mn-lt"/>
          <a:ea typeface="+mn-ea"/>
          <a:cs typeface="+mn-cs"/>
        </a:defRPr>
      </a:lvl3pPr>
      <a:lvl4pPr marL="1200150" indent="-171450" algn="l" rtl="0" fontAlgn="base">
        <a:spcBef>
          <a:spcPct val="20000"/>
        </a:spcBef>
        <a:spcAft>
          <a:spcPct val="0"/>
        </a:spcAft>
        <a:buChar char="–"/>
        <a:defRPr sz="1500" kern="1200">
          <a:solidFill>
            <a:schemeClr val="tx1"/>
          </a:solidFill>
          <a:latin typeface="+mn-lt"/>
          <a:ea typeface="+mn-ea"/>
          <a:cs typeface="+mn-cs"/>
        </a:defRPr>
      </a:lvl4pPr>
      <a:lvl5pPr marL="1543050" indent="-171450" algn="l" rtl="0" fontAlgn="base">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viettuts.vn/python-dictionary/ham-dictionary-get-trong-python" TargetMode="External"/><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hyperlink" Target="https://viettuts.vn/python/vong-lap-for-trong-python"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22C754-0F4F-F3F3-5A54-C6CB0EF24087}"/>
              </a:ext>
            </a:extLst>
          </p:cNvPr>
          <p:cNvSpPr txBox="1">
            <a:spLocks noChangeArrowheads="1"/>
          </p:cNvSpPr>
          <p:nvPr/>
        </p:nvSpPr>
        <p:spPr bwMode="white">
          <a:xfrm>
            <a:off x="1295400" y="3238500"/>
            <a:ext cx="5867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fontAlgn="base">
              <a:spcBef>
                <a:spcPct val="20000"/>
              </a:spcBef>
              <a:spcAft>
                <a:spcPct val="0"/>
              </a:spcAft>
              <a:buClr>
                <a:schemeClr val="tx2"/>
              </a:buClr>
              <a:buFont typeface="Wingdings" panose="05000000000000000000" pitchFamily="2" charset="2"/>
              <a:buNone/>
              <a:defRPr sz="1800" b="1" kern="1200">
                <a:solidFill>
                  <a:schemeClr val="bg1"/>
                </a:solidFill>
                <a:latin typeface="+mn-lt"/>
                <a:ea typeface="+mn-ea"/>
                <a:cs typeface="+mn-cs"/>
              </a:defRPr>
            </a:lvl1pPr>
            <a:lvl2pPr marL="557213" indent="-214313" algn="l" rtl="0" fontAlgn="base">
              <a:spcBef>
                <a:spcPct val="20000"/>
              </a:spcBef>
              <a:spcAft>
                <a:spcPct val="0"/>
              </a:spcAft>
              <a:buClr>
                <a:schemeClr val="accent1"/>
              </a:buClr>
              <a:buFont typeface="Wingdings" pitchFamily="2" charset="2"/>
              <a:buChar char="§"/>
              <a:defRPr sz="1900" kern="1200">
                <a:solidFill>
                  <a:schemeClr val="tx1"/>
                </a:solidFill>
                <a:latin typeface="+mn-lt"/>
                <a:ea typeface="+mn-ea"/>
                <a:cs typeface="+mn-cs"/>
              </a:defRPr>
            </a:lvl2pPr>
            <a:lvl3pPr marL="857250" indent="-171450" algn="l" rtl="0" fontAlgn="base">
              <a:spcBef>
                <a:spcPct val="20000"/>
              </a:spcBef>
              <a:spcAft>
                <a:spcPct val="0"/>
              </a:spcAft>
              <a:buClr>
                <a:schemeClr val="accent2"/>
              </a:buClr>
              <a:buChar char="•"/>
              <a:defRPr sz="1600" kern="1200">
                <a:solidFill>
                  <a:schemeClr val="tx1"/>
                </a:solidFill>
                <a:latin typeface="+mn-lt"/>
                <a:ea typeface="+mn-ea"/>
                <a:cs typeface="+mn-cs"/>
              </a:defRPr>
            </a:lvl3pPr>
            <a:lvl4pPr marL="1200150" indent="-171450" algn="l" rtl="0" fontAlgn="base">
              <a:spcBef>
                <a:spcPct val="20000"/>
              </a:spcBef>
              <a:spcAft>
                <a:spcPct val="0"/>
              </a:spcAft>
              <a:buChar char="–"/>
              <a:defRPr sz="1500" kern="1200">
                <a:solidFill>
                  <a:schemeClr val="tx1"/>
                </a:solidFill>
                <a:latin typeface="+mn-lt"/>
                <a:ea typeface="+mn-ea"/>
                <a:cs typeface="+mn-cs"/>
              </a:defRPr>
            </a:lvl4pPr>
            <a:lvl5pPr marL="1543050" indent="-171450" algn="l" rtl="0" fontAlgn="base">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r>
              <a:rPr lang="en-US" sz="2400">
                <a:solidFill>
                  <a:srgbClr val="2D3382"/>
                </a:solidFill>
              </a:rPr>
              <a:t>CHƯƠNG 4. DỮ LIỆU CÓ CẤU TRÚC</a:t>
            </a:r>
          </a:p>
        </p:txBody>
      </p:sp>
    </p:spTree>
  </p:cSld>
  <p:clrMapOvr>
    <a:masterClrMapping/>
  </p:clrMapOvr>
  <p:transition spd="slow">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42900" y="381000"/>
            <a:ext cx="3465432" cy="381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solidFill>
                    <a:srgbClr val="FFFF00"/>
                  </a:solidFill>
                  <a:latin typeface="Cambria" panose="02040503050406030204" pitchFamily="18" charset="0"/>
                </a:rPr>
                <a:t>Nội dung bài học</a:t>
              </a:r>
              <a:endParaRPr lang="en-US" sz="2800" b="1" kern="0">
                <a:solidFill>
                  <a:srgbClr val="FFFF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pic>
        <p:nvPicPr>
          <p:cNvPr id="2050" name="Picture 2" descr="Các kiểu cấu trúc dữ liệu chính trong Python">
            <a:extLst>
              <a:ext uri="{FF2B5EF4-FFF2-40B4-BE49-F238E27FC236}">
                <a16:creationId xmlns:a16="http://schemas.microsoft.com/office/drawing/2014/main" id="{BAA08A12-CBC6-594D-FD87-24B774607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14475"/>
            <a:ext cx="9144000" cy="442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12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42900" y="381000"/>
            <a:ext cx="3465432" cy="381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solidFill>
                    <a:srgbClr val="FFFF00"/>
                  </a:solidFill>
                  <a:latin typeface="Cambria" panose="02040503050406030204" pitchFamily="18" charset="0"/>
                </a:rPr>
                <a:t>Nội dung bài học</a:t>
              </a:r>
              <a:endParaRPr lang="en-US" sz="2800" b="1" kern="0">
                <a:solidFill>
                  <a:srgbClr val="FFFF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114300" y="1416844"/>
            <a:ext cx="8724900" cy="483155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spcBef>
                <a:spcPts val="0"/>
              </a:spcBef>
              <a:spcAft>
                <a:spcPts val="0"/>
              </a:spcAft>
              <a:buNone/>
            </a:pPr>
            <a:r>
              <a:rPr lang="vi-VN" sz="4000" i="1">
                <a:latin typeface="Cambria" panose="02040503050406030204" pitchFamily="18" charset="0"/>
                <a:ea typeface="Cambria" panose="02040503050406030204" pitchFamily="18" charset="0"/>
              </a:rPr>
              <a:t>4.1. Danh sách - List</a:t>
            </a:r>
          </a:p>
          <a:p>
            <a:pPr marL="0" indent="0" algn="just">
              <a:lnSpc>
                <a:spcPct val="150000"/>
              </a:lnSpc>
              <a:spcBef>
                <a:spcPts val="0"/>
              </a:spcBef>
              <a:spcAft>
                <a:spcPts val="0"/>
              </a:spcAft>
              <a:buNone/>
            </a:pPr>
            <a:r>
              <a:rPr lang="vi-VN" sz="4000" i="1">
                <a:latin typeface="Cambria" panose="02040503050406030204" pitchFamily="18" charset="0"/>
                <a:ea typeface="Cambria" panose="02040503050406030204" pitchFamily="18" charset="0"/>
              </a:rPr>
              <a:t>4.2. Từ điển - Dictionary</a:t>
            </a:r>
          </a:p>
          <a:p>
            <a:pPr marL="0" indent="0" algn="just">
              <a:lnSpc>
                <a:spcPct val="150000"/>
              </a:lnSpc>
              <a:spcBef>
                <a:spcPts val="0"/>
              </a:spcBef>
              <a:spcAft>
                <a:spcPts val="0"/>
              </a:spcAft>
              <a:buNone/>
            </a:pPr>
            <a:r>
              <a:rPr lang="vi-VN" sz="4000" i="1">
                <a:latin typeface="Cambria" panose="02040503050406030204" pitchFamily="18" charset="0"/>
                <a:ea typeface="Cambria" panose="02040503050406030204" pitchFamily="18" charset="0"/>
              </a:rPr>
              <a:t>4.3. Tập hợp – Set</a:t>
            </a:r>
          </a:p>
          <a:p>
            <a:pPr marL="0" indent="0" algn="just">
              <a:lnSpc>
                <a:spcPct val="150000"/>
              </a:lnSpc>
              <a:spcBef>
                <a:spcPts val="0"/>
              </a:spcBef>
              <a:spcAft>
                <a:spcPts val="0"/>
              </a:spcAft>
              <a:buNone/>
            </a:pPr>
            <a:r>
              <a:rPr lang="vi-VN" sz="4000" i="1">
                <a:latin typeface="Cambria" panose="02040503050406030204" pitchFamily="18" charset="0"/>
                <a:ea typeface="Cambria" panose="02040503050406030204" pitchFamily="18" charset="0"/>
              </a:rPr>
              <a:t>4.4. Kiểu tuple</a:t>
            </a:r>
          </a:p>
        </p:txBody>
      </p:sp>
    </p:spTree>
    <p:extLst>
      <p:ext uri="{BB962C8B-B14F-4D97-AF65-F5344CB8AC3E}">
        <p14:creationId xmlns:p14="http://schemas.microsoft.com/office/powerpoint/2010/main" val="1114713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82378" y="1428751"/>
            <a:ext cx="5947172" cy="1428749"/>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3300" kern="0">
                <a:solidFill>
                  <a:srgbClr val="002060"/>
                </a:solidFill>
                <a:latin typeface="Cambria" panose="02040503050406030204" pitchFamily="18" charset="0"/>
                <a:ea typeface="Cambria" panose="02040503050406030204" pitchFamily="18" charset="0"/>
              </a:rPr>
              <a:t>KIỂU DANH SÁCH</a:t>
            </a:r>
          </a:p>
          <a:p>
            <a:pPr>
              <a:defRPr/>
            </a:pPr>
            <a:r>
              <a:rPr lang="en-US" sz="3300" kern="0">
                <a:solidFill>
                  <a:srgbClr val="002060"/>
                </a:solidFill>
                <a:latin typeface="Cambria" panose="02040503050406030204" pitchFamily="18" charset="0"/>
                <a:ea typeface="Cambria" panose="02040503050406030204" pitchFamily="18" charset="0"/>
              </a:rPr>
              <a:t>LIST</a:t>
            </a:r>
            <a:endParaRPr lang="en-US" sz="3600" kern="0">
              <a:solidFill>
                <a:schemeClr val="tx1"/>
              </a:solidFill>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a:xfrm>
            <a:off x="9347200" y="6467476"/>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rgbClr val="002060"/>
                </a:solidFill>
                <a:latin typeface="Cambria" panose="0204050305040603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Trang </a:t>
            </a:r>
            <a:fld id="{99166BD8-DA3C-4BE0-9C00-AA0485D1F6DE}" type="slidenum">
              <a:rPr lang="en-US" smtClean="0"/>
              <a:pPr/>
              <a:t>4</a:t>
            </a:fld>
            <a:endParaRPr lang="en-US"/>
          </a:p>
        </p:txBody>
      </p:sp>
      <p:pic>
        <p:nvPicPr>
          <p:cNvPr id="6" name="Picture 2" descr="Image result for Python">
            <a:extLst>
              <a:ext uri="{FF2B5EF4-FFF2-40B4-BE49-F238E27FC236}">
                <a16:creationId xmlns:a16="http://schemas.microsoft.com/office/drawing/2014/main" id="{920AE674-81F7-47A5-8E7E-15E96F18A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8951" y="3028950"/>
            <a:ext cx="3876767" cy="1957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320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4.1. Kiểu list-danh sách</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81000" y="1981200"/>
            <a:ext cx="8572500" cy="3429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vi-VN" sz="2400"/>
              <a:t>List có thể chứa các con số hoặc các chuỗi.</a:t>
            </a:r>
          </a:p>
          <a:p>
            <a:pPr marL="0" indent="0" algn="just">
              <a:buNone/>
            </a:pPr>
            <a:r>
              <a:rPr lang="en-US" sz="2400" b="1"/>
              <a:t>Chú ý: các phần tử trong danh sách có thể có kiểu dữ liệu khác nhau</a:t>
            </a:r>
          </a:p>
          <a:p>
            <a:pPr marL="0" indent="0" algn="just">
              <a:buNone/>
            </a:pPr>
            <a:r>
              <a:rPr lang="en-US" sz="2400"/>
              <a:t>members = ["Dung","Van","Duc"]</a:t>
            </a:r>
          </a:p>
          <a:p>
            <a:pPr marL="0" indent="0" algn="just">
              <a:buNone/>
            </a:pPr>
            <a:r>
              <a:rPr lang="en-US" sz="2400"/>
              <a:t>ages = [24,25,23]</a:t>
            </a:r>
          </a:p>
          <a:p>
            <a:pPr marL="0" indent="0" algn="just">
              <a:buNone/>
            </a:pPr>
            <a:r>
              <a:rPr lang="en-US" sz="2400"/>
              <a:t>members = ["Dung",25,"Duc"]</a:t>
            </a:r>
          </a:p>
        </p:txBody>
      </p:sp>
    </p:spTree>
    <p:extLst>
      <p:ext uri="{BB962C8B-B14F-4D97-AF65-F5344CB8AC3E}">
        <p14:creationId xmlns:p14="http://schemas.microsoft.com/office/powerpoint/2010/main" val="2223189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4.1. Kiểu list-danh sách</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447800"/>
            <a:ext cx="8572500" cy="5029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i="1"/>
              <a:t>Khai báo list</a:t>
            </a:r>
            <a:endParaRPr lang="en-VN" sz="2400" b="1" i="1"/>
          </a:p>
          <a:p>
            <a:pPr marL="0" lvl="0" indent="0">
              <a:buNone/>
            </a:pPr>
            <a:r>
              <a:rPr lang="en-US" sz="2400" b="1"/>
              <a:t>Cú pháp</a:t>
            </a:r>
            <a:r>
              <a:rPr lang="en-US" sz="2400"/>
              <a:t>: tên_list = [giá_trị_1, giá_trị_2…]</a:t>
            </a:r>
            <a:endParaRPr lang="en-VN" sz="2400"/>
          </a:p>
          <a:p>
            <a:pPr marL="0" lvl="0" indent="0">
              <a:buNone/>
            </a:pPr>
            <a:r>
              <a:rPr lang="en-US" sz="2400" b="1"/>
              <a:t>Ví dụ</a:t>
            </a:r>
            <a:r>
              <a:rPr lang="en-US" sz="2400"/>
              <a:t>: </a:t>
            </a:r>
            <a:endParaRPr lang="en-VN" sz="2400"/>
          </a:p>
          <a:p>
            <a:pPr marL="0" indent="0">
              <a:buNone/>
            </a:pPr>
            <a:r>
              <a:rPr lang="en-US" sz="2400"/>
              <a:t>a = [1, 2, 3] → danh sách chứa các số 1, 2, 3</a:t>
            </a:r>
            <a:endParaRPr lang="en-VN" sz="2400"/>
          </a:p>
          <a:p>
            <a:pPr marL="0" indent="0">
              <a:buNone/>
            </a:pPr>
            <a:r>
              <a:rPr lang="en-US" sz="2400"/>
              <a:t>b = [] → danh sách rỗng (chưa chứa phần tử nào)</a:t>
            </a:r>
            <a:endParaRPr lang="en-VN" sz="2400"/>
          </a:p>
          <a:p>
            <a:pPr marL="0" indent="0">
              <a:buNone/>
            </a:pPr>
            <a:r>
              <a:rPr lang="en-US" sz="2400"/>
              <a:t>c = [0]*10 → danh sách có 10 phần tử với giá trị mặc định là 0</a:t>
            </a:r>
            <a:endParaRPr lang="en-VN" sz="2400"/>
          </a:p>
          <a:p>
            <a:pPr marL="0" indent="0">
              <a:buNone/>
            </a:pPr>
            <a:r>
              <a:rPr lang="en-US" sz="2400"/>
              <a:t>d = [0.5]*10 → danh sách có 10 phần tử với giá trị mặc định là 0.5</a:t>
            </a:r>
            <a:endParaRPr lang="en-US" sz="1800">
              <a:latin typeface="Times New Roman" pitchFamily="18" charset="0"/>
              <a:cs typeface="Times New Roman" pitchFamily="18" charset="0"/>
            </a:endParaRPr>
          </a:p>
        </p:txBody>
      </p:sp>
      <p:pic>
        <p:nvPicPr>
          <p:cNvPr id="20" name="Picture 19">
            <a:extLst>
              <a:ext uri="{FF2B5EF4-FFF2-40B4-BE49-F238E27FC236}">
                <a16:creationId xmlns:a16="http://schemas.microsoft.com/office/drawing/2014/main" id="{184AAA6C-B355-2496-4CC2-BD242BCBDADE}"/>
              </a:ext>
            </a:extLst>
          </p:cNvPr>
          <p:cNvPicPr>
            <a:picLocks noChangeAspect="1"/>
          </p:cNvPicPr>
          <p:nvPr/>
        </p:nvPicPr>
        <p:blipFill>
          <a:blip r:embed="rId3"/>
          <a:stretch>
            <a:fillRect/>
          </a:stretch>
        </p:blipFill>
        <p:spPr>
          <a:xfrm>
            <a:off x="609600" y="5372100"/>
            <a:ext cx="2819400" cy="923290"/>
          </a:xfrm>
          <a:prstGeom prst="rect">
            <a:avLst/>
          </a:prstGeom>
        </p:spPr>
      </p:pic>
    </p:spTree>
    <p:extLst>
      <p:ext uri="{BB962C8B-B14F-4D97-AF65-F5344CB8AC3E}">
        <p14:creationId xmlns:p14="http://schemas.microsoft.com/office/powerpoint/2010/main" val="1698830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4.1. Kiểu list-danh sách</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1CDB942B-8F65-F037-C83B-4A474D6A1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219200"/>
            <a:ext cx="7515947" cy="5257800"/>
          </a:xfrm>
          <a:prstGeom prst="rect">
            <a:avLst/>
          </a:prstGeom>
        </p:spPr>
      </p:pic>
      <p:sp>
        <p:nvSpPr>
          <p:cNvPr id="8" name="TextBox 7">
            <a:extLst>
              <a:ext uri="{FF2B5EF4-FFF2-40B4-BE49-F238E27FC236}">
                <a16:creationId xmlns:a16="http://schemas.microsoft.com/office/drawing/2014/main" id="{9F101A8F-ABD7-4092-81C5-16554FCDF969}"/>
              </a:ext>
            </a:extLst>
          </p:cNvPr>
          <p:cNvSpPr txBox="1"/>
          <p:nvPr/>
        </p:nvSpPr>
        <p:spPr>
          <a:xfrm>
            <a:off x="3962400" y="5029200"/>
            <a:ext cx="4038600" cy="369332"/>
          </a:xfrm>
          <a:prstGeom prst="rect">
            <a:avLst/>
          </a:prstGeom>
          <a:noFill/>
        </p:spPr>
        <p:txBody>
          <a:bodyPr wrap="square" rtlCol="0">
            <a:spAutoFit/>
          </a:bodyPr>
          <a:lstStyle/>
          <a:p>
            <a:r>
              <a:rPr lang="en-US" sz="1800" b="1"/>
              <a:t>&lt;ten_list&gt;.insert(index)</a:t>
            </a:r>
          </a:p>
        </p:txBody>
      </p:sp>
      <p:sp>
        <p:nvSpPr>
          <p:cNvPr id="10" name="TextBox 9">
            <a:extLst>
              <a:ext uri="{FF2B5EF4-FFF2-40B4-BE49-F238E27FC236}">
                <a16:creationId xmlns:a16="http://schemas.microsoft.com/office/drawing/2014/main" id="{40C68263-7CA9-4797-8A15-15BBA4EAE27D}"/>
              </a:ext>
            </a:extLst>
          </p:cNvPr>
          <p:cNvSpPr txBox="1"/>
          <p:nvPr/>
        </p:nvSpPr>
        <p:spPr>
          <a:xfrm>
            <a:off x="5715000" y="5559479"/>
            <a:ext cx="3200400" cy="338554"/>
          </a:xfrm>
          <a:prstGeom prst="rect">
            <a:avLst/>
          </a:prstGeom>
          <a:noFill/>
        </p:spPr>
        <p:txBody>
          <a:bodyPr wrap="square" rtlCol="0">
            <a:spAutoFit/>
          </a:bodyPr>
          <a:lstStyle/>
          <a:p>
            <a:r>
              <a:rPr lang="en-US" sz="1600" b="1"/>
              <a:t>Ngoài ra còn có pop và remove</a:t>
            </a:r>
          </a:p>
        </p:txBody>
      </p:sp>
    </p:spTree>
    <p:extLst>
      <p:ext uri="{BB962C8B-B14F-4D97-AF65-F5344CB8AC3E}">
        <p14:creationId xmlns:p14="http://schemas.microsoft.com/office/powerpoint/2010/main" val="542556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845CC0-C232-4AC7-BE04-617FC72F4773}"/>
              </a:ext>
            </a:extLst>
          </p:cNvPr>
          <p:cNvSpPr txBox="1"/>
          <p:nvPr/>
        </p:nvSpPr>
        <p:spPr>
          <a:xfrm>
            <a:off x="381000" y="1219200"/>
            <a:ext cx="8534400" cy="769441"/>
          </a:xfrm>
          <a:prstGeom prst="rect">
            <a:avLst/>
          </a:prstGeom>
          <a:noFill/>
        </p:spPr>
        <p:txBody>
          <a:bodyPr wrap="square">
            <a:spAutoFit/>
          </a:bodyPr>
          <a:lstStyle/>
          <a:p>
            <a:r>
              <a:rPr lang="en-US" sz="2200" b="1"/>
              <a:t>VD1. Nhập mảng 1 chiều n phần tử cách nhau dấu cách và sắp xếp tăng dần (dùng thuật toán sắp xếp và dùng hàm sorted)</a:t>
            </a:r>
          </a:p>
        </p:txBody>
      </p:sp>
      <p:graphicFrame>
        <p:nvGraphicFramePr>
          <p:cNvPr id="8" name="Table 7">
            <a:extLst>
              <a:ext uri="{FF2B5EF4-FFF2-40B4-BE49-F238E27FC236}">
                <a16:creationId xmlns:a16="http://schemas.microsoft.com/office/drawing/2014/main" id="{542E3B20-FB5E-8659-2073-0D5B42F4D31E}"/>
              </a:ext>
            </a:extLst>
          </p:cNvPr>
          <p:cNvGraphicFramePr>
            <a:graphicFrameLocks noGrp="1"/>
          </p:cNvGraphicFramePr>
          <p:nvPr>
            <p:extLst>
              <p:ext uri="{D42A27DB-BD31-4B8C-83A1-F6EECF244321}">
                <p14:modId xmlns:p14="http://schemas.microsoft.com/office/powerpoint/2010/main" val="338308205"/>
              </p:ext>
            </p:extLst>
          </p:nvPr>
        </p:nvGraphicFramePr>
        <p:xfrm>
          <a:off x="398745" y="2057400"/>
          <a:ext cx="8382000" cy="4493302"/>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1912164698"/>
                    </a:ext>
                  </a:extLst>
                </a:gridCol>
                <a:gridCol w="4191000">
                  <a:extLst>
                    <a:ext uri="{9D8B030D-6E8A-4147-A177-3AD203B41FA5}">
                      <a16:colId xmlns:a16="http://schemas.microsoft.com/office/drawing/2014/main" val="2410806862"/>
                    </a:ext>
                  </a:extLst>
                </a:gridCol>
              </a:tblGrid>
              <a:tr h="523282">
                <a:tc>
                  <a:txBody>
                    <a:bodyPr/>
                    <a:lstStyle/>
                    <a:p>
                      <a:pPr algn="ctr"/>
                      <a:r>
                        <a:rPr lang="en-US" sz="2000">
                          <a:latin typeface="+mj-lt"/>
                        </a:rPr>
                        <a:t>Cách truyền thống</a:t>
                      </a:r>
                    </a:p>
                  </a:txBody>
                  <a:tcPr>
                    <a:solidFill>
                      <a:srgbClr val="1C5EA8"/>
                    </a:solidFill>
                  </a:tcPr>
                </a:tc>
                <a:tc>
                  <a:txBody>
                    <a:bodyPr/>
                    <a:lstStyle/>
                    <a:p>
                      <a:pPr algn="ctr"/>
                      <a:r>
                        <a:rPr lang="en-US" sz="2000">
                          <a:latin typeface="+mj-lt"/>
                        </a:rPr>
                        <a:t>Cách sử dụng hàm Sorted</a:t>
                      </a:r>
                    </a:p>
                  </a:txBody>
                  <a:tcPr>
                    <a:solidFill>
                      <a:srgbClr val="1C5EA8"/>
                    </a:solidFill>
                  </a:tcPr>
                </a:tc>
                <a:extLst>
                  <a:ext uri="{0D108BD9-81ED-4DB2-BD59-A6C34878D82A}">
                    <a16:rowId xmlns:a16="http://schemas.microsoft.com/office/drawing/2014/main" val="1528886786"/>
                  </a:ext>
                </a:extLst>
              </a:tr>
              <a:tr h="1748615">
                <a:tc rowSpan="2">
                  <a:txBody>
                    <a:bodyPr/>
                    <a:lstStyle/>
                    <a:p>
                      <a:r>
                        <a:rPr lang="en-VN" sz="2000">
                          <a:latin typeface="+mj-lt"/>
                        </a:rPr>
                        <a:t>n=int(input())</a:t>
                      </a:r>
                    </a:p>
                    <a:p>
                      <a:r>
                        <a:rPr lang="en-VN" sz="2000">
                          <a:latin typeface="+mj-lt"/>
                        </a:rPr>
                        <a:t>a=list(map(int,input().split()))</a:t>
                      </a:r>
                    </a:p>
                    <a:p>
                      <a:r>
                        <a:rPr lang="en-VN" sz="2000">
                          <a:latin typeface="+mj-lt"/>
                        </a:rPr>
                        <a:t>print(n)</a:t>
                      </a:r>
                    </a:p>
                    <a:p>
                      <a:r>
                        <a:rPr lang="en-VN" sz="2000">
                          <a:latin typeface="+mj-lt"/>
                        </a:rPr>
                        <a:t>for i in range(n-1):</a:t>
                      </a:r>
                    </a:p>
                    <a:p>
                      <a:r>
                        <a:rPr lang="en-VN" sz="2000">
                          <a:latin typeface="+mj-lt"/>
                        </a:rPr>
                        <a:t>    for j in range(i+1,n):</a:t>
                      </a:r>
                    </a:p>
                    <a:p>
                      <a:r>
                        <a:rPr lang="en-VN" sz="2000">
                          <a:latin typeface="+mj-lt"/>
                        </a:rPr>
                        <a:t>        if a[i]&gt;a[j]:</a:t>
                      </a:r>
                    </a:p>
                    <a:p>
                      <a:r>
                        <a:rPr lang="en-VN" sz="2000">
                          <a:latin typeface="+mj-lt"/>
                        </a:rPr>
                        <a:t>            tg=a[i]</a:t>
                      </a:r>
                    </a:p>
                    <a:p>
                      <a:r>
                        <a:rPr lang="en-VN" sz="2000">
                          <a:latin typeface="+mj-lt"/>
                        </a:rPr>
                        <a:t>            a[i]=a[j]</a:t>
                      </a:r>
                    </a:p>
                    <a:p>
                      <a:r>
                        <a:rPr lang="en-VN" sz="2000">
                          <a:latin typeface="+mj-lt"/>
                        </a:rPr>
                        <a:t>            a[j]=tg</a:t>
                      </a:r>
                    </a:p>
                    <a:p>
                      <a:r>
                        <a:rPr lang="en-VN" sz="2000">
                          <a:latin typeface="+mj-lt"/>
                        </a:rPr>
                        <a:t>for </a:t>
                      </a:r>
                      <a:r>
                        <a:rPr lang="en-US" sz="2000">
                          <a:latin typeface="+mj-lt"/>
                        </a:rPr>
                        <a:t>x in a</a:t>
                      </a:r>
                      <a:endParaRPr lang="en-VN" sz="2000">
                        <a:latin typeface="+mj-lt"/>
                      </a:endParaRPr>
                    </a:p>
                    <a:p>
                      <a:r>
                        <a:rPr lang="en-VN" sz="2000">
                          <a:latin typeface="+mj-lt"/>
                        </a:rPr>
                        <a:t>    print(</a:t>
                      </a:r>
                      <a:r>
                        <a:rPr lang="en-US" sz="2000">
                          <a:latin typeface="+mj-lt"/>
                        </a:rPr>
                        <a:t>x</a:t>
                      </a:r>
                      <a:r>
                        <a:rPr lang="en-VN" sz="2000">
                          <a:latin typeface="+mj-lt"/>
                        </a:rPr>
                        <a:t>,end=" ")</a:t>
                      </a:r>
                      <a:endParaRPr lang="en-US" sz="2000">
                        <a:latin typeface="+mj-lt"/>
                      </a:endParaRPr>
                    </a:p>
                  </a:txBody>
                  <a:tcPr/>
                </a:tc>
                <a:tc>
                  <a:txBody>
                    <a:bodyPr/>
                    <a:lstStyle/>
                    <a:p>
                      <a:r>
                        <a:rPr lang="en-US" sz="2000">
                          <a:latin typeface="+mj-lt"/>
                        </a:rPr>
                        <a:t>a=list(map(int, input().split()))</a:t>
                      </a:r>
                    </a:p>
                    <a:p>
                      <a:r>
                        <a:rPr lang="en-US" sz="2000">
                          <a:latin typeface="+mj-lt"/>
                        </a:rPr>
                        <a:t>b=sorted(a,reverse=False)</a:t>
                      </a:r>
                    </a:p>
                    <a:p>
                      <a:r>
                        <a:rPr lang="en-US" sz="2000">
                          <a:latin typeface="+mj-lt"/>
                        </a:rPr>
                        <a:t>print(b)</a:t>
                      </a:r>
                    </a:p>
                    <a:p>
                      <a:r>
                        <a:rPr lang="en-US" sz="2000">
                          <a:latin typeface="+mj-lt"/>
                        </a:rPr>
                        <a:t>#False: Sx tăng dần</a:t>
                      </a:r>
                    </a:p>
                    <a:p>
                      <a:r>
                        <a:rPr lang="en-US" sz="2000">
                          <a:latin typeface="+mj-lt"/>
                        </a:rPr>
                        <a:t>#True: Sx giảm dần</a:t>
                      </a:r>
                    </a:p>
                    <a:p>
                      <a:endParaRPr lang="en-US"/>
                    </a:p>
                  </a:txBody>
                  <a:tcPr/>
                </a:tc>
                <a:extLst>
                  <a:ext uri="{0D108BD9-81ED-4DB2-BD59-A6C34878D82A}">
                    <a16:rowId xmlns:a16="http://schemas.microsoft.com/office/drawing/2014/main" val="1042349676"/>
                  </a:ext>
                </a:extLst>
              </a:tr>
              <a:tr h="2063220">
                <a:tc vMerge="1">
                  <a:txBody>
                    <a:bodyPr/>
                    <a:lstStyle/>
                    <a:p>
                      <a:endParaRPr lang="en-US"/>
                    </a:p>
                  </a:txBody>
                  <a:tcPr/>
                </a:tc>
                <a:tc>
                  <a:txBody>
                    <a:bodyPr/>
                    <a:lstStyle/>
                    <a:p>
                      <a:r>
                        <a:rPr lang="en-US" sz="2000" kern="1200">
                          <a:solidFill>
                            <a:srgbClr val="FF0000"/>
                          </a:solidFill>
                          <a:latin typeface="+mj-lt"/>
                          <a:ea typeface="+mn-ea"/>
                          <a:cs typeface="+mn-cs"/>
                        </a:rPr>
                        <a:t>n= int(input())</a:t>
                      </a:r>
                    </a:p>
                    <a:p>
                      <a:r>
                        <a:rPr lang="en-US" sz="2000" kern="1200">
                          <a:solidFill>
                            <a:srgbClr val="FF0000"/>
                          </a:solidFill>
                          <a:latin typeface="+mj-lt"/>
                          <a:ea typeface="+mn-ea"/>
                          <a:cs typeface="+mn-cs"/>
                        </a:rPr>
                        <a:t>a=list(map(int, input().split()))[:n]</a:t>
                      </a:r>
                    </a:p>
                    <a:p>
                      <a:r>
                        <a:rPr lang="en-US" sz="2000" kern="1200">
                          <a:solidFill>
                            <a:srgbClr val="FF0000"/>
                          </a:solidFill>
                          <a:latin typeface="+mj-lt"/>
                          <a:ea typeface="+mn-ea"/>
                          <a:cs typeface="+mn-cs"/>
                        </a:rPr>
                        <a:t>b=sorted(a,reverse=False)</a:t>
                      </a:r>
                    </a:p>
                    <a:p>
                      <a:r>
                        <a:rPr lang="en-US" sz="2000" kern="1200">
                          <a:solidFill>
                            <a:srgbClr val="FF0000"/>
                          </a:solidFill>
                          <a:latin typeface="+mj-lt"/>
                          <a:ea typeface="+mn-ea"/>
                          <a:cs typeface="+mn-cs"/>
                        </a:rPr>
                        <a:t>print(b)</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rgbClr val="FF0000"/>
                          </a:solidFill>
                        </a:rPr>
                        <a:t>(Nếu nhập quá n phần tử, sử dụng cách </a:t>
                      </a:r>
                      <a:r>
                        <a:rPr lang="en-US" sz="1400" kern="1200">
                          <a:solidFill>
                            <a:srgbClr val="FF0000"/>
                          </a:solidFill>
                          <a:latin typeface="+mn-lt"/>
                          <a:ea typeface="+mn-ea"/>
                          <a:cs typeface="+mn-cs"/>
                        </a:rPr>
                        <a:t>a</a:t>
                      </a:r>
                      <a:r>
                        <a:rPr lang="en-US" sz="1400" i="1" kern="1200">
                          <a:solidFill>
                            <a:srgbClr val="FF0000"/>
                          </a:solidFill>
                          <a:latin typeface="+mn-lt"/>
                          <a:ea typeface="+mn-ea"/>
                          <a:cs typeface="+mn-cs"/>
                        </a:rPr>
                        <a:t>=list(map(int, input().split()))[:n] thì a sẽ tự cắt đi số phần tử cuối chỉ để lại n phần tử)</a:t>
                      </a:r>
                    </a:p>
                    <a:p>
                      <a:endParaRPr lang="en-US"/>
                    </a:p>
                  </a:txBody>
                  <a:tcPr/>
                </a:tc>
                <a:extLst>
                  <a:ext uri="{0D108BD9-81ED-4DB2-BD59-A6C34878D82A}">
                    <a16:rowId xmlns:a16="http://schemas.microsoft.com/office/drawing/2014/main" val="466176146"/>
                  </a:ext>
                </a:extLst>
              </a:tr>
            </a:tbl>
          </a:graphicData>
        </a:graphic>
      </p:graphicFrame>
    </p:spTree>
    <p:extLst>
      <p:ext uri="{BB962C8B-B14F-4D97-AF65-F5344CB8AC3E}">
        <p14:creationId xmlns:p14="http://schemas.microsoft.com/office/powerpoint/2010/main" val="3708821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1E494F-465C-6D8F-EBB2-6311748E85C0}"/>
              </a:ext>
            </a:extLst>
          </p:cNvPr>
          <p:cNvSpPr txBox="1"/>
          <p:nvPr/>
        </p:nvSpPr>
        <p:spPr>
          <a:xfrm>
            <a:off x="571500" y="2255799"/>
            <a:ext cx="7543800" cy="3405356"/>
          </a:xfrm>
          <a:prstGeom prst="rect">
            <a:avLst/>
          </a:prstGeom>
          <a:noFill/>
        </p:spPr>
        <p:txBody>
          <a:bodyPr wrap="square">
            <a:spAutoFit/>
          </a:bodyPr>
          <a:lstStyle/>
          <a:p>
            <a:pPr>
              <a:lnSpc>
                <a:spcPct val="130000"/>
              </a:lnSpc>
            </a:pPr>
            <a:r>
              <a:rPr lang="en-VN"/>
              <a:t>a, b = map(int,input().split())</a:t>
            </a:r>
          </a:p>
          <a:p>
            <a:pPr>
              <a:lnSpc>
                <a:spcPct val="130000"/>
              </a:lnSpc>
            </a:pPr>
            <a:r>
              <a:rPr lang="en-VN"/>
              <a:t>ds = [list(map(float,input().split())) for _ in range(a)]</a:t>
            </a:r>
          </a:p>
          <a:p>
            <a:pPr>
              <a:lnSpc>
                <a:spcPct val="130000"/>
              </a:lnSpc>
            </a:pPr>
            <a:r>
              <a:rPr lang="en-VN"/>
              <a:t>print("Ma tran")</a:t>
            </a:r>
          </a:p>
          <a:p>
            <a:pPr>
              <a:lnSpc>
                <a:spcPct val="130000"/>
              </a:lnSpc>
            </a:pPr>
            <a:r>
              <a:rPr lang="en-VN"/>
              <a:t>for i in range(a):</a:t>
            </a:r>
          </a:p>
          <a:p>
            <a:pPr>
              <a:lnSpc>
                <a:spcPct val="130000"/>
              </a:lnSpc>
            </a:pPr>
            <a:r>
              <a:rPr lang="en-VN"/>
              <a:t>    for j in range(b):</a:t>
            </a:r>
          </a:p>
          <a:p>
            <a:pPr>
              <a:lnSpc>
                <a:spcPct val="130000"/>
              </a:lnSpc>
            </a:pPr>
            <a:r>
              <a:rPr lang="en-VN"/>
              <a:t>        print(ds[i][j], end=" ")</a:t>
            </a:r>
          </a:p>
          <a:p>
            <a:pPr>
              <a:lnSpc>
                <a:spcPct val="130000"/>
              </a:lnSpc>
            </a:pPr>
            <a:r>
              <a:rPr lang="en-VN"/>
              <a:t>    print() </a:t>
            </a:r>
          </a:p>
        </p:txBody>
      </p:sp>
      <p:sp>
        <p:nvSpPr>
          <p:cNvPr id="4" name="TextBox 3">
            <a:extLst>
              <a:ext uri="{FF2B5EF4-FFF2-40B4-BE49-F238E27FC236}">
                <a16:creationId xmlns:a16="http://schemas.microsoft.com/office/drawing/2014/main" id="{40CD64DE-3A3D-49A3-B17C-C3598019F88F}"/>
              </a:ext>
            </a:extLst>
          </p:cNvPr>
          <p:cNvSpPr txBox="1"/>
          <p:nvPr/>
        </p:nvSpPr>
        <p:spPr>
          <a:xfrm>
            <a:off x="457200" y="1114400"/>
            <a:ext cx="7772400" cy="1107996"/>
          </a:xfrm>
          <a:prstGeom prst="rect">
            <a:avLst/>
          </a:prstGeom>
          <a:noFill/>
        </p:spPr>
        <p:txBody>
          <a:bodyPr wrap="square">
            <a:spAutoFit/>
          </a:bodyPr>
          <a:lstStyle/>
          <a:p>
            <a:r>
              <a:rPr lang="en-US" sz="2200" b="1"/>
              <a:t>Vd2. </a:t>
            </a:r>
            <a:r>
              <a:rPr lang="en-VN" sz="2200" b="1"/>
              <a:t>Nhập/in ma trận</a:t>
            </a:r>
            <a:r>
              <a:rPr lang="en-US" sz="2200" b="1"/>
              <a:t> a hàng và b cột (mảng 2 chiều). In ra ma trận (nhập vào 2 dòng, mỗi dòng là một dãy cách nhau dấu cách)</a:t>
            </a:r>
            <a:endParaRPr lang="en-VN" sz="2200" b="1"/>
          </a:p>
        </p:txBody>
      </p:sp>
    </p:spTree>
    <p:extLst>
      <p:ext uri="{BB962C8B-B14F-4D97-AF65-F5344CB8AC3E}">
        <p14:creationId xmlns:p14="http://schemas.microsoft.com/office/powerpoint/2010/main" val="301640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2A213C-D80C-4FFF-8458-0CC3960897CF}"/>
              </a:ext>
            </a:extLst>
          </p:cNvPr>
          <p:cNvSpPr txBox="1"/>
          <p:nvPr/>
        </p:nvSpPr>
        <p:spPr>
          <a:xfrm>
            <a:off x="334396" y="1143000"/>
            <a:ext cx="4394580" cy="338554"/>
          </a:xfrm>
          <a:prstGeom prst="rect">
            <a:avLst/>
          </a:prstGeom>
          <a:noFill/>
        </p:spPr>
        <p:txBody>
          <a:bodyPr wrap="square" rtlCol="0">
            <a:spAutoFit/>
          </a:bodyPr>
          <a:lstStyle/>
          <a:p>
            <a:r>
              <a:rPr lang="en-US" sz="1600" b="1"/>
              <a:t>NHẬP MA TRẬN THEO TỪNG PHẦN TỬ</a:t>
            </a:r>
          </a:p>
        </p:txBody>
      </p:sp>
      <p:sp>
        <p:nvSpPr>
          <p:cNvPr id="12" name="TextBox 11">
            <a:extLst>
              <a:ext uri="{FF2B5EF4-FFF2-40B4-BE49-F238E27FC236}">
                <a16:creationId xmlns:a16="http://schemas.microsoft.com/office/drawing/2014/main" id="{835FBC0E-E42C-40B7-A6CE-FE61F30AD99C}"/>
              </a:ext>
            </a:extLst>
          </p:cNvPr>
          <p:cNvSpPr txBox="1"/>
          <p:nvPr/>
        </p:nvSpPr>
        <p:spPr>
          <a:xfrm>
            <a:off x="4758713" y="1167161"/>
            <a:ext cx="4394580" cy="400110"/>
          </a:xfrm>
          <a:prstGeom prst="rect">
            <a:avLst/>
          </a:prstGeom>
          <a:noFill/>
        </p:spPr>
        <p:txBody>
          <a:bodyPr wrap="square" rtlCol="0">
            <a:spAutoFit/>
          </a:bodyPr>
          <a:lstStyle>
            <a:defPPr>
              <a:defRPr lang="en-US"/>
            </a:defPPr>
            <a:lvl1pPr>
              <a:defRPr sz="1600" b="1"/>
            </a:lvl1pPr>
          </a:lstStyle>
          <a:p>
            <a:r>
              <a:rPr lang="en-US"/>
              <a:t>IN RA MA TRẬN</a:t>
            </a:r>
          </a:p>
        </p:txBody>
      </p:sp>
      <p:sp>
        <p:nvSpPr>
          <p:cNvPr id="14" name="TextBox 13">
            <a:extLst>
              <a:ext uri="{FF2B5EF4-FFF2-40B4-BE49-F238E27FC236}">
                <a16:creationId xmlns:a16="http://schemas.microsoft.com/office/drawing/2014/main" id="{94D2CF65-E4D7-41FB-A62E-2A43473B0E51}"/>
              </a:ext>
            </a:extLst>
          </p:cNvPr>
          <p:cNvSpPr txBox="1"/>
          <p:nvPr/>
        </p:nvSpPr>
        <p:spPr>
          <a:xfrm>
            <a:off x="457200" y="1571211"/>
            <a:ext cx="4271776" cy="3477875"/>
          </a:xfrm>
          <a:prstGeom prst="rect">
            <a:avLst/>
          </a:prstGeom>
          <a:noFill/>
        </p:spPr>
        <p:txBody>
          <a:bodyPr wrap="square">
            <a:spAutoFit/>
          </a:bodyPr>
          <a:lstStyle/>
          <a:p>
            <a:r>
              <a:rPr lang="en-US" sz="2000"/>
              <a:t>a = []</a:t>
            </a:r>
            <a:br>
              <a:rPr lang="en-US" sz="2000"/>
            </a:br>
            <a:r>
              <a:rPr lang="en-US" sz="2000"/>
              <a:t>row = int(input(" Nhap so hang: "))</a:t>
            </a:r>
            <a:br>
              <a:rPr lang="en-US" sz="2000"/>
            </a:br>
            <a:r>
              <a:rPr lang="en-US" sz="2000"/>
              <a:t>col = int(input(" Nhap so cot: "))</a:t>
            </a:r>
            <a:br>
              <a:rPr lang="en-US" sz="2000"/>
            </a:br>
            <a:r>
              <a:rPr lang="en-US" sz="2000"/>
              <a:t>for i in range(row):</a:t>
            </a:r>
            <a:br>
              <a:rPr lang="en-US" sz="2000"/>
            </a:br>
            <a:r>
              <a:rPr lang="en-US" sz="2000"/>
              <a:t>    gt_row = []</a:t>
            </a:r>
            <a:br>
              <a:rPr lang="en-US" sz="2000"/>
            </a:br>
            <a:r>
              <a:rPr lang="en-US" sz="2000"/>
              <a:t>    for j in range(col):</a:t>
            </a:r>
            <a:br>
              <a:rPr lang="en-US" sz="2000"/>
            </a:br>
            <a:r>
              <a:rPr lang="en-US" sz="2000"/>
              <a:t>        # print(f'a[{i}][{j}]=')</a:t>
            </a:r>
            <a:br>
              <a:rPr lang="en-US" sz="2000"/>
            </a:br>
            <a:r>
              <a:rPr lang="en-US" sz="2000"/>
              <a:t>        print('a[', i, '][', j, ']=', end="")</a:t>
            </a:r>
            <a:br>
              <a:rPr lang="en-US" sz="2000"/>
            </a:br>
            <a:r>
              <a:rPr lang="en-US" sz="2000"/>
              <a:t>        gt_row.append(int(input()))</a:t>
            </a:r>
            <a:br>
              <a:rPr lang="en-US" sz="2000"/>
            </a:br>
            <a:r>
              <a:rPr lang="en-US" sz="2000"/>
              <a:t>    a.append(gt_row)</a:t>
            </a:r>
            <a:br>
              <a:rPr lang="en-US" sz="2000"/>
            </a:br>
            <a:endParaRPr lang="en-US" sz="2000"/>
          </a:p>
        </p:txBody>
      </p:sp>
      <p:sp>
        <p:nvSpPr>
          <p:cNvPr id="16" name="TextBox 15">
            <a:extLst>
              <a:ext uri="{FF2B5EF4-FFF2-40B4-BE49-F238E27FC236}">
                <a16:creationId xmlns:a16="http://schemas.microsoft.com/office/drawing/2014/main" id="{8D614FD0-54B1-4B64-96B8-7078E40D19CE}"/>
              </a:ext>
            </a:extLst>
          </p:cNvPr>
          <p:cNvSpPr txBox="1"/>
          <p:nvPr/>
        </p:nvSpPr>
        <p:spPr>
          <a:xfrm>
            <a:off x="4847923" y="1595372"/>
            <a:ext cx="4577574" cy="2246769"/>
          </a:xfrm>
          <a:prstGeom prst="rect">
            <a:avLst/>
          </a:prstGeom>
          <a:noFill/>
        </p:spPr>
        <p:txBody>
          <a:bodyPr wrap="square">
            <a:spAutoFit/>
          </a:bodyPr>
          <a:lstStyle/>
          <a:p>
            <a:r>
              <a:rPr lang="en-US" sz="2000">
                <a:latin typeface="+mj-lt"/>
              </a:rPr>
              <a:t>a=[[</a:t>
            </a:r>
            <a:r>
              <a:rPr kumimoji="1" lang="en-US" sz="2000" kern="1200">
                <a:solidFill>
                  <a:schemeClr val="tx1"/>
                </a:solidFill>
                <a:effectLst/>
                <a:latin typeface="+mj-lt"/>
                <a:ea typeface="+mn-ea"/>
                <a:cs typeface="+mn-cs"/>
              </a:rPr>
              <a:t>1, 2,3</a:t>
            </a:r>
            <a:r>
              <a:rPr lang="en-US" sz="2000">
                <a:latin typeface="+mj-lt"/>
              </a:rPr>
              <a:t>]</a:t>
            </a:r>
            <a:r>
              <a:rPr kumimoji="1" lang="en-US" sz="2000" kern="1200">
                <a:solidFill>
                  <a:schemeClr val="tx1"/>
                </a:solidFill>
                <a:effectLst/>
                <a:latin typeface="+mj-lt"/>
                <a:ea typeface="+mn-ea"/>
                <a:cs typeface="+mn-cs"/>
              </a:rPr>
              <a:t>, </a:t>
            </a:r>
            <a:r>
              <a:rPr lang="en-US" sz="2000">
                <a:latin typeface="+mj-lt"/>
              </a:rPr>
              <a:t>[</a:t>
            </a:r>
            <a:r>
              <a:rPr kumimoji="1" lang="en-US" sz="2000" kern="1200">
                <a:solidFill>
                  <a:schemeClr val="tx1"/>
                </a:solidFill>
                <a:effectLst/>
                <a:latin typeface="+mj-lt"/>
                <a:ea typeface="+mn-ea"/>
                <a:cs typeface="+mn-cs"/>
              </a:rPr>
              <a:t>3, 4, 5, 6</a:t>
            </a:r>
            <a:r>
              <a:rPr lang="en-US" sz="2000">
                <a:latin typeface="+mj-lt"/>
              </a:rPr>
              <a:t>]</a:t>
            </a:r>
            <a:r>
              <a:rPr kumimoji="1" lang="en-US" sz="2000" kern="1200">
                <a:solidFill>
                  <a:schemeClr val="tx1"/>
                </a:solidFill>
                <a:effectLst/>
                <a:latin typeface="+mj-lt"/>
                <a:ea typeface="+mn-ea"/>
                <a:cs typeface="+mn-cs"/>
              </a:rPr>
              <a:t>, </a:t>
            </a:r>
            <a:r>
              <a:rPr lang="en-US" sz="2000">
                <a:latin typeface="+mj-lt"/>
              </a:rPr>
              <a:t>[</a:t>
            </a:r>
            <a:r>
              <a:rPr kumimoji="1" lang="en-US" sz="2000" kern="1200">
                <a:solidFill>
                  <a:schemeClr val="tx1"/>
                </a:solidFill>
                <a:effectLst/>
                <a:latin typeface="+mj-lt"/>
                <a:ea typeface="+mn-ea"/>
                <a:cs typeface="+mn-cs"/>
              </a:rPr>
              <a:t>1, 3</a:t>
            </a:r>
            <a:r>
              <a:rPr lang="en-US" sz="2000">
                <a:latin typeface="+mj-lt"/>
              </a:rPr>
              <a:t>]]</a:t>
            </a:r>
            <a:br>
              <a:rPr lang="en-US" sz="2000">
                <a:latin typeface="+mj-lt"/>
              </a:rPr>
            </a:br>
            <a:r>
              <a:rPr lang="en-US" sz="2000">
                <a:latin typeface="+mj-lt"/>
              </a:rPr>
              <a:t>row =len(a)</a:t>
            </a:r>
            <a:br>
              <a:rPr lang="en-US" sz="2000">
                <a:latin typeface="+mj-lt"/>
              </a:rPr>
            </a:br>
            <a:r>
              <a:rPr kumimoji="1" lang="en-US" sz="2000" kern="1200">
                <a:solidFill>
                  <a:schemeClr val="tx1"/>
                </a:solidFill>
                <a:effectLst/>
                <a:latin typeface="+mj-lt"/>
                <a:ea typeface="+mn-ea"/>
                <a:cs typeface="+mn-cs"/>
              </a:rPr>
              <a:t>for </a:t>
            </a:r>
            <a:r>
              <a:rPr lang="en-US" sz="2000">
                <a:latin typeface="+mj-lt"/>
              </a:rPr>
              <a:t>i </a:t>
            </a:r>
            <a:r>
              <a:rPr kumimoji="1" lang="en-US" sz="2000" kern="1200">
                <a:solidFill>
                  <a:schemeClr val="tx1"/>
                </a:solidFill>
                <a:effectLst/>
                <a:latin typeface="+mj-lt"/>
                <a:ea typeface="+mn-ea"/>
                <a:cs typeface="+mn-cs"/>
              </a:rPr>
              <a:t>in </a:t>
            </a:r>
            <a:r>
              <a:rPr lang="en-US" sz="2000">
                <a:latin typeface="+mj-lt"/>
              </a:rPr>
              <a:t>range (row):</a:t>
            </a:r>
            <a:br>
              <a:rPr lang="en-US" sz="2000">
                <a:latin typeface="+mj-lt"/>
              </a:rPr>
            </a:br>
            <a:r>
              <a:rPr lang="en-US" sz="2000">
                <a:latin typeface="+mj-lt"/>
              </a:rPr>
              <a:t>    col=len(a[i])</a:t>
            </a:r>
            <a:br>
              <a:rPr lang="en-US" sz="2000">
                <a:latin typeface="+mj-lt"/>
              </a:rPr>
            </a:br>
            <a:r>
              <a:rPr lang="en-US" sz="2000">
                <a:latin typeface="+mj-lt"/>
              </a:rPr>
              <a:t>    </a:t>
            </a:r>
            <a:r>
              <a:rPr kumimoji="1" lang="en-US" sz="2000" kern="1200">
                <a:solidFill>
                  <a:schemeClr val="tx1"/>
                </a:solidFill>
                <a:effectLst/>
                <a:latin typeface="+mj-lt"/>
                <a:ea typeface="+mn-ea"/>
                <a:cs typeface="+mn-cs"/>
              </a:rPr>
              <a:t>for </a:t>
            </a:r>
            <a:r>
              <a:rPr lang="en-US" sz="2000">
                <a:latin typeface="+mj-lt"/>
              </a:rPr>
              <a:t>j </a:t>
            </a:r>
            <a:r>
              <a:rPr kumimoji="1" lang="en-US" sz="2000" kern="1200">
                <a:solidFill>
                  <a:schemeClr val="tx1"/>
                </a:solidFill>
                <a:effectLst/>
                <a:latin typeface="+mj-lt"/>
                <a:ea typeface="+mn-ea"/>
                <a:cs typeface="+mn-cs"/>
              </a:rPr>
              <a:t>in </a:t>
            </a:r>
            <a:r>
              <a:rPr lang="en-US" sz="2000">
                <a:latin typeface="+mj-lt"/>
              </a:rPr>
              <a:t>range(col):</a:t>
            </a:r>
            <a:br>
              <a:rPr lang="en-US" sz="2000">
                <a:latin typeface="+mj-lt"/>
              </a:rPr>
            </a:br>
            <a:r>
              <a:rPr lang="en-US" sz="2000">
                <a:latin typeface="+mj-lt"/>
              </a:rPr>
              <a:t>        print(a[i][j]</a:t>
            </a:r>
            <a:r>
              <a:rPr kumimoji="1" lang="en-US" sz="2000" kern="1200">
                <a:solidFill>
                  <a:schemeClr val="tx1"/>
                </a:solidFill>
                <a:effectLst/>
                <a:latin typeface="+mj-lt"/>
                <a:ea typeface="+mn-ea"/>
                <a:cs typeface="+mn-cs"/>
              </a:rPr>
              <a:t>, end</a:t>
            </a:r>
            <a:r>
              <a:rPr lang="en-US" sz="2000">
                <a:latin typeface="+mj-lt"/>
              </a:rPr>
              <a:t>=</a:t>
            </a:r>
            <a:r>
              <a:rPr kumimoji="1" lang="en-US" sz="2000" kern="1200">
                <a:solidFill>
                  <a:schemeClr val="tx1"/>
                </a:solidFill>
                <a:effectLst/>
                <a:latin typeface="+mj-lt"/>
                <a:ea typeface="+mn-ea"/>
                <a:cs typeface="+mn-cs"/>
              </a:rPr>
              <a:t>" "</a:t>
            </a:r>
            <a:r>
              <a:rPr lang="en-US" sz="2000">
                <a:latin typeface="+mj-lt"/>
              </a:rPr>
              <a:t>)</a:t>
            </a:r>
            <a:br>
              <a:rPr lang="en-US" sz="2000">
                <a:latin typeface="+mj-lt"/>
              </a:rPr>
            </a:br>
            <a:r>
              <a:rPr lang="en-US" sz="2000">
                <a:latin typeface="+mj-lt"/>
              </a:rPr>
              <a:t>    print()</a:t>
            </a:r>
          </a:p>
        </p:txBody>
      </p:sp>
      <p:pic>
        <p:nvPicPr>
          <p:cNvPr id="3" name="Picture 2">
            <a:extLst>
              <a:ext uri="{FF2B5EF4-FFF2-40B4-BE49-F238E27FC236}">
                <a16:creationId xmlns:a16="http://schemas.microsoft.com/office/drawing/2014/main" id="{49D12FD9-5CC2-3563-D554-39E5682B96CA}"/>
              </a:ext>
            </a:extLst>
          </p:cNvPr>
          <p:cNvPicPr>
            <a:picLocks noChangeAspect="1"/>
          </p:cNvPicPr>
          <p:nvPr/>
        </p:nvPicPr>
        <p:blipFill>
          <a:blip r:embed="rId3"/>
          <a:stretch>
            <a:fillRect/>
          </a:stretch>
        </p:blipFill>
        <p:spPr>
          <a:xfrm>
            <a:off x="5105400" y="3986100"/>
            <a:ext cx="2723017" cy="2553056"/>
          </a:xfrm>
          <a:prstGeom prst="rect">
            <a:avLst/>
          </a:prstGeom>
        </p:spPr>
      </p:pic>
    </p:spTree>
    <p:extLst>
      <p:ext uri="{BB962C8B-B14F-4D97-AF65-F5344CB8AC3E}">
        <p14:creationId xmlns:p14="http://schemas.microsoft.com/office/powerpoint/2010/main" val="2363933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E0435-273C-4490-93C6-803223221343}"/>
              </a:ext>
            </a:extLst>
          </p:cNvPr>
          <p:cNvSpPr txBox="1"/>
          <p:nvPr/>
        </p:nvSpPr>
        <p:spPr>
          <a:xfrm>
            <a:off x="228600" y="1066800"/>
            <a:ext cx="8686800" cy="1477328"/>
          </a:xfrm>
          <a:prstGeom prst="rect">
            <a:avLst/>
          </a:prstGeom>
          <a:noFill/>
        </p:spPr>
        <p:txBody>
          <a:bodyPr wrap="square" rtlCol="0">
            <a:spAutoFit/>
          </a:bodyPr>
          <a:lstStyle/>
          <a:p>
            <a:r>
              <a:rPr lang="en-US" sz="1800" b="1"/>
              <a:t>VD3. Nhập n nhân viên, mỗi nhân viên gồm họ tên, hệ số lương, thâm niên công tác. Thông tin của mỗi nhân viên nhập trên một dòng, cách nhau dấu cách. Thêm lương cho mỗi nhân viên, lương =hệ số lương x 2000000+thâm niên. Hãy in ra nhân viên có lương thấp nhất, bao gồm họ tên, hệ số lương, thâm niên và lương trên một dòng (Họ tên gồm 2 phần: hodem ten)</a:t>
            </a:r>
          </a:p>
        </p:txBody>
      </p:sp>
      <p:sp>
        <p:nvSpPr>
          <p:cNvPr id="6" name="TextBox 5">
            <a:extLst>
              <a:ext uri="{FF2B5EF4-FFF2-40B4-BE49-F238E27FC236}">
                <a16:creationId xmlns:a16="http://schemas.microsoft.com/office/drawing/2014/main" id="{82333DC4-927D-4679-A504-AE4A4383F172}"/>
              </a:ext>
            </a:extLst>
          </p:cNvPr>
          <p:cNvSpPr txBox="1"/>
          <p:nvPr/>
        </p:nvSpPr>
        <p:spPr>
          <a:xfrm>
            <a:off x="228600" y="2544128"/>
            <a:ext cx="9144000" cy="4247317"/>
          </a:xfrm>
          <a:prstGeom prst="rect">
            <a:avLst/>
          </a:prstGeom>
          <a:noFill/>
        </p:spPr>
        <p:txBody>
          <a:bodyPr wrap="square">
            <a:spAutoFit/>
          </a:bodyPr>
          <a:lstStyle/>
          <a:p>
            <a:r>
              <a:rPr lang="en-US" sz="1800"/>
              <a:t>n = int(input())</a:t>
            </a:r>
          </a:p>
          <a:p>
            <a:r>
              <a:rPr lang="en-US" sz="1800"/>
              <a:t>ds = [input().split() for _ in range(n)]</a:t>
            </a:r>
          </a:p>
          <a:p>
            <a:r>
              <a:rPr lang="en-US" sz="1800"/>
              <a:t>for i in range(n):</a:t>
            </a:r>
          </a:p>
          <a:p>
            <a:r>
              <a:rPr lang="en-US" sz="1800"/>
              <a:t>    ds[i][2] = float(ds[i][2])</a:t>
            </a:r>
          </a:p>
          <a:p>
            <a:r>
              <a:rPr lang="en-US" sz="1800"/>
              <a:t>    ds[i][3] = int(ds[i][3])</a:t>
            </a:r>
          </a:p>
          <a:p>
            <a:r>
              <a:rPr lang="en-US" sz="1800"/>
              <a:t>    ds[i].append(ds[i][2]*2000000+ds[i][3])</a:t>
            </a:r>
          </a:p>
          <a:p>
            <a:r>
              <a:rPr lang="en-US" sz="1800"/>
              <a:t>check = 0</a:t>
            </a:r>
          </a:p>
          <a:p>
            <a:r>
              <a:rPr lang="en-US" sz="1800"/>
              <a:t>min = ds[0][4]</a:t>
            </a:r>
          </a:p>
          <a:p>
            <a:r>
              <a:rPr lang="en-US" sz="1800"/>
              <a:t>for i in range(n):</a:t>
            </a:r>
          </a:p>
          <a:p>
            <a:r>
              <a:rPr lang="en-US" sz="1800"/>
              <a:t>    if ds[i][4] &lt; min:</a:t>
            </a:r>
          </a:p>
          <a:p>
            <a:r>
              <a:rPr lang="en-US" sz="1800"/>
              <a:t>        min =ds[i][4]</a:t>
            </a:r>
          </a:p>
          <a:p>
            <a:r>
              <a:rPr lang="en-US" sz="1800"/>
              <a:t>        check =i</a:t>
            </a:r>
          </a:p>
          <a:p>
            <a:r>
              <a:rPr lang="en-US" sz="1800"/>
              <a:t>print('Nhan vien co luong thap nhat')</a:t>
            </a:r>
          </a:p>
          <a:p>
            <a:r>
              <a:rPr lang="en-US" sz="1800"/>
              <a:t>print("{} {} {:.2f} {} {:.2f}".format(ds[check][0], ds[check][1], ds[check][2], ds[check][3], ds[check][4]))</a:t>
            </a:r>
          </a:p>
        </p:txBody>
      </p:sp>
    </p:spTree>
    <p:extLst>
      <p:ext uri="{BB962C8B-B14F-4D97-AF65-F5344CB8AC3E}">
        <p14:creationId xmlns:p14="http://schemas.microsoft.com/office/powerpoint/2010/main" val="163719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368EFF-E8BD-43F8-910F-20805108BF3B}"/>
              </a:ext>
            </a:extLst>
          </p:cNvPr>
          <p:cNvSpPr txBox="1"/>
          <p:nvPr/>
        </p:nvSpPr>
        <p:spPr>
          <a:xfrm>
            <a:off x="228600" y="1066800"/>
            <a:ext cx="9067800" cy="5355312"/>
          </a:xfrm>
          <a:prstGeom prst="rect">
            <a:avLst/>
          </a:prstGeom>
          <a:noFill/>
        </p:spPr>
        <p:txBody>
          <a:bodyPr wrap="square">
            <a:spAutoFit/>
          </a:bodyPr>
          <a:lstStyle/>
          <a:p>
            <a:r>
              <a:rPr lang="vi-VN" sz="1800"/>
              <a:t>n = int(input())</a:t>
            </a:r>
          </a:p>
          <a:p>
            <a:r>
              <a:rPr lang="vi-VN" sz="1800"/>
              <a:t>ds = []</a:t>
            </a:r>
          </a:p>
          <a:p>
            <a:r>
              <a:rPr lang="vi-VN" sz="1800"/>
              <a:t>for _ in range(n):</a:t>
            </a:r>
          </a:p>
          <a:p>
            <a:r>
              <a:rPr lang="vi-VN" sz="1800"/>
              <a:t>    data = input().split()</a:t>
            </a:r>
          </a:p>
          <a:p>
            <a:r>
              <a:rPr lang="vi-VN" sz="1800"/>
              <a:t>    ho_ten = " ".join(data[:-2])    # Ghép tất cả phần từ đầu đến phần tử thứ -2 lại làm họ tên</a:t>
            </a:r>
          </a:p>
          <a:p>
            <a:r>
              <a:rPr lang="vi-VN" sz="1800"/>
              <a:t>    he_so_luong = float(data[-2])   # Phần tử kế cuối là hệ số lương</a:t>
            </a:r>
          </a:p>
          <a:p>
            <a:r>
              <a:rPr lang="vi-VN" sz="1800"/>
              <a:t>    tham_nien = int(data[-1])       # Phần tử cuối là thâm niên</a:t>
            </a:r>
          </a:p>
          <a:p>
            <a:r>
              <a:rPr lang="vi-VN" sz="1800"/>
              <a:t>    luong = he_so_luong * 2000000 + tham_nien</a:t>
            </a:r>
          </a:p>
          <a:p>
            <a:r>
              <a:rPr lang="vi-VN" sz="1800"/>
              <a:t>    ds.append([ho_ten, he_so_luong, tham_nien, luong])</a:t>
            </a:r>
          </a:p>
          <a:p>
            <a:r>
              <a:rPr lang="vi-VN" sz="1800"/>
              <a:t># Tìm nhân viên có lương thấp nhất</a:t>
            </a:r>
          </a:p>
          <a:p>
            <a:r>
              <a:rPr lang="vi-VN" sz="1800"/>
              <a:t>check = 0</a:t>
            </a:r>
          </a:p>
          <a:p>
            <a:r>
              <a:rPr lang="vi-VN" sz="1800"/>
              <a:t>min_luong = ds[0][3]</a:t>
            </a:r>
          </a:p>
          <a:p>
            <a:r>
              <a:rPr lang="vi-VN" sz="1800"/>
              <a:t>for i in range(1, n):</a:t>
            </a:r>
          </a:p>
          <a:p>
            <a:r>
              <a:rPr lang="vi-VN" sz="1800"/>
              <a:t>    if ds[i][3] &lt; min_luong:</a:t>
            </a:r>
          </a:p>
          <a:p>
            <a:r>
              <a:rPr lang="vi-VN" sz="1800"/>
              <a:t>        min_luong = ds[i][3]</a:t>
            </a:r>
          </a:p>
          <a:p>
            <a:r>
              <a:rPr lang="vi-VN" sz="1800"/>
              <a:t>        check = i</a:t>
            </a:r>
          </a:p>
          <a:p>
            <a:r>
              <a:rPr lang="vi-VN" sz="1800"/>
              <a:t># In ra kết quả</a:t>
            </a:r>
          </a:p>
          <a:p>
            <a:r>
              <a:rPr lang="vi-VN" sz="1800"/>
              <a:t>print('Nhan vien co luong thap nhat')</a:t>
            </a:r>
          </a:p>
          <a:p>
            <a:r>
              <a:rPr lang="vi-VN" sz="1800"/>
              <a:t>print("{} {:.2f} {} {:.2f}".format(ds[check][0], ds[check][1], ds[check][2], ds[check][3]))</a:t>
            </a:r>
          </a:p>
        </p:txBody>
      </p:sp>
      <p:sp>
        <p:nvSpPr>
          <p:cNvPr id="5" name="TextBox 4">
            <a:extLst>
              <a:ext uri="{FF2B5EF4-FFF2-40B4-BE49-F238E27FC236}">
                <a16:creationId xmlns:a16="http://schemas.microsoft.com/office/drawing/2014/main" id="{DB635B7C-8668-4822-9511-0041A9CB2561}"/>
              </a:ext>
            </a:extLst>
          </p:cNvPr>
          <p:cNvSpPr txBox="1"/>
          <p:nvPr/>
        </p:nvSpPr>
        <p:spPr>
          <a:xfrm>
            <a:off x="762000" y="304800"/>
            <a:ext cx="8077200" cy="461665"/>
          </a:xfrm>
          <a:prstGeom prst="rect">
            <a:avLst/>
          </a:prstGeom>
          <a:noFill/>
        </p:spPr>
        <p:txBody>
          <a:bodyPr wrap="square" rtlCol="0">
            <a:spAutoFit/>
          </a:bodyPr>
          <a:lstStyle/>
          <a:p>
            <a:r>
              <a:rPr lang="en-US" b="1">
                <a:solidFill>
                  <a:schemeClr val="bg1"/>
                </a:solidFill>
              </a:rPr>
              <a:t>Mở rộng phần nhập họ tên bất kỳ cách nhau dấu cách</a:t>
            </a:r>
          </a:p>
        </p:txBody>
      </p:sp>
    </p:spTree>
    <p:extLst>
      <p:ext uri="{BB962C8B-B14F-4D97-AF65-F5344CB8AC3E}">
        <p14:creationId xmlns:p14="http://schemas.microsoft.com/office/powerpoint/2010/main" val="128798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18928F0-4AF1-447B-A4DF-20D6886F1836}"/>
              </a:ext>
            </a:extLst>
          </p:cNvPr>
          <p:cNvSpPr txBox="1"/>
          <p:nvPr/>
        </p:nvSpPr>
        <p:spPr>
          <a:xfrm>
            <a:off x="1191805" y="1086462"/>
            <a:ext cx="6607989" cy="3170099"/>
          </a:xfrm>
          <a:prstGeom prst="rect">
            <a:avLst/>
          </a:prstGeom>
          <a:noFill/>
        </p:spPr>
        <p:txBody>
          <a:bodyPr wrap="square">
            <a:spAutoFit/>
          </a:bodyPr>
          <a:lstStyle/>
          <a:p>
            <a:r>
              <a:rPr lang="en-US" sz="2000" b="1"/>
              <a:t># nhập ma trận</a:t>
            </a:r>
          </a:p>
          <a:p>
            <a:r>
              <a:rPr lang="en-US" sz="2000"/>
              <a:t>a = []</a:t>
            </a:r>
          </a:p>
          <a:p>
            <a:r>
              <a:rPr lang="en-US" sz="2000"/>
              <a:t>row = int(input(" Nhap so hang: "))</a:t>
            </a:r>
          </a:p>
          <a:p>
            <a:r>
              <a:rPr lang="en-US" sz="2000"/>
              <a:t>for i in range(row):</a:t>
            </a:r>
          </a:p>
          <a:p>
            <a:r>
              <a:rPr lang="en-US" sz="2000"/>
              <a:t>    col = int(input(" Nhap so cot cua hang %d: "%i))</a:t>
            </a:r>
          </a:p>
          <a:p>
            <a:r>
              <a:rPr lang="en-US" sz="2000"/>
              <a:t>    gt_row = []</a:t>
            </a:r>
          </a:p>
          <a:p>
            <a:r>
              <a:rPr lang="en-US" sz="2000"/>
              <a:t>    for j in range(col):</a:t>
            </a:r>
          </a:p>
          <a:p>
            <a:r>
              <a:rPr lang="en-US" sz="2000"/>
              <a:t>	print('a[', i, '][', j, ']=', end="")</a:t>
            </a:r>
          </a:p>
          <a:p>
            <a:r>
              <a:rPr lang="en-US" sz="2000"/>
              <a:t>       	gt_row.append(int(input()))</a:t>
            </a:r>
          </a:p>
          <a:p>
            <a:r>
              <a:rPr lang="en-US" sz="2000"/>
              <a:t>    a.append(gt_row)</a:t>
            </a:r>
          </a:p>
        </p:txBody>
      </p:sp>
      <p:sp>
        <p:nvSpPr>
          <p:cNvPr id="13" name="TextBox 12">
            <a:extLst>
              <a:ext uri="{FF2B5EF4-FFF2-40B4-BE49-F238E27FC236}">
                <a16:creationId xmlns:a16="http://schemas.microsoft.com/office/drawing/2014/main" id="{F98096DC-E847-4749-BD05-B4E2066AE7EF}"/>
              </a:ext>
            </a:extLst>
          </p:cNvPr>
          <p:cNvSpPr txBox="1"/>
          <p:nvPr/>
        </p:nvSpPr>
        <p:spPr>
          <a:xfrm>
            <a:off x="1219200" y="4648200"/>
            <a:ext cx="5029200" cy="1692771"/>
          </a:xfrm>
          <a:prstGeom prst="rect">
            <a:avLst/>
          </a:prstGeom>
          <a:noFill/>
        </p:spPr>
        <p:txBody>
          <a:bodyPr wrap="square">
            <a:spAutoFit/>
          </a:bodyPr>
          <a:lstStyle/>
          <a:p>
            <a:r>
              <a:rPr lang="en-US" sz="2000" b="1"/>
              <a:t># in ma trận</a:t>
            </a:r>
          </a:p>
          <a:p>
            <a:r>
              <a:rPr lang="en-US" sz="2000"/>
              <a:t>for i in range(len(a)):</a:t>
            </a:r>
          </a:p>
          <a:p>
            <a:r>
              <a:rPr lang="en-US" sz="2000"/>
              <a:t>    for j in range(len(a[i])):</a:t>
            </a:r>
          </a:p>
          <a:p>
            <a:r>
              <a:rPr lang="en-US" sz="2000"/>
              <a:t>        print(a[i][j],end="")</a:t>
            </a:r>
          </a:p>
          <a:p>
            <a:r>
              <a:rPr lang="en-US" sz="2000"/>
              <a:t>    print()</a:t>
            </a:r>
          </a:p>
        </p:txBody>
      </p:sp>
      <p:sp>
        <p:nvSpPr>
          <p:cNvPr id="14" name="TextBox 13">
            <a:extLst>
              <a:ext uri="{FF2B5EF4-FFF2-40B4-BE49-F238E27FC236}">
                <a16:creationId xmlns:a16="http://schemas.microsoft.com/office/drawing/2014/main" id="{E66AAC11-80DF-469B-B599-13563A5455BC}"/>
              </a:ext>
            </a:extLst>
          </p:cNvPr>
          <p:cNvSpPr txBox="1"/>
          <p:nvPr/>
        </p:nvSpPr>
        <p:spPr>
          <a:xfrm>
            <a:off x="381000" y="228600"/>
            <a:ext cx="6705600" cy="461665"/>
          </a:xfrm>
          <a:prstGeom prst="rect">
            <a:avLst/>
          </a:prstGeom>
          <a:noFill/>
        </p:spPr>
        <p:txBody>
          <a:bodyPr wrap="square" rtlCol="0">
            <a:spAutoFit/>
          </a:bodyPr>
          <a:lstStyle/>
          <a:p>
            <a:r>
              <a:rPr lang="en-US" b="1">
                <a:solidFill>
                  <a:schemeClr val="bg1"/>
                </a:solidFill>
              </a:rPr>
              <a:t>Nhập ma trận với số cột khác nhau</a:t>
            </a:r>
          </a:p>
        </p:txBody>
      </p:sp>
    </p:spTree>
    <p:extLst>
      <p:ext uri="{BB962C8B-B14F-4D97-AF65-F5344CB8AC3E}">
        <p14:creationId xmlns:p14="http://schemas.microsoft.com/office/powerpoint/2010/main" val="2338535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342900" y="1664494"/>
            <a:ext cx="8572500" cy="44315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US" sz="240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1733E9DE-0716-4340-ADD8-3EC0E823A893}"/>
              </a:ext>
            </a:extLst>
          </p:cNvPr>
          <p:cNvSpPr txBox="1"/>
          <p:nvPr/>
        </p:nvSpPr>
        <p:spPr>
          <a:xfrm>
            <a:off x="238516" y="1217742"/>
            <a:ext cx="8343899" cy="707886"/>
          </a:xfrm>
          <a:prstGeom prst="rect">
            <a:avLst/>
          </a:prstGeom>
          <a:noFill/>
        </p:spPr>
        <p:txBody>
          <a:bodyPr wrap="square" rtlCol="0">
            <a:spAutoFit/>
          </a:bodyPr>
          <a:lstStyle/>
          <a:p>
            <a:r>
              <a:rPr lang="en-US" sz="2000" b="1"/>
              <a:t>Viết hàm nhập một ma trận a với kích thước (row – số hàng, col – số cột). Sau đó in ra ma trận trên</a:t>
            </a:r>
          </a:p>
        </p:txBody>
      </p:sp>
      <p:sp>
        <p:nvSpPr>
          <p:cNvPr id="12" name="TextBox 11">
            <a:extLst>
              <a:ext uri="{FF2B5EF4-FFF2-40B4-BE49-F238E27FC236}">
                <a16:creationId xmlns:a16="http://schemas.microsoft.com/office/drawing/2014/main" id="{F080004F-70D9-4760-8A47-D9A316A014A5}"/>
              </a:ext>
            </a:extLst>
          </p:cNvPr>
          <p:cNvSpPr txBox="1"/>
          <p:nvPr/>
        </p:nvSpPr>
        <p:spPr>
          <a:xfrm>
            <a:off x="342900" y="2002365"/>
            <a:ext cx="4419601" cy="4247317"/>
          </a:xfrm>
          <a:prstGeom prst="rect">
            <a:avLst/>
          </a:prstGeom>
          <a:noFill/>
        </p:spPr>
        <p:txBody>
          <a:bodyPr wrap="square">
            <a:spAutoFit/>
          </a:bodyPr>
          <a:lstStyle/>
          <a:p>
            <a:r>
              <a:rPr lang="en-US" sz="1800"/>
              <a:t>def nhap_mang(a, row, col):</a:t>
            </a:r>
          </a:p>
          <a:p>
            <a:r>
              <a:rPr lang="en-US" sz="1800"/>
              <a:t>    for i in range(row):</a:t>
            </a:r>
          </a:p>
          <a:p>
            <a:r>
              <a:rPr lang="en-US" sz="1800"/>
              <a:t>        gt_row = []</a:t>
            </a:r>
          </a:p>
          <a:p>
            <a:r>
              <a:rPr lang="en-US" sz="1800"/>
              <a:t>        for j in range(col):</a:t>
            </a:r>
          </a:p>
          <a:p>
            <a:r>
              <a:rPr lang="en-US" sz="1800"/>
              <a:t>	print('a[', i, '][', j, ']=', end="")</a:t>
            </a:r>
          </a:p>
          <a:p>
            <a:r>
              <a:rPr lang="en-US" sz="1800"/>
              <a:t>            	gt_row.append(int(input()))</a:t>
            </a:r>
          </a:p>
          <a:p>
            <a:r>
              <a:rPr lang="en-US" sz="1800"/>
              <a:t>        a.append(gt_row)</a:t>
            </a:r>
          </a:p>
          <a:p>
            <a:r>
              <a:rPr lang="en-US" sz="1800"/>
              <a:t>def in_mang(a, row, col):</a:t>
            </a:r>
          </a:p>
          <a:p>
            <a:r>
              <a:rPr lang="en-US" sz="1800"/>
              <a:t>    row = len(a)</a:t>
            </a:r>
          </a:p>
          <a:p>
            <a:r>
              <a:rPr lang="en-US" sz="1800"/>
              <a:t>    for i in range(row):</a:t>
            </a:r>
          </a:p>
          <a:p>
            <a:r>
              <a:rPr lang="en-US" sz="1800"/>
              <a:t>        col = len(a[i])</a:t>
            </a:r>
          </a:p>
          <a:p>
            <a:r>
              <a:rPr lang="en-US" sz="1800"/>
              <a:t>        for j in range(col):</a:t>
            </a:r>
          </a:p>
          <a:p>
            <a:r>
              <a:rPr lang="en-US" sz="1800"/>
              <a:t>            print(a[i][j], end=" ")</a:t>
            </a:r>
          </a:p>
          <a:p>
            <a:r>
              <a:rPr lang="en-US" sz="1800"/>
              <a:t>        print()</a:t>
            </a:r>
          </a:p>
          <a:p>
            <a:endParaRPr lang="en-US" sz="1800"/>
          </a:p>
        </p:txBody>
      </p:sp>
      <p:sp>
        <p:nvSpPr>
          <p:cNvPr id="15" name="TextBox 14">
            <a:extLst>
              <a:ext uri="{FF2B5EF4-FFF2-40B4-BE49-F238E27FC236}">
                <a16:creationId xmlns:a16="http://schemas.microsoft.com/office/drawing/2014/main" id="{73966D25-80DB-4968-978B-E35725EA4E31}"/>
              </a:ext>
            </a:extLst>
          </p:cNvPr>
          <p:cNvSpPr txBox="1"/>
          <p:nvPr/>
        </p:nvSpPr>
        <p:spPr>
          <a:xfrm>
            <a:off x="4943085" y="1828800"/>
            <a:ext cx="4028683" cy="1754326"/>
          </a:xfrm>
          <a:prstGeom prst="rect">
            <a:avLst/>
          </a:prstGeom>
          <a:noFill/>
        </p:spPr>
        <p:txBody>
          <a:bodyPr wrap="square">
            <a:spAutoFit/>
          </a:bodyPr>
          <a:lstStyle/>
          <a:p>
            <a:endParaRPr lang="en-US" sz="1800"/>
          </a:p>
          <a:p>
            <a:r>
              <a:rPr lang="en-US" sz="1800"/>
              <a:t>a = []</a:t>
            </a:r>
          </a:p>
          <a:p>
            <a:r>
              <a:rPr lang="en-US" sz="1800"/>
              <a:t>row = int(input(" Nhap so hang: "))</a:t>
            </a:r>
          </a:p>
          <a:p>
            <a:r>
              <a:rPr lang="en-US" sz="1800"/>
              <a:t>col = int(input(" Nhap so cot: "))</a:t>
            </a:r>
          </a:p>
          <a:p>
            <a:r>
              <a:rPr lang="en-US" sz="1800"/>
              <a:t>nhap_mang(a, row, col)</a:t>
            </a:r>
          </a:p>
          <a:p>
            <a:r>
              <a:rPr lang="en-US" sz="1800"/>
              <a:t>in_mang(a, row, col)</a:t>
            </a:r>
          </a:p>
        </p:txBody>
      </p:sp>
    </p:spTree>
    <p:extLst>
      <p:ext uri="{BB962C8B-B14F-4D97-AF65-F5344CB8AC3E}">
        <p14:creationId xmlns:p14="http://schemas.microsoft.com/office/powerpoint/2010/main" val="1481172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96E481-F755-46BD-8FD8-8AE7F9BDB7E4}"/>
              </a:ext>
            </a:extLst>
          </p:cNvPr>
          <p:cNvSpPr txBox="1"/>
          <p:nvPr/>
        </p:nvSpPr>
        <p:spPr>
          <a:xfrm>
            <a:off x="244258" y="1627287"/>
            <a:ext cx="4419600" cy="5078313"/>
          </a:xfrm>
          <a:prstGeom prst="rect">
            <a:avLst/>
          </a:prstGeom>
          <a:noFill/>
        </p:spPr>
        <p:txBody>
          <a:bodyPr wrap="square">
            <a:spAutoFit/>
          </a:bodyPr>
          <a:lstStyle/>
          <a:p>
            <a:r>
              <a:rPr lang="en-US" sz="1800"/>
              <a:t>def nhap_ma_tran(so_dong, so_cot):</a:t>
            </a:r>
          </a:p>
          <a:p>
            <a:r>
              <a:rPr lang="en-US" sz="1800"/>
              <a:t>    ma_tran = []</a:t>
            </a:r>
          </a:p>
          <a:p>
            <a:r>
              <a:rPr lang="en-US" sz="1800"/>
              <a:t>    for i in range(so_dong):</a:t>
            </a:r>
          </a:p>
          <a:p>
            <a:r>
              <a:rPr lang="en-US" sz="1800"/>
              <a:t>        dong = []</a:t>
            </a:r>
          </a:p>
          <a:p>
            <a:r>
              <a:rPr lang="en-US" sz="1800"/>
              <a:t>        for j in range(so_cot):</a:t>
            </a:r>
          </a:p>
          <a:p>
            <a:r>
              <a:rPr lang="en-US" sz="1800"/>
              <a:t>            gia_tri = int(input(f"Nhập giá trị tại hàng {i+1}, cột {j+1}: "))</a:t>
            </a:r>
          </a:p>
          <a:p>
            <a:r>
              <a:rPr lang="en-US" sz="1800"/>
              <a:t>            dong.append(gia_tri)</a:t>
            </a:r>
          </a:p>
          <a:p>
            <a:r>
              <a:rPr lang="en-US" sz="1800"/>
              <a:t>        ma_tran.append(dong)</a:t>
            </a:r>
          </a:p>
          <a:p>
            <a:r>
              <a:rPr lang="en-US" sz="1800"/>
              <a:t>    return ma_tran</a:t>
            </a:r>
          </a:p>
          <a:p>
            <a:endParaRPr lang="en-US" sz="1800"/>
          </a:p>
          <a:p>
            <a:r>
              <a:rPr lang="en-US" sz="1800"/>
              <a:t>def xuat_ma_tran(ma_tran):</a:t>
            </a:r>
          </a:p>
          <a:p>
            <a:r>
              <a:rPr lang="en-US" sz="1800"/>
              <a:t>    for dong in ma_tran:</a:t>
            </a:r>
          </a:p>
          <a:p>
            <a:r>
              <a:rPr lang="en-US" sz="1800"/>
              <a:t>        for gia_tri in dong:</a:t>
            </a:r>
          </a:p>
          <a:p>
            <a:r>
              <a:rPr lang="en-US" sz="1800"/>
              <a:t>            print(gia_tri, end="\t")</a:t>
            </a:r>
          </a:p>
          <a:p>
            <a:r>
              <a:rPr lang="en-US" sz="1800"/>
              <a:t>        print()</a:t>
            </a:r>
          </a:p>
          <a:p>
            <a:endParaRPr lang="en-US" sz="1800"/>
          </a:p>
          <a:p>
            <a:endParaRPr lang="en-US" sz="1800"/>
          </a:p>
        </p:txBody>
      </p:sp>
      <p:sp>
        <p:nvSpPr>
          <p:cNvPr id="6" name="TextBox 5">
            <a:extLst>
              <a:ext uri="{FF2B5EF4-FFF2-40B4-BE49-F238E27FC236}">
                <a16:creationId xmlns:a16="http://schemas.microsoft.com/office/drawing/2014/main" id="{E199E269-948D-451D-87DE-3D1784AF8068}"/>
              </a:ext>
            </a:extLst>
          </p:cNvPr>
          <p:cNvSpPr txBox="1"/>
          <p:nvPr/>
        </p:nvSpPr>
        <p:spPr>
          <a:xfrm>
            <a:off x="4705612" y="1858119"/>
            <a:ext cx="4572000" cy="2308324"/>
          </a:xfrm>
          <a:prstGeom prst="rect">
            <a:avLst/>
          </a:prstGeom>
          <a:noFill/>
        </p:spPr>
        <p:txBody>
          <a:bodyPr wrap="square">
            <a:spAutoFit/>
          </a:bodyPr>
          <a:lstStyle/>
          <a:p>
            <a:r>
              <a:rPr lang="en-US" sz="1800"/>
              <a:t>so_dong = int(input("Nhập số dòng của ma trận: "))</a:t>
            </a:r>
          </a:p>
          <a:p>
            <a:r>
              <a:rPr lang="en-US" sz="1800"/>
              <a:t>so_cot = int(input("Nhập số cột của ma trận: "))</a:t>
            </a:r>
          </a:p>
          <a:p>
            <a:endParaRPr lang="en-US" sz="1800"/>
          </a:p>
          <a:p>
            <a:r>
              <a:rPr lang="en-US" sz="1800"/>
              <a:t>ma_tran = nhap_ma_tran(so_dong, so_cot)</a:t>
            </a:r>
          </a:p>
          <a:p>
            <a:endParaRPr lang="en-US" sz="1800"/>
          </a:p>
          <a:p>
            <a:r>
              <a:rPr lang="en-US" sz="1800"/>
              <a:t>print("Ma trận vừa nhập:")</a:t>
            </a:r>
          </a:p>
          <a:p>
            <a:r>
              <a:rPr lang="en-US" sz="1800"/>
              <a:t>xuat_ma_tran(ma_tran)</a:t>
            </a:r>
          </a:p>
        </p:txBody>
      </p:sp>
      <p:sp>
        <p:nvSpPr>
          <p:cNvPr id="7" name="TextBox 6">
            <a:extLst>
              <a:ext uri="{FF2B5EF4-FFF2-40B4-BE49-F238E27FC236}">
                <a16:creationId xmlns:a16="http://schemas.microsoft.com/office/drawing/2014/main" id="{54793EB3-EABE-4428-AF2A-C77E993A49C2}"/>
              </a:ext>
            </a:extLst>
          </p:cNvPr>
          <p:cNvSpPr txBox="1"/>
          <p:nvPr/>
        </p:nvSpPr>
        <p:spPr>
          <a:xfrm>
            <a:off x="293319" y="1143000"/>
            <a:ext cx="8343899" cy="400110"/>
          </a:xfrm>
          <a:prstGeom prst="rect">
            <a:avLst/>
          </a:prstGeom>
          <a:noFill/>
        </p:spPr>
        <p:txBody>
          <a:bodyPr wrap="square" rtlCol="0">
            <a:spAutoFit/>
          </a:bodyPr>
          <a:lstStyle/>
          <a:p>
            <a:r>
              <a:rPr lang="en-US" sz="2000" b="1"/>
              <a:t>Cách khác: nhưng các phần tử của ma trận in ra cách nhau ký tự tab</a:t>
            </a:r>
          </a:p>
        </p:txBody>
      </p:sp>
    </p:spTree>
    <p:extLst>
      <p:ext uri="{BB962C8B-B14F-4D97-AF65-F5344CB8AC3E}">
        <p14:creationId xmlns:p14="http://schemas.microsoft.com/office/powerpoint/2010/main" val="733795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Các hàm liên quan đến list</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86DC5BDE-A378-E053-00D3-B10A8F843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1159495"/>
            <a:ext cx="9144000" cy="5393705"/>
          </a:xfrm>
          <a:prstGeom prst="rect">
            <a:avLst/>
          </a:prstGeom>
        </p:spPr>
      </p:pic>
    </p:spTree>
    <p:extLst>
      <p:ext uri="{BB962C8B-B14F-4D97-AF65-F5344CB8AC3E}">
        <p14:creationId xmlns:p14="http://schemas.microsoft.com/office/powerpoint/2010/main" val="1589515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342900" y="1664494"/>
            <a:ext cx="8572500" cy="44315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US" sz="240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D9607B39-CD8B-B5CA-F014-4908162DA6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19200"/>
            <a:ext cx="9144000" cy="5181600"/>
          </a:xfrm>
          <a:prstGeom prst="rect">
            <a:avLst/>
          </a:prstGeom>
        </p:spPr>
      </p:pic>
    </p:spTree>
    <p:extLst>
      <p:ext uri="{BB962C8B-B14F-4D97-AF65-F5344CB8AC3E}">
        <p14:creationId xmlns:p14="http://schemas.microsoft.com/office/powerpoint/2010/main" val="499397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342900" y="1664494"/>
            <a:ext cx="8572500" cy="44315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endParaRPr lang="en-US" sz="2400">
              <a:latin typeface="Times New Roman" pitchFamily="18" charset="0"/>
              <a:cs typeface="Times New Roman" pitchFamily="18" charset="0"/>
            </a:endParaRPr>
          </a:p>
        </p:txBody>
      </p:sp>
      <p:pic>
        <p:nvPicPr>
          <p:cNvPr id="9" name="Picture 8">
            <a:extLst>
              <a:ext uri="{FF2B5EF4-FFF2-40B4-BE49-F238E27FC236}">
                <a16:creationId xmlns:a16="http://schemas.microsoft.com/office/drawing/2014/main" id="{ADE00EE2-3B60-9D12-CF41-3DE8960070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19200"/>
            <a:ext cx="9144000" cy="4962876"/>
          </a:xfrm>
          <a:prstGeom prst="rect">
            <a:avLst/>
          </a:prstGeom>
        </p:spPr>
      </p:pic>
    </p:spTree>
    <p:extLst>
      <p:ext uri="{BB962C8B-B14F-4D97-AF65-F5344CB8AC3E}">
        <p14:creationId xmlns:p14="http://schemas.microsoft.com/office/powerpoint/2010/main" val="3263731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82378" y="1428751"/>
            <a:ext cx="5947172" cy="1428749"/>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3300" kern="0">
                <a:solidFill>
                  <a:srgbClr val="002060"/>
                </a:solidFill>
                <a:latin typeface="Cambria" panose="02040503050406030204" pitchFamily="18" charset="0"/>
                <a:ea typeface="Cambria" panose="02040503050406030204" pitchFamily="18" charset="0"/>
              </a:rPr>
              <a:t>XỬ LÝ CHUỖI</a:t>
            </a:r>
            <a:endParaRPr lang="en-US" sz="3600" kern="0">
              <a:solidFill>
                <a:schemeClr val="tx1"/>
              </a:solidFill>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a:xfrm>
            <a:off x="9347200" y="6467476"/>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rgbClr val="002060"/>
                </a:solidFill>
                <a:latin typeface="Cambria" panose="0204050305040603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Trang </a:t>
            </a:r>
            <a:fld id="{99166BD8-DA3C-4BE0-9C00-AA0485D1F6DE}" type="slidenum">
              <a:rPr lang="en-US" smtClean="0"/>
              <a:pPr/>
              <a:t>19</a:t>
            </a:fld>
            <a:endParaRPr lang="en-US"/>
          </a:p>
        </p:txBody>
      </p:sp>
      <p:pic>
        <p:nvPicPr>
          <p:cNvPr id="6" name="Picture 2" descr="Image result for Python">
            <a:extLst>
              <a:ext uri="{FF2B5EF4-FFF2-40B4-BE49-F238E27FC236}">
                <a16:creationId xmlns:a16="http://schemas.microsoft.com/office/drawing/2014/main" id="{920AE674-81F7-47A5-8E7E-15E96F18A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8951" y="3028950"/>
            <a:ext cx="3876767" cy="1957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59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69194"/>
            <a:ext cx="3465432" cy="381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latin typeface="Cambria" panose="02040503050406030204" pitchFamily="18" charset="0"/>
                </a:rPr>
                <a:t>Mục tiêu bài học</a:t>
              </a:r>
              <a:endParaRPr lang="en-US" sz="21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77108" y="1752600"/>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57175" indent="-257175" algn="just">
              <a:lnSpc>
                <a:spcPct val="150000"/>
              </a:lnSpc>
              <a:spcBef>
                <a:spcPts val="0"/>
              </a:spcBef>
              <a:spcAft>
                <a:spcPts val="0"/>
              </a:spcAft>
              <a:buFont typeface="Times New Roman" panose="02020603050405020304" pitchFamily="18" charset="0"/>
              <a:buChar char="-"/>
            </a:pPr>
            <a:r>
              <a:rPr lang="en-US" sz="2100">
                <a:latin typeface="Cambria" panose="02040503050406030204" pitchFamily="18" charset="0"/>
                <a:ea typeface="Cambria" panose="02040503050406030204" pitchFamily="18" charset="0"/>
              </a:rPr>
              <a:t>Hiểu được khái niệm và cấu trúc của chuỗi</a:t>
            </a:r>
          </a:p>
          <a:p>
            <a:pPr marL="257175" indent="-257175" algn="just">
              <a:lnSpc>
                <a:spcPct val="150000"/>
              </a:lnSpc>
              <a:spcBef>
                <a:spcPts val="0"/>
              </a:spcBef>
              <a:spcAft>
                <a:spcPts val="0"/>
              </a:spcAft>
              <a:buFont typeface="Times New Roman" panose="02020603050405020304" pitchFamily="18" charset="0"/>
              <a:buChar char="-"/>
            </a:pPr>
            <a:r>
              <a:rPr lang="en-US" sz="2100">
                <a:latin typeface="Cambria" panose="02040503050406030204" pitchFamily="18" charset="0"/>
                <a:ea typeface="Cambria" panose="02040503050406030204" pitchFamily="18" charset="0"/>
              </a:rPr>
              <a:t>Thực hiện được các hàm in hoa , in thường</a:t>
            </a:r>
          </a:p>
          <a:p>
            <a:pPr marL="257175" indent="-257175" algn="just">
              <a:lnSpc>
                <a:spcPct val="150000"/>
              </a:lnSpc>
              <a:spcBef>
                <a:spcPts val="0"/>
              </a:spcBef>
              <a:spcAft>
                <a:spcPts val="0"/>
              </a:spcAft>
              <a:buFont typeface="Times New Roman" panose="02020603050405020304" pitchFamily="18" charset="0"/>
              <a:buChar char="-"/>
            </a:pPr>
            <a:r>
              <a:rPr lang="en-US" sz="2100">
                <a:latin typeface="Cambria" panose="02040503050406030204" pitchFamily="18" charset="0"/>
                <a:ea typeface="Cambria" panose="02040503050406030204" pitchFamily="18" charset="0"/>
              </a:rPr>
              <a:t>Thực hiện được các hàm căn lề, xóa khoảng trắng</a:t>
            </a:r>
          </a:p>
          <a:p>
            <a:pPr marL="257175" indent="-257175" algn="just">
              <a:lnSpc>
                <a:spcPct val="150000"/>
              </a:lnSpc>
              <a:spcBef>
                <a:spcPts val="0"/>
              </a:spcBef>
              <a:spcAft>
                <a:spcPts val="0"/>
              </a:spcAft>
              <a:buFont typeface="Times New Roman" panose="02020603050405020304" pitchFamily="18" charset="0"/>
              <a:buChar char="-"/>
            </a:pPr>
            <a:r>
              <a:rPr lang="en-US" sz="2100">
                <a:latin typeface="Cambria" panose="02040503050406030204" pitchFamily="18" charset="0"/>
                <a:ea typeface="Cambria" panose="02040503050406030204" pitchFamily="18" charset="0"/>
              </a:rPr>
              <a:t>Thực hiện được các hàm tìm kiếm</a:t>
            </a:r>
          </a:p>
          <a:p>
            <a:pPr marL="257175" indent="-257175" algn="just">
              <a:lnSpc>
                <a:spcPct val="150000"/>
              </a:lnSpc>
              <a:spcBef>
                <a:spcPts val="0"/>
              </a:spcBef>
              <a:spcAft>
                <a:spcPts val="0"/>
              </a:spcAft>
              <a:buFont typeface="Times New Roman" panose="02020603050405020304" pitchFamily="18" charset="0"/>
              <a:buChar char="-"/>
            </a:pPr>
            <a:r>
              <a:rPr lang="en-US" sz="2100">
                <a:latin typeface="Cambria" panose="02040503050406030204" pitchFamily="18" charset="0"/>
                <a:ea typeface="Cambria" panose="02040503050406030204" pitchFamily="18" charset="0"/>
              </a:rPr>
              <a:t>Thực hiện được các hàm định dạng</a:t>
            </a:r>
          </a:p>
          <a:p>
            <a:pPr marL="257175" indent="-257175" algn="just">
              <a:lnSpc>
                <a:spcPct val="150000"/>
              </a:lnSpc>
              <a:spcBef>
                <a:spcPts val="0"/>
              </a:spcBef>
              <a:spcAft>
                <a:spcPts val="0"/>
              </a:spcAft>
              <a:buFont typeface="Times New Roman" panose="02020603050405020304" pitchFamily="18" charset="0"/>
              <a:buChar char="-"/>
            </a:pPr>
            <a:r>
              <a:rPr lang="en-US" sz="2100">
                <a:latin typeface="Cambria" panose="02040503050406030204" pitchFamily="18" charset="0"/>
                <a:ea typeface="Cambria" panose="02040503050406030204" pitchFamily="18" charset="0"/>
              </a:rPr>
              <a:t>Thực hiện được các hàm tách chuỗi và nối chuỗi</a:t>
            </a:r>
          </a:p>
        </p:txBody>
      </p:sp>
    </p:spTree>
    <p:extLst>
      <p:ext uri="{BB962C8B-B14F-4D97-AF65-F5344CB8AC3E}">
        <p14:creationId xmlns:p14="http://schemas.microsoft.com/office/powerpoint/2010/main" val="3162248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087111"/>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latin typeface="Cambria" panose="02040503050406030204" pitchFamily="18" charset="0"/>
                  <a:ea typeface="Cambria" panose="02040503050406030204" pitchFamily="18" charset="0"/>
                </a:rPr>
                <a:t>5.1.</a:t>
              </a:r>
              <a:r>
                <a:rPr lang="en-US" sz="2100" b="1" i="1">
                  <a:latin typeface="Cambria" panose="02040503050406030204" pitchFamily="18" charset="0"/>
                  <a:ea typeface="Cambria" panose="02040503050406030204" pitchFamily="18" charset="0"/>
                </a:rPr>
                <a:t> </a:t>
              </a:r>
              <a:r>
                <a:rPr lang="vi-VN" sz="2100" b="1" i="1">
                  <a:latin typeface="Cambria" panose="02040503050406030204" pitchFamily="18" charset="0"/>
                  <a:ea typeface="Cambria" panose="02040503050406030204" pitchFamily="18" charset="0"/>
                </a:rPr>
                <a:t>Khái niệm và cấu trúc của chuỗi</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45191" y="150747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Chuỗi là tập các ký tự nằm trong nháy đ</a:t>
            </a:r>
            <a:r>
              <a:rPr lang="vi-VN" sz="1800">
                <a:latin typeface="Cambria" panose="02040503050406030204" pitchFamily="18" charset="0"/>
                <a:cs typeface="Times New Roman" pitchFamily="18" charset="0"/>
              </a:rPr>
              <a:t>ơ</a:t>
            </a:r>
            <a:r>
              <a:rPr lang="en-US" sz="1800">
                <a:latin typeface="Cambria" panose="02040503050406030204" pitchFamily="18" charset="0"/>
                <a:cs typeface="Times New Roman" pitchFamily="18" charset="0"/>
              </a:rPr>
              <a:t>n hoặc nháy đôi, hoặc 3 nháy đ</a:t>
            </a:r>
            <a:r>
              <a:rPr lang="vi-VN" sz="1800">
                <a:latin typeface="Cambria" panose="02040503050406030204" pitchFamily="18" charset="0"/>
                <a:cs typeface="Times New Roman" pitchFamily="18" charset="0"/>
              </a:rPr>
              <a:t>ơ</a:t>
            </a:r>
            <a:r>
              <a:rPr lang="en-US" sz="1800">
                <a:latin typeface="Cambria" panose="02040503050406030204" pitchFamily="18" charset="0"/>
                <a:cs typeface="Times New Roman" pitchFamily="18" charset="0"/>
              </a:rPr>
              <a:t>n hoặc 3 nháy đôi. Chuỗi rất quan trọng trong mọi ngôn ngữ, hầu hết ta đều gặp xử lý chuỗi</a:t>
            </a:r>
          </a:p>
        </p:txBody>
      </p:sp>
      <p:pic>
        <p:nvPicPr>
          <p:cNvPr id="16" name="Picture 15">
            <a:extLst>
              <a:ext uri="{FF2B5EF4-FFF2-40B4-BE49-F238E27FC236}">
                <a16:creationId xmlns:a16="http://schemas.microsoft.com/office/drawing/2014/main" id="{EB1BB047-D9E1-4199-A1C9-027B8E271B8D}"/>
              </a:ext>
            </a:extLst>
          </p:cNvPr>
          <p:cNvPicPr>
            <a:picLocks noChangeAspect="1"/>
          </p:cNvPicPr>
          <p:nvPr/>
        </p:nvPicPr>
        <p:blipFill>
          <a:blip r:embed="rId3"/>
          <a:stretch>
            <a:fillRect/>
          </a:stretch>
        </p:blipFill>
        <p:spPr>
          <a:xfrm>
            <a:off x="207090" y="2523940"/>
            <a:ext cx="4500563" cy="3264694"/>
          </a:xfrm>
          <a:prstGeom prst="rect">
            <a:avLst/>
          </a:prstGeom>
        </p:spPr>
      </p:pic>
      <p:pic>
        <p:nvPicPr>
          <p:cNvPr id="17" name="Picture 16">
            <a:extLst>
              <a:ext uri="{FF2B5EF4-FFF2-40B4-BE49-F238E27FC236}">
                <a16:creationId xmlns:a16="http://schemas.microsoft.com/office/drawing/2014/main" id="{E3C3FE98-8E95-4831-9F9B-11014AA10215}"/>
              </a:ext>
            </a:extLst>
          </p:cNvPr>
          <p:cNvPicPr>
            <a:picLocks noChangeAspect="1"/>
          </p:cNvPicPr>
          <p:nvPr/>
        </p:nvPicPr>
        <p:blipFill>
          <a:blip r:embed="rId4"/>
          <a:stretch>
            <a:fillRect/>
          </a:stretch>
        </p:blipFill>
        <p:spPr>
          <a:xfrm>
            <a:off x="5276928" y="3068497"/>
            <a:ext cx="3736181" cy="2357438"/>
          </a:xfrm>
          <a:prstGeom prst="rect">
            <a:avLst/>
          </a:prstGeom>
          <a:ln>
            <a:solidFill>
              <a:schemeClr val="accent1"/>
            </a:solidFill>
          </a:ln>
        </p:spPr>
      </p:pic>
      <p:sp>
        <p:nvSpPr>
          <p:cNvPr id="11" name="Arrow: Right 10">
            <a:extLst>
              <a:ext uri="{FF2B5EF4-FFF2-40B4-BE49-F238E27FC236}">
                <a16:creationId xmlns:a16="http://schemas.microsoft.com/office/drawing/2014/main" id="{934218AE-6E45-48CE-B222-BE6C4C82FA0C}"/>
              </a:ext>
            </a:extLst>
          </p:cNvPr>
          <p:cNvSpPr/>
          <p:nvPr/>
        </p:nvSpPr>
        <p:spPr>
          <a:xfrm>
            <a:off x="4372047" y="3383639"/>
            <a:ext cx="904881" cy="4572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878658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342900" y="1664494"/>
            <a:ext cx="497205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Chuỗi trong Python cũng là đối t</a:t>
            </a:r>
            <a:r>
              <a:rPr lang="vi-VN" sz="1800">
                <a:latin typeface="Cambria" panose="02040503050406030204" pitchFamily="18" charset="0"/>
                <a:cs typeface="Times New Roman" pitchFamily="18" charset="0"/>
              </a:rPr>
              <a:t>ư</a:t>
            </a:r>
            <a:r>
              <a:rPr lang="en-US" sz="1800">
                <a:latin typeface="Cambria" panose="02040503050406030204" pitchFamily="18" charset="0"/>
                <a:cs typeface="Times New Roman" pitchFamily="18" charset="0"/>
              </a:rPr>
              <a:t>ợng, nó cung cấp một số hàm rất quan trọng:</a:t>
            </a:r>
          </a:p>
        </p:txBody>
      </p:sp>
      <p:pic>
        <p:nvPicPr>
          <p:cNvPr id="8" name="Picture 7">
            <a:extLst>
              <a:ext uri="{FF2B5EF4-FFF2-40B4-BE49-F238E27FC236}">
                <a16:creationId xmlns:a16="http://schemas.microsoft.com/office/drawing/2014/main" id="{2C135777-4199-4A95-A0C9-9ABC5F41FF17}"/>
              </a:ext>
            </a:extLst>
          </p:cNvPr>
          <p:cNvPicPr>
            <a:picLocks noChangeAspect="1"/>
          </p:cNvPicPr>
          <p:nvPr/>
        </p:nvPicPr>
        <p:blipFill>
          <a:blip r:embed="rId3"/>
          <a:stretch>
            <a:fillRect/>
          </a:stretch>
        </p:blipFill>
        <p:spPr>
          <a:xfrm>
            <a:off x="5137289" y="1672736"/>
            <a:ext cx="3743325" cy="628650"/>
          </a:xfrm>
          <a:prstGeom prst="rect">
            <a:avLst/>
          </a:prstGeom>
        </p:spPr>
      </p:pic>
      <p:graphicFrame>
        <p:nvGraphicFramePr>
          <p:cNvPr id="9" name="Table 8">
            <a:extLst>
              <a:ext uri="{FF2B5EF4-FFF2-40B4-BE49-F238E27FC236}">
                <a16:creationId xmlns:a16="http://schemas.microsoft.com/office/drawing/2014/main" id="{B7E92CB5-58AD-48CC-9B97-022617C12A6C}"/>
              </a:ext>
            </a:extLst>
          </p:cNvPr>
          <p:cNvGraphicFramePr>
            <a:graphicFrameLocks noGrp="1"/>
          </p:cNvGraphicFramePr>
          <p:nvPr/>
        </p:nvGraphicFramePr>
        <p:xfrm>
          <a:off x="360682" y="2309627"/>
          <a:ext cx="8538293" cy="3566160"/>
        </p:xfrm>
        <a:graphic>
          <a:graphicData uri="http://schemas.openxmlformats.org/drawingml/2006/table">
            <a:tbl>
              <a:tblPr firstRow="1" bandRow="1">
                <a:tableStyleId>{5C22544A-7EE6-4342-B048-85BDC9FD1C3A}</a:tableStyleId>
              </a:tblPr>
              <a:tblGrid>
                <a:gridCol w="2023193">
                  <a:extLst>
                    <a:ext uri="{9D8B030D-6E8A-4147-A177-3AD203B41FA5}">
                      <a16:colId xmlns:a16="http://schemas.microsoft.com/office/drawing/2014/main" val="3110113687"/>
                    </a:ext>
                  </a:extLst>
                </a:gridCol>
                <a:gridCol w="6515100">
                  <a:extLst>
                    <a:ext uri="{9D8B030D-6E8A-4147-A177-3AD203B41FA5}">
                      <a16:colId xmlns:a16="http://schemas.microsoft.com/office/drawing/2014/main" val="4146039144"/>
                    </a:ext>
                  </a:extLst>
                </a:gridCol>
              </a:tblGrid>
              <a:tr h="297180">
                <a:tc>
                  <a:txBody>
                    <a:bodyPr/>
                    <a:lstStyle/>
                    <a:p>
                      <a:pPr algn="ctr"/>
                      <a:r>
                        <a:rPr lang="en-US" sz="1500">
                          <a:latin typeface="Cambria" panose="02040503050406030204" pitchFamily="18" charset="0"/>
                        </a:rPr>
                        <a:t>Tên hàm</a:t>
                      </a:r>
                    </a:p>
                  </a:txBody>
                  <a:tcPr marL="68580" marR="68580" marT="34290" marB="34290"/>
                </a:tc>
                <a:tc>
                  <a:txBody>
                    <a:bodyPr/>
                    <a:lstStyle/>
                    <a:p>
                      <a:pPr algn="ctr"/>
                      <a:r>
                        <a:rPr lang="en-US" sz="1500">
                          <a:latin typeface="Cambria" panose="02040503050406030204" pitchFamily="18" charset="0"/>
                        </a:rPr>
                        <a:t>Mô tả</a:t>
                      </a:r>
                    </a:p>
                  </a:txBody>
                  <a:tcPr marL="68580" marR="68580" marT="34290" marB="34290"/>
                </a:tc>
                <a:extLst>
                  <a:ext uri="{0D108BD9-81ED-4DB2-BD59-A6C34878D82A}">
                    <a16:rowId xmlns:a16="http://schemas.microsoft.com/office/drawing/2014/main" val="2869370476"/>
                  </a:ext>
                </a:extLst>
              </a:tr>
              <a:tr h="297180">
                <a:tc>
                  <a:txBody>
                    <a:bodyPr/>
                    <a:lstStyle/>
                    <a:p>
                      <a:r>
                        <a:rPr lang="en-US" sz="1500">
                          <a:solidFill>
                            <a:schemeClr val="tx1"/>
                          </a:solidFill>
                          <a:latin typeface="Cambria" panose="02040503050406030204" pitchFamily="18" charset="0"/>
                        </a:rPr>
                        <a:t>upper, lower</a:t>
                      </a:r>
                    </a:p>
                  </a:txBody>
                  <a:tcPr marL="68580" marR="68580" marT="34290" marB="34290"/>
                </a:tc>
                <a:tc>
                  <a:txBody>
                    <a:bodyPr/>
                    <a:lstStyle/>
                    <a:p>
                      <a:r>
                        <a:rPr lang="en-US" sz="1500">
                          <a:solidFill>
                            <a:schemeClr val="tx1"/>
                          </a:solidFill>
                          <a:latin typeface="Cambria" panose="02040503050406030204" pitchFamily="18" charset="0"/>
                        </a:rPr>
                        <a:t>Xử lý in Hoa, in th</a:t>
                      </a:r>
                      <a:r>
                        <a:rPr lang="vi-VN" sz="1500">
                          <a:solidFill>
                            <a:schemeClr val="tx1"/>
                          </a:solidFill>
                          <a:latin typeface="Cambria" panose="02040503050406030204" pitchFamily="18" charset="0"/>
                        </a:rPr>
                        <a:t>ư</a:t>
                      </a:r>
                      <a:r>
                        <a:rPr lang="en-US" sz="1500">
                          <a:solidFill>
                            <a:schemeClr val="tx1"/>
                          </a:solidFill>
                          <a:latin typeface="Cambria" panose="02040503050406030204" pitchFamily="18" charset="0"/>
                        </a:rPr>
                        <a:t>ờng</a:t>
                      </a:r>
                    </a:p>
                  </a:txBody>
                  <a:tcPr marL="68580" marR="68580" marT="34290" marB="34290"/>
                </a:tc>
                <a:extLst>
                  <a:ext uri="{0D108BD9-81ED-4DB2-BD59-A6C34878D82A}">
                    <a16:rowId xmlns:a16="http://schemas.microsoft.com/office/drawing/2014/main" val="1213219265"/>
                  </a:ext>
                </a:extLst>
              </a:tr>
              <a:tr h="297180">
                <a:tc>
                  <a:txBody>
                    <a:bodyPr/>
                    <a:lstStyle/>
                    <a:p>
                      <a:r>
                        <a:rPr lang="en-US" sz="1500">
                          <a:solidFill>
                            <a:schemeClr val="tx1"/>
                          </a:solidFill>
                          <a:latin typeface="Cambria" panose="02040503050406030204" pitchFamily="18" charset="0"/>
                        </a:rPr>
                        <a:t>rjust</a:t>
                      </a:r>
                    </a:p>
                  </a:txBody>
                  <a:tcPr marL="68580" marR="68580" marT="34290" marB="34290"/>
                </a:tc>
                <a:tc>
                  <a:txBody>
                    <a:bodyPr/>
                    <a:lstStyle/>
                    <a:p>
                      <a:r>
                        <a:rPr lang="en-US" sz="1500">
                          <a:solidFill>
                            <a:schemeClr val="tx1"/>
                          </a:solidFill>
                          <a:latin typeface="Cambria" panose="02040503050406030204" pitchFamily="18" charset="0"/>
                        </a:rPr>
                        <a:t>Căn lề phải</a:t>
                      </a:r>
                    </a:p>
                  </a:txBody>
                  <a:tcPr marL="68580" marR="68580" marT="34290" marB="34290"/>
                </a:tc>
                <a:extLst>
                  <a:ext uri="{0D108BD9-81ED-4DB2-BD59-A6C34878D82A}">
                    <a16:rowId xmlns:a16="http://schemas.microsoft.com/office/drawing/2014/main" val="3565419507"/>
                  </a:ext>
                </a:extLst>
              </a:tr>
              <a:tr h="297180">
                <a:tc>
                  <a:txBody>
                    <a:bodyPr/>
                    <a:lstStyle/>
                    <a:p>
                      <a:r>
                        <a:rPr lang="en-US" sz="1500">
                          <a:solidFill>
                            <a:schemeClr val="tx1"/>
                          </a:solidFill>
                          <a:latin typeface="Cambria" panose="02040503050406030204" pitchFamily="18" charset="0"/>
                        </a:rPr>
                        <a:t>ljust</a:t>
                      </a:r>
                    </a:p>
                  </a:txBody>
                  <a:tcPr marL="68580" marR="68580" marT="34290" marB="34290"/>
                </a:tc>
                <a:tc>
                  <a:txBody>
                    <a:bodyPr/>
                    <a:lstStyle/>
                    <a:p>
                      <a:r>
                        <a:rPr lang="en-US" sz="1500">
                          <a:solidFill>
                            <a:schemeClr val="tx1"/>
                          </a:solidFill>
                          <a:latin typeface="Cambria" panose="02040503050406030204" pitchFamily="18" charset="0"/>
                        </a:rPr>
                        <a:t>Căn lề trái</a:t>
                      </a:r>
                    </a:p>
                  </a:txBody>
                  <a:tcPr marL="68580" marR="68580" marT="34290" marB="34290"/>
                </a:tc>
                <a:extLst>
                  <a:ext uri="{0D108BD9-81ED-4DB2-BD59-A6C34878D82A}">
                    <a16:rowId xmlns:a16="http://schemas.microsoft.com/office/drawing/2014/main" val="735770736"/>
                  </a:ext>
                </a:extLst>
              </a:tr>
              <a:tr h="297180">
                <a:tc>
                  <a:txBody>
                    <a:bodyPr/>
                    <a:lstStyle/>
                    <a:p>
                      <a:r>
                        <a:rPr lang="en-US" sz="1500">
                          <a:solidFill>
                            <a:schemeClr val="tx1"/>
                          </a:solidFill>
                          <a:latin typeface="Cambria" panose="02040503050406030204" pitchFamily="18" charset="0"/>
                        </a:rPr>
                        <a:t>center</a:t>
                      </a:r>
                    </a:p>
                  </a:txBody>
                  <a:tcPr marL="68580" marR="68580" marT="34290" marB="34290"/>
                </a:tc>
                <a:tc>
                  <a:txBody>
                    <a:bodyPr/>
                    <a:lstStyle/>
                    <a:p>
                      <a:r>
                        <a:rPr lang="en-US" sz="1500">
                          <a:solidFill>
                            <a:schemeClr val="tx1"/>
                          </a:solidFill>
                          <a:latin typeface="Cambria" panose="02040503050406030204" pitchFamily="18" charset="0"/>
                        </a:rPr>
                        <a:t>Căn gữa</a:t>
                      </a:r>
                    </a:p>
                  </a:txBody>
                  <a:tcPr marL="68580" marR="68580" marT="34290" marB="34290"/>
                </a:tc>
                <a:extLst>
                  <a:ext uri="{0D108BD9-81ED-4DB2-BD59-A6C34878D82A}">
                    <a16:rowId xmlns:a16="http://schemas.microsoft.com/office/drawing/2014/main" val="3652983700"/>
                  </a:ext>
                </a:extLst>
              </a:tr>
              <a:tr h="297180">
                <a:tc>
                  <a:txBody>
                    <a:bodyPr/>
                    <a:lstStyle/>
                    <a:p>
                      <a:r>
                        <a:rPr lang="en-US" sz="1500">
                          <a:solidFill>
                            <a:schemeClr val="tx1"/>
                          </a:solidFill>
                          <a:latin typeface="Cambria" panose="02040503050406030204" pitchFamily="18" charset="0"/>
                        </a:rPr>
                        <a:t>strip</a:t>
                      </a:r>
                    </a:p>
                  </a:txBody>
                  <a:tcPr marL="68580" marR="68580" marT="34290" marB="34290"/>
                </a:tc>
                <a:tc>
                  <a:txBody>
                    <a:bodyPr/>
                    <a:lstStyle/>
                    <a:p>
                      <a:r>
                        <a:rPr lang="en-US" sz="1500">
                          <a:solidFill>
                            <a:schemeClr val="tx1"/>
                          </a:solidFill>
                          <a:latin typeface="Cambria" panose="02040503050406030204" pitchFamily="18" charset="0"/>
                        </a:rPr>
                        <a:t>Xóa khoảng trắng d</a:t>
                      </a:r>
                      <a:r>
                        <a:rPr lang="vi-VN" sz="1500">
                          <a:solidFill>
                            <a:schemeClr val="tx1"/>
                          </a:solidFill>
                          <a:latin typeface="Cambria" panose="02040503050406030204" pitchFamily="18" charset="0"/>
                        </a:rPr>
                        <a:t>ư</a:t>
                      </a:r>
                      <a:r>
                        <a:rPr lang="en-US" sz="1500">
                          <a:solidFill>
                            <a:schemeClr val="tx1"/>
                          </a:solidFill>
                          <a:latin typeface="Cambria" panose="02040503050406030204" pitchFamily="18" charset="0"/>
                        </a:rPr>
                        <a:t> thừa </a:t>
                      </a:r>
                    </a:p>
                  </a:txBody>
                  <a:tcPr marL="68580" marR="68580" marT="34290" marB="34290"/>
                </a:tc>
                <a:extLst>
                  <a:ext uri="{0D108BD9-81ED-4DB2-BD59-A6C34878D82A}">
                    <a16:rowId xmlns:a16="http://schemas.microsoft.com/office/drawing/2014/main" val="3771858694"/>
                  </a:ext>
                </a:extLst>
              </a:tr>
              <a:tr h="297180">
                <a:tc>
                  <a:txBody>
                    <a:bodyPr/>
                    <a:lstStyle/>
                    <a:p>
                      <a:r>
                        <a:rPr lang="en-US" sz="1500">
                          <a:solidFill>
                            <a:schemeClr val="tx1"/>
                          </a:solidFill>
                          <a:latin typeface="Cambria" panose="02040503050406030204" pitchFamily="18" charset="0"/>
                        </a:rPr>
                        <a:t>startswith</a:t>
                      </a:r>
                    </a:p>
                  </a:txBody>
                  <a:tcPr marL="68580" marR="68580" marT="34290" marB="34290"/>
                </a:tc>
                <a:tc>
                  <a:txBody>
                    <a:bodyPr/>
                    <a:lstStyle/>
                    <a:p>
                      <a:r>
                        <a:rPr lang="en-US" sz="1500">
                          <a:solidFill>
                            <a:schemeClr val="tx1"/>
                          </a:solidFill>
                          <a:latin typeface="Cambria" panose="02040503050406030204" pitchFamily="18" charset="0"/>
                        </a:rPr>
                        <a:t>Kiểm tra Chuỗi có phải bắt đầu là ký tự ?</a:t>
                      </a:r>
                    </a:p>
                  </a:txBody>
                  <a:tcPr marL="68580" marR="68580" marT="34290" marB="34290"/>
                </a:tc>
                <a:extLst>
                  <a:ext uri="{0D108BD9-81ED-4DB2-BD59-A6C34878D82A}">
                    <a16:rowId xmlns:a16="http://schemas.microsoft.com/office/drawing/2014/main" val="2527169541"/>
                  </a:ext>
                </a:extLst>
              </a:tr>
              <a:tr h="297180">
                <a:tc>
                  <a:txBody>
                    <a:bodyPr/>
                    <a:lstStyle/>
                    <a:p>
                      <a:r>
                        <a:rPr lang="en-US" sz="1500">
                          <a:solidFill>
                            <a:schemeClr val="tx1"/>
                          </a:solidFill>
                          <a:latin typeface="Cambria" panose="02040503050406030204" pitchFamily="18" charset="0"/>
                        </a:rPr>
                        <a:t>endswith</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latin typeface="Cambria" panose="02040503050406030204" pitchFamily="18" charset="0"/>
                        </a:rPr>
                        <a:t>Kiểm tra Chuỗi có phải kết thúc là ký tự ?</a:t>
                      </a:r>
                    </a:p>
                  </a:txBody>
                  <a:tcPr marL="68580" marR="68580" marT="34290" marB="34290"/>
                </a:tc>
                <a:extLst>
                  <a:ext uri="{0D108BD9-81ED-4DB2-BD59-A6C34878D82A}">
                    <a16:rowId xmlns:a16="http://schemas.microsoft.com/office/drawing/2014/main" val="707216147"/>
                  </a:ext>
                </a:extLst>
              </a:tr>
              <a:tr h="297180">
                <a:tc>
                  <a:txBody>
                    <a:bodyPr/>
                    <a:lstStyle/>
                    <a:p>
                      <a:r>
                        <a:rPr lang="en-US" sz="1500">
                          <a:solidFill>
                            <a:schemeClr val="tx1"/>
                          </a:solidFill>
                          <a:latin typeface="Cambria" panose="02040503050406030204" pitchFamily="18" charset="0"/>
                        </a:rPr>
                        <a:t>count</a:t>
                      </a:r>
                    </a:p>
                  </a:txBody>
                  <a:tcPr marL="68580" marR="68580" marT="34290" marB="34290"/>
                </a:tc>
                <a:tc>
                  <a:txBody>
                    <a:bodyPr/>
                    <a:lstStyle/>
                    <a:p>
                      <a:r>
                        <a:rPr lang="en-US" sz="1500">
                          <a:solidFill>
                            <a:schemeClr val="tx1"/>
                          </a:solidFill>
                          <a:latin typeface="Cambria" panose="02040503050406030204" pitchFamily="18" charset="0"/>
                        </a:rPr>
                        <a:t>Đếm số lần xuất hiện trong Chuỗi</a:t>
                      </a:r>
                    </a:p>
                  </a:txBody>
                  <a:tcPr marL="68580" marR="68580" marT="34290" marB="34290"/>
                </a:tc>
                <a:extLst>
                  <a:ext uri="{0D108BD9-81ED-4DB2-BD59-A6C34878D82A}">
                    <a16:rowId xmlns:a16="http://schemas.microsoft.com/office/drawing/2014/main" val="3698892118"/>
                  </a:ext>
                </a:extLst>
              </a:tr>
              <a:tr h="297180">
                <a:tc>
                  <a:txBody>
                    <a:bodyPr/>
                    <a:lstStyle/>
                    <a:p>
                      <a:r>
                        <a:rPr lang="en-US" sz="1500">
                          <a:solidFill>
                            <a:schemeClr val="tx1"/>
                          </a:solidFill>
                          <a:latin typeface="Cambria" panose="02040503050406030204" pitchFamily="18" charset="0"/>
                        </a:rPr>
                        <a:t>find</a:t>
                      </a:r>
                    </a:p>
                  </a:txBody>
                  <a:tcPr marL="68580" marR="68580" marT="34290" marB="34290"/>
                </a:tc>
                <a:tc>
                  <a:txBody>
                    <a:bodyPr/>
                    <a:lstStyle/>
                    <a:p>
                      <a:r>
                        <a:rPr lang="en-US" sz="1500">
                          <a:solidFill>
                            <a:schemeClr val="tx1"/>
                          </a:solidFill>
                          <a:latin typeface="Cambria" panose="02040503050406030204" pitchFamily="18" charset="0"/>
                        </a:rPr>
                        <a:t>Tìm kiếm Chuỗi con</a:t>
                      </a:r>
                    </a:p>
                  </a:txBody>
                  <a:tcPr marL="68580" marR="68580" marT="34290" marB="34290"/>
                </a:tc>
                <a:extLst>
                  <a:ext uri="{0D108BD9-81ED-4DB2-BD59-A6C34878D82A}">
                    <a16:rowId xmlns:a16="http://schemas.microsoft.com/office/drawing/2014/main" val="3139435532"/>
                  </a:ext>
                </a:extLst>
              </a:tr>
              <a:tr h="297180">
                <a:tc>
                  <a:txBody>
                    <a:bodyPr/>
                    <a:lstStyle/>
                    <a:p>
                      <a:r>
                        <a:rPr lang="en-US" sz="1500">
                          <a:solidFill>
                            <a:schemeClr val="tx1"/>
                          </a:solidFill>
                          <a:latin typeface="Cambria" panose="02040503050406030204" pitchFamily="18" charset="0"/>
                        </a:rPr>
                        <a:t>format</a:t>
                      </a:r>
                    </a:p>
                  </a:txBody>
                  <a:tcPr marL="68580" marR="68580" marT="34290" marB="34290"/>
                </a:tc>
                <a:tc>
                  <a:txBody>
                    <a:bodyPr/>
                    <a:lstStyle/>
                    <a:p>
                      <a:r>
                        <a:rPr lang="en-US" sz="1500">
                          <a:solidFill>
                            <a:schemeClr val="tx1"/>
                          </a:solidFill>
                          <a:latin typeface="Cambria" panose="02040503050406030204" pitchFamily="18" charset="0"/>
                        </a:rPr>
                        <a:t>Định dạng Chuỗi</a:t>
                      </a:r>
                    </a:p>
                  </a:txBody>
                  <a:tcPr marL="68580" marR="68580" marT="34290" marB="34290"/>
                </a:tc>
                <a:extLst>
                  <a:ext uri="{0D108BD9-81ED-4DB2-BD59-A6C34878D82A}">
                    <a16:rowId xmlns:a16="http://schemas.microsoft.com/office/drawing/2014/main" val="1901819594"/>
                  </a:ext>
                </a:extLst>
              </a:tr>
              <a:tr h="297180">
                <a:tc>
                  <a:txBody>
                    <a:bodyPr/>
                    <a:lstStyle/>
                    <a:p>
                      <a:r>
                        <a:rPr lang="en-US" sz="1500">
                          <a:solidFill>
                            <a:schemeClr val="tx1"/>
                          </a:solidFill>
                          <a:latin typeface="Cambria" panose="02040503050406030204" pitchFamily="18" charset="0"/>
                        </a:rPr>
                        <a:t>__len__()</a:t>
                      </a:r>
                    </a:p>
                  </a:txBody>
                  <a:tcPr marL="68580" marR="68580" marT="34290" marB="34290"/>
                </a:tc>
                <a:tc>
                  <a:txBody>
                    <a:bodyPr/>
                    <a:lstStyle/>
                    <a:p>
                      <a:r>
                        <a:rPr lang="en-US" sz="1500">
                          <a:solidFill>
                            <a:schemeClr val="tx1"/>
                          </a:solidFill>
                          <a:latin typeface="Cambria" panose="02040503050406030204" pitchFamily="18" charset="0"/>
                        </a:rPr>
                        <a:t>Trả về số l</a:t>
                      </a:r>
                      <a:r>
                        <a:rPr lang="vi-VN" sz="1500">
                          <a:solidFill>
                            <a:schemeClr val="tx1"/>
                          </a:solidFill>
                          <a:latin typeface="Cambria" panose="02040503050406030204" pitchFamily="18" charset="0"/>
                        </a:rPr>
                        <a:t>ư</a:t>
                      </a:r>
                      <a:r>
                        <a:rPr lang="en-US" sz="1500">
                          <a:solidFill>
                            <a:schemeClr val="tx1"/>
                          </a:solidFill>
                          <a:latin typeface="Cambria" panose="02040503050406030204" pitchFamily="18" charset="0"/>
                        </a:rPr>
                        <a:t>ợng ký tự trong chuỗi, dùng index để lấy ký tự ra: str[index]</a:t>
                      </a:r>
                    </a:p>
                  </a:txBody>
                  <a:tcPr marL="68580" marR="68580" marT="34290" marB="34290"/>
                </a:tc>
                <a:extLst>
                  <a:ext uri="{0D108BD9-81ED-4DB2-BD59-A6C34878D82A}">
                    <a16:rowId xmlns:a16="http://schemas.microsoft.com/office/drawing/2014/main" val="259710264"/>
                  </a:ext>
                </a:extLst>
              </a:tr>
            </a:tbl>
          </a:graphicData>
        </a:graphic>
      </p:graphicFrame>
      <p:grpSp>
        <p:nvGrpSpPr>
          <p:cNvPr id="12" name="Group 11">
            <a:extLst>
              <a:ext uri="{FF2B5EF4-FFF2-40B4-BE49-F238E27FC236}">
                <a16:creationId xmlns:a16="http://schemas.microsoft.com/office/drawing/2014/main" id="{6EDC09A0-5377-4AFD-A5B6-55D42CA4EBF3}"/>
              </a:ext>
            </a:extLst>
          </p:cNvPr>
          <p:cNvGrpSpPr/>
          <p:nvPr/>
        </p:nvGrpSpPr>
        <p:grpSpPr>
          <a:xfrm>
            <a:off x="114300" y="1049503"/>
            <a:ext cx="4836717" cy="481437"/>
            <a:chOff x="789624" y="1295400"/>
            <a:chExt cx="6448956" cy="641916"/>
          </a:xfrm>
        </p:grpSpPr>
        <p:sp>
          <p:nvSpPr>
            <p:cNvPr id="15" name="AutoShape 52">
              <a:extLst>
                <a:ext uri="{FF2B5EF4-FFF2-40B4-BE49-F238E27FC236}">
                  <a16:creationId xmlns:a16="http://schemas.microsoft.com/office/drawing/2014/main" id="{23125072-33D8-455C-9888-E20C721FD2EA}"/>
                </a:ext>
              </a:extLst>
            </p:cNvPr>
            <p:cNvSpPr>
              <a:spLocks noChangeArrowheads="1"/>
            </p:cNvSpPr>
            <p:nvPr/>
          </p:nvSpPr>
          <p:spPr bwMode="gray">
            <a:xfrm>
              <a:off x="810156" y="1429316"/>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latin typeface="Cambria" panose="02040503050406030204" pitchFamily="18" charset="0"/>
                  <a:ea typeface="Cambria" panose="02040503050406030204" pitchFamily="18" charset="0"/>
                </a:rPr>
                <a:t>5.1.</a:t>
              </a:r>
              <a:r>
                <a:rPr lang="en-US" sz="2100" b="1" i="1">
                  <a:latin typeface="Cambria" panose="02040503050406030204" pitchFamily="18" charset="0"/>
                  <a:ea typeface="Cambria" panose="02040503050406030204" pitchFamily="18" charset="0"/>
                </a:rPr>
                <a:t> </a:t>
              </a:r>
              <a:r>
                <a:rPr lang="vi-VN" sz="2100" b="1" i="1">
                  <a:latin typeface="Cambria" panose="02040503050406030204" pitchFamily="18" charset="0"/>
                  <a:ea typeface="Cambria" panose="02040503050406030204" pitchFamily="18" charset="0"/>
                </a:rPr>
                <a:t>Khái niệm và cấu trúc của chuỗi</a:t>
              </a:r>
            </a:p>
          </p:txBody>
        </p:sp>
        <p:grpSp>
          <p:nvGrpSpPr>
            <p:cNvPr id="16" name="Group 17">
              <a:extLst>
                <a:ext uri="{FF2B5EF4-FFF2-40B4-BE49-F238E27FC236}">
                  <a16:creationId xmlns:a16="http://schemas.microsoft.com/office/drawing/2014/main" id="{8FF67532-C590-4C4E-8CF0-C5F2FFEB3F9D}"/>
                </a:ext>
              </a:extLst>
            </p:cNvPr>
            <p:cNvGrpSpPr>
              <a:grpSpLocks/>
            </p:cNvGrpSpPr>
            <p:nvPr/>
          </p:nvGrpSpPr>
          <p:grpSpPr bwMode="auto">
            <a:xfrm>
              <a:off x="789624" y="1295400"/>
              <a:ext cx="353376" cy="272472"/>
              <a:chOff x="1110" y="2656"/>
              <a:chExt cx="1549" cy="1351"/>
            </a:xfrm>
          </p:grpSpPr>
          <p:sp>
            <p:nvSpPr>
              <p:cNvPr id="17" name="AutoShape 18">
                <a:extLst>
                  <a:ext uri="{FF2B5EF4-FFF2-40B4-BE49-F238E27FC236}">
                    <a16:creationId xmlns:a16="http://schemas.microsoft.com/office/drawing/2014/main" id="{38D06653-8453-4E7E-B9CA-721D01E6AF2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18" name="AutoShape 19">
                <a:extLst>
                  <a:ext uri="{FF2B5EF4-FFF2-40B4-BE49-F238E27FC236}">
                    <a16:creationId xmlns:a16="http://schemas.microsoft.com/office/drawing/2014/main" id="{47362DF7-4618-472D-BCB2-96F04F846CE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19" name="AutoShape 20">
                <a:extLst>
                  <a:ext uri="{FF2B5EF4-FFF2-40B4-BE49-F238E27FC236}">
                    <a16:creationId xmlns:a16="http://schemas.microsoft.com/office/drawing/2014/main" id="{95973E2F-8658-4AA1-A0A2-59C559A41C8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617949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03630" y="12192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latin typeface="Cambria" panose="02040503050406030204" pitchFamily="18" charset="0"/>
                  <a:ea typeface="Cambria" panose="02040503050406030204" pitchFamily="18" charset="0"/>
                </a:rPr>
                <a:t>5.2.</a:t>
              </a:r>
              <a:r>
                <a:rPr lang="en-US" sz="2100" b="1" i="1">
                  <a:latin typeface="Cambria" panose="02040503050406030204" pitchFamily="18" charset="0"/>
                  <a:ea typeface="Cambria" panose="02040503050406030204" pitchFamily="18" charset="0"/>
                </a:rPr>
                <a:t> </a:t>
              </a:r>
              <a:r>
                <a:rPr lang="vi-VN" sz="2100" b="1" i="1">
                  <a:latin typeface="Cambria" panose="02040503050406030204" pitchFamily="18" charset="0"/>
                  <a:ea typeface="Cambria" panose="02040503050406030204" pitchFamily="18" charset="0"/>
                </a:rPr>
                <a:t>Hàm upper, lower -in HOA-thường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upper </a:t>
            </a:r>
            <a:r>
              <a:rPr lang="en-US" sz="1800">
                <a:latin typeface="Cambria" panose="02040503050406030204" pitchFamily="18" charset="0"/>
                <a:cs typeface="Times New Roman" pitchFamily="18" charset="0"/>
                <a:sym typeface="Wingdings" panose="05000000000000000000" pitchFamily="2" charset="2"/>
              </a:rPr>
              <a:t>đ</a:t>
            </a:r>
            <a:r>
              <a:rPr lang="vi-VN" sz="1800">
                <a:latin typeface="Cambria" panose="02040503050406030204" pitchFamily="18" charset="0"/>
                <a:cs typeface="Times New Roman" pitchFamily="18" charset="0"/>
                <a:sym typeface="Wingdings" panose="05000000000000000000" pitchFamily="2" charset="2"/>
              </a:rPr>
              <a:t>ư</a:t>
            </a:r>
            <a:r>
              <a:rPr lang="en-US" sz="1800">
                <a:latin typeface="Cambria" panose="02040503050406030204" pitchFamily="18" charset="0"/>
                <a:cs typeface="Times New Roman" pitchFamily="18" charset="0"/>
                <a:sym typeface="Wingdings" panose="05000000000000000000" pitchFamily="2" charset="2"/>
              </a:rPr>
              <a:t>a Chuỗi về In HOA</a:t>
            </a:r>
          </a:p>
          <a:p>
            <a:pPr marL="0" indent="0">
              <a:buNone/>
            </a:pPr>
            <a:r>
              <a:rPr lang="en-US" sz="1800">
                <a:latin typeface="Cambria" panose="02040503050406030204" pitchFamily="18" charset="0"/>
                <a:cs typeface="Times New Roman" pitchFamily="18" charset="0"/>
                <a:sym typeface="Wingdings" panose="05000000000000000000" pitchFamily="2" charset="2"/>
              </a:rPr>
              <a:t>Hàm lower đ</a:t>
            </a:r>
            <a:r>
              <a:rPr lang="vi-VN" sz="1800">
                <a:latin typeface="Cambria" panose="02040503050406030204" pitchFamily="18" charset="0"/>
                <a:cs typeface="Times New Roman" pitchFamily="18" charset="0"/>
                <a:sym typeface="Wingdings" panose="05000000000000000000" pitchFamily="2" charset="2"/>
              </a:rPr>
              <a:t>ư</a:t>
            </a:r>
            <a:r>
              <a:rPr lang="en-US" sz="1800">
                <a:latin typeface="Cambria" panose="02040503050406030204" pitchFamily="18" charset="0"/>
                <a:cs typeface="Times New Roman" pitchFamily="18" charset="0"/>
                <a:sym typeface="Wingdings" panose="05000000000000000000" pitchFamily="2" charset="2"/>
              </a:rPr>
              <a:t>a Chuỗi về In th</a:t>
            </a:r>
            <a:r>
              <a:rPr lang="vi-VN" sz="1800">
                <a:latin typeface="Cambria" panose="02040503050406030204" pitchFamily="18" charset="0"/>
                <a:cs typeface="Times New Roman" pitchFamily="18" charset="0"/>
                <a:sym typeface="Wingdings" panose="05000000000000000000" pitchFamily="2" charset="2"/>
              </a:rPr>
              <a:t>ư</a:t>
            </a:r>
            <a:r>
              <a:rPr lang="en-US" sz="1800">
                <a:latin typeface="Cambria" panose="02040503050406030204" pitchFamily="18" charset="0"/>
                <a:cs typeface="Times New Roman" pitchFamily="18" charset="0"/>
                <a:sym typeface="Wingdings" panose="05000000000000000000" pitchFamily="2" charset="2"/>
              </a:rPr>
              <a:t>ờng</a:t>
            </a:r>
            <a:endParaRPr lang="en-US" sz="1800">
              <a:latin typeface="Cambria" panose="02040503050406030204" pitchFamily="18" charset="0"/>
              <a:cs typeface="Times New Roman" pitchFamily="18" charset="0"/>
            </a:endParaRPr>
          </a:p>
        </p:txBody>
      </p:sp>
      <p:pic>
        <p:nvPicPr>
          <p:cNvPr id="8" name="Picture 7">
            <a:extLst>
              <a:ext uri="{FF2B5EF4-FFF2-40B4-BE49-F238E27FC236}">
                <a16:creationId xmlns:a16="http://schemas.microsoft.com/office/drawing/2014/main" id="{83FE272D-B3FF-4D57-B8A5-CA5F3650E3C6}"/>
              </a:ext>
            </a:extLst>
          </p:cNvPr>
          <p:cNvPicPr>
            <a:picLocks noChangeAspect="1"/>
          </p:cNvPicPr>
          <p:nvPr/>
        </p:nvPicPr>
        <p:blipFill>
          <a:blip r:embed="rId3"/>
          <a:stretch>
            <a:fillRect/>
          </a:stretch>
        </p:blipFill>
        <p:spPr>
          <a:xfrm>
            <a:off x="628650" y="2800350"/>
            <a:ext cx="3295650" cy="628650"/>
          </a:xfrm>
          <a:prstGeom prst="rect">
            <a:avLst/>
          </a:prstGeom>
        </p:spPr>
      </p:pic>
      <p:sp>
        <p:nvSpPr>
          <p:cNvPr id="9" name="Rectangle 8">
            <a:extLst>
              <a:ext uri="{FF2B5EF4-FFF2-40B4-BE49-F238E27FC236}">
                <a16:creationId xmlns:a16="http://schemas.microsoft.com/office/drawing/2014/main" id="{A936ED07-28FA-4184-B316-62040F936516}"/>
              </a:ext>
            </a:extLst>
          </p:cNvPr>
          <p:cNvSpPr/>
          <p:nvPr/>
        </p:nvSpPr>
        <p:spPr>
          <a:xfrm>
            <a:off x="3976331" y="2941550"/>
            <a:ext cx="2223750" cy="369332"/>
          </a:xfrm>
          <a:prstGeom prst="rect">
            <a:avLst/>
          </a:prstGeom>
        </p:spPr>
        <p:txBody>
          <a:bodyPr wrap="none">
            <a:spAutoFit/>
          </a:bodyPr>
          <a:lstStyle/>
          <a:p>
            <a:r>
              <a:rPr lang="en-US" sz="1800"/>
              <a:t>TRẦN DUY THANH</a:t>
            </a:r>
          </a:p>
        </p:txBody>
      </p:sp>
      <p:pic>
        <p:nvPicPr>
          <p:cNvPr id="10" name="Picture 9">
            <a:extLst>
              <a:ext uri="{FF2B5EF4-FFF2-40B4-BE49-F238E27FC236}">
                <a16:creationId xmlns:a16="http://schemas.microsoft.com/office/drawing/2014/main" id="{D0594496-DD59-4C1A-BA16-E70218656C67}"/>
              </a:ext>
            </a:extLst>
          </p:cNvPr>
          <p:cNvPicPr>
            <a:picLocks noChangeAspect="1"/>
          </p:cNvPicPr>
          <p:nvPr/>
        </p:nvPicPr>
        <p:blipFill>
          <a:blip r:embed="rId4"/>
          <a:stretch>
            <a:fillRect/>
          </a:stretch>
        </p:blipFill>
        <p:spPr>
          <a:xfrm>
            <a:off x="601318" y="4229100"/>
            <a:ext cx="2686050" cy="471488"/>
          </a:xfrm>
          <a:prstGeom prst="rect">
            <a:avLst/>
          </a:prstGeom>
        </p:spPr>
      </p:pic>
      <p:sp>
        <p:nvSpPr>
          <p:cNvPr id="12" name="Rectangle 11">
            <a:extLst>
              <a:ext uri="{FF2B5EF4-FFF2-40B4-BE49-F238E27FC236}">
                <a16:creationId xmlns:a16="http://schemas.microsoft.com/office/drawing/2014/main" id="{3D22D6B9-BA22-4205-9242-7AE64E57F4E4}"/>
              </a:ext>
            </a:extLst>
          </p:cNvPr>
          <p:cNvSpPr/>
          <p:nvPr/>
        </p:nvSpPr>
        <p:spPr>
          <a:xfrm>
            <a:off x="3545786" y="4330503"/>
            <a:ext cx="1518364" cy="369332"/>
          </a:xfrm>
          <a:prstGeom prst="rect">
            <a:avLst/>
          </a:prstGeom>
        </p:spPr>
        <p:txBody>
          <a:bodyPr wrap="none">
            <a:spAutoFit/>
          </a:bodyPr>
          <a:lstStyle/>
          <a:p>
            <a:r>
              <a:rPr lang="en-US" sz="1800"/>
              <a:t>trần duy thanh</a:t>
            </a:r>
          </a:p>
        </p:txBody>
      </p:sp>
    </p:spTree>
    <p:extLst>
      <p:ext uri="{BB962C8B-B14F-4D97-AF65-F5344CB8AC3E}">
        <p14:creationId xmlns:p14="http://schemas.microsoft.com/office/powerpoint/2010/main" val="4259195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85750"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latin typeface="Cambria" panose="02040503050406030204" pitchFamily="18" charset="0"/>
                  <a:ea typeface="Cambria" panose="02040503050406030204" pitchFamily="18" charset="0"/>
                </a:rPr>
                <a:t>5.3.</a:t>
              </a:r>
              <a:r>
                <a:rPr lang="en-US" sz="2100" b="1" i="1">
                  <a:latin typeface="Cambria" panose="02040503050406030204" pitchFamily="18" charset="0"/>
                  <a:ea typeface="Cambria" panose="02040503050406030204" pitchFamily="18" charset="0"/>
                </a:rPr>
                <a:t> </a:t>
              </a:r>
              <a:r>
                <a:rPr lang="vi-VN" sz="2100" b="1" i="1">
                  <a:latin typeface="Cambria" panose="02040503050406030204" pitchFamily="18" charset="0"/>
                  <a:ea typeface="Cambria" panose="02040503050406030204" pitchFamily="18" charset="0"/>
                </a:rPr>
                <a:t>Hàm căn lề: rjust, ljust, center</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atin typeface="Cambria" panose="02040503050406030204" pitchFamily="18" charset="0"/>
                <a:cs typeface="Times New Roman" pitchFamily="18" charset="0"/>
              </a:rPr>
              <a:t>Hàm rjust </a:t>
            </a:r>
            <a:r>
              <a:rPr lang="en-US">
                <a:latin typeface="Cambria" panose="02040503050406030204" pitchFamily="18" charset="0"/>
                <a:cs typeface="Times New Roman" pitchFamily="18" charset="0"/>
                <a:sym typeface="Wingdings" panose="05000000000000000000" pitchFamily="2" charset="2"/>
              </a:rPr>
              <a:t>căn lề phải</a:t>
            </a:r>
          </a:p>
          <a:p>
            <a:pPr marL="0" indent="0">
              <a:buNone/>
            </a:pPr>
            <a:r>
              <a:rPr lang="en-US">
                <a:latin typeface="Cambria" panose="02040503050406030204" pitchFamily="18" charset="0"/>
                <a:cs typeface="Times New Roman" pitchFamily="18" charset="0"/>
                <a:sym typeface="Wingdings" panose="05000000000000000000" pitchFamily="2" charset="2"/>
              </a:rPr>
              <a:t>Hàm </a:t>
            </a:r>
            <a:r>
              <a:rPr lang="en-US">
                <a:latin typeface="Cambria" panose="02040503050406030204" pitchFamily="18" charset="0"/>
                <a:cs typeface="Times New Roman" pitchFamily="18" charset="0"/>
              </a:rPr>
              <a:t>ljust </a:t>
            </a:r>
            <a:r>
              <a:rPr lang="en-US">
                <a:latin typeface="Cambria" panose="02040503050406030204" pitchFamily="18" charset="0"/>
                <a:cs typeface="Times New Roman" pitchFamily="18" charset="0"/>
                <a:sym typeface="Wingdings" panose="05000000000000000000" pitchFamily="2" charset="2"/>
              </a:rPr>
              <a:t> căn lề trái</a:t>
            </a:r>
          </a:p>
          <a:p>
            <a:pPr marL="0" indent="0">
              <a:buNone/>
            </a:pPr>
            <a:r>
              <a:rPr lang="en-US">
                <a:latin typeface="Cambria" panose="02040503050406030204" pitchFamily="18" charset="0"/>
                <a:cs typeface="Times New Roman" pitchFamily="18" charset="0"/>
                <a:sym typeface="Wingdings" panose="05000000000000000000" pitchFamily="2" charset="2"/>
              </a:rPr>
              <a:t>Hàm centercăn giữa</a:t>
            </a:r>
            <a:endParaRPr lang="en-US">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057271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12954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latin typeface="Cambria" panose="02040503050406030204" pitchFamily="18" charset="0"/>
                </a:rPr>
                <a:t>rjust</a:t>
              </a:r>
              <a:endParaRPr lang="en-US" sz="21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rjust sẽ căn phải Chuỗi, nếu truyền 1 đối số Python sẽ chèn khoảng trắng, nếu có đối số thứ 2 thì chèn nó vào tr</a:t>
            </a:r>
            <a:r>
              <a:rPr lang="vi-VN" sz="1800">
                <a:latin typeface="Cambria" panose="02040503050406030204" pitchFamily="18" charset="0"/>
                <a:cs typeface="Times New Roman" pitchFamily="18" charset="0"/>
              </a:rPr>
              <a:t>ư</a:t>
            </a:r>
            <a:r>
              <a:rPr lang="en-US" sz="1800">
                <a:latin typeface="Cambria" panose="02040503050406030204" pitchFamily="18" charset="0"/>
                <a:cs typeface="Times New Roman" pitchFamily="18" charset="0"/>
              </a:rPr>
              <a:t>ớc.</a:t>
            </a: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r>
              <a:rPr lang="en-US" sz="1800">
                <a:latin typeface="Cambria" panose="02040503050406030204" pitchFamily="18" charset="0"/>
                <a:cs typeface="Times New Roman" pitchFamily="18" charset="0"/>
              </a:rPr>
              <a:t>L</a:t>
            </a:r>
            <a:r>
              <a:rPr lang="vi-VN" sz="1800">
                <a:latin typeface="Cambria" panose="02040503050406030204" pitchFamily="18" charset="0"/>
                <a:cs typeface="Times New Roman" pitchFamily="18" charset="0"/>
              </a:rPr>
              <a:t>ư</a:t>
            </a:r>
            <a:r>
              <a:rPr lang="en-US" sz="1800">
                <a:latin typeface="Cambria" panose="02040503050406030204" pitchFamily="18" charset="0"/>
                <a:cs typeface="Times New Roman" pitchFamily="18" charset="0"/>
              </a:rPr>
              <a:t>u ý nếu số ký tự chèn nhỏ h</a:t>
            </a:r>
            <a:r>
              <a:rPr lang="vi-VN" sz="1800">
                <a:latin typeface="Cambria" panose="02040503050406030204" pitchFamily="18" charset="0"/>
                <a:cs typeface="Times New Roman" pitchFamily="18" charset="0"/>
              </a:rPr>
              <a:t>ơ</a:t>
            </a:r>
            <a:r>
              <a:rPr lang="en-US" sz="1800">
                <a:latin typeface="Cambria" panose="02040503050406030204" pitchFamily="18" charset="0"/>
                <a:cs typeface="Times New Roman" pitchFamily="18" charset="0"/>
              </a:rPr>
              <a:t>n chuỗi gốc thì không có gì thay đổi (tr</a:t>
            </a:r>
            <a:r>
              <a:rPr lang="vi-VN" sz="1800">
                <a:latin typeface="Cambria" panose="02040503050406030204" pitchFamily="18" charset="0"/>
                <a:cs typeface="Times New Roman" pitchFamily="18" charset="0"/>
              </a:rPr>
              <a:t>ư</a:t>
            </a:r>
            <a:r>
              <a:rPr lang="en-US" sz="1800">
                <a:latin typeface="Cambria" panose="02040503050406030204" pitchFamily="18" charset="0"/>
                <a:cs typeface="Times New Roman" pitchFamily="18" charset="0"/>
              </a:rPr>
              <a:t>ờng hợp rjust(3, “*”))</a:t>
            </a:r>
          </a:p>
        </p:txBody>
      </p:sp>
      <p:pic>
        <p:nvPicPr>
          <p:cNvPr id="8" name="Picture 7">
            <a:extLst>
              <a:ext uri="{FF2B5EF4-FFF2-40B4-BE49-F238E27FC236}">
                <a16:creationId xmlns:a16="http://schemas.microsoft.com/office/drawing/2014/main" id="{89E3FF13-DA43-4247-9BF0-3EC04172CE11}"/>
              </a:ext>
            </a:extLst>
          </p:cNvPr>
          <p:cNvPicPr>
            <a:picLocks noChangeAspect="1"/>
          </p:cNvPicPr>
          <p:nvPr/>
        </p:nvPicPr>
        <p:blipFill>
          <a:blip r:embed="rId3"/>
          <a:stretch>
            <a:fillRect/>
          </a:stretch>
        </p:blipFill>
        <p:spPr>
          <a:xfrm>
            <a:off x="847131" y="2536032"/>
            <a:ext cx="2736056" cy="1207294"/>
          </a:xfrm>
          <a:prstGeom prst="rect">
            <a:avLst/>
          </a:prstGeom>
        </p:spPr>
      </p:pic>
      <p:pic>
        <p:nvPicPr>
          <p:cNvPr id="9" name="Picture 8">
            <a:extLst>
              <a:ext uri="{FF2B5EF4-FFF2-40B4-BE49-F238E27FC236}">
                <a16:creationId xmlns:a16="http://schemas.microsoft.com/office/drawing/2014/main" id="{74FF6D68-BD1D-4E8A-AE07-1C8EDA6F4253}"/>
              </a:ext>
            </a:extLst>
          </p:cNvPr>
          <p:cNvPicPr>
            <a:picLocks noChangeAspect="1"/>
          </p:cNvPicPr>
          <p:nvPr/>
        </p:nvPicPr>
        <p:blipFill>
          <a:blip r:embed="rId4"/>
          <a:stretch>
            <a:fillRect/>
          </a:stretch>
        </p:blipFill>
        <p:spPr>
          <a:xfrm>
            <a:off x="5534259" y="2771775"/>
            <a:ext cx="1735931" cy="971550"/>
          </a:xfrm>
          <a:prstGeom prst="rect">
            <a:avLst/>
          </a:prstGeom>
          <a:ln>
            <a:solidFill>
              <a:schemeClr val="accent1"/>
            </a:solidFill>
          </a:ln>
        </p:spPr>
      </p:pic>
      <p:sp>
        <p:nvSpPr>
          <p:cNvPr id="10" name="Arrow: Right 9">
            <a:extLst>
              <a:ext uri="{FF2B5EF4-FFF2-40B4-BE49-F238E27FC236}">
                <a16:creationId xmlns:a16="http://schemas.microsoft.com/office/drawing/2014/main" id="{1629D2A2-C13B-4752-9D50-BA1E3EA83CA3}"/>
              </a:ext>
            </a:extLst>
          </p:cNvPr>
          <p:cNvSpPr/>
          <p:nvPr/>
        </p:nvSpPr>
        <p:spPr>
          <a:xfrm>
            <a:off x="4031625" y="3072744"/>
            <a:ext cx="1200150" cy="28575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97411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08767" y="1248633"/>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latin typeface="Cambria" panose="02040503050406030204" pitchFamily="18" charset="0"/>
                </a:rPr>
                <a:t>ljust</a:t>
              </a:r>
              <a:endParaRPr lang="en-US" sz="21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ljust sẽ căn trái Chuỗi, nếu truyền 1 đối số Python sẽ chèn khoảng trắng đằng sau, nếu có đối số thứ 2 thì chèn nó vào sau.</a:t>
            </a: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r>
              <a:rPr lang="en-US" sz="1800">
                <a:latin typeface="Cambria" panose="02040503050406030204" pitchFamily="18" charset="0"/>
                <a:cs typeface="Times New Roman" pitchFamily="18" charset="0"/>
              </a:rPr>
              <a:t>L</a:t>
            </a:r>
            <a:r>
              <a:rPr lang="vi-VN" sz="1800">
                <a:latin typeface="Cambria" panose="02040503050406030204" pitchFamily="18" charset="0"/>
                <a:cs typeface="Times New Roman" pitchFamily="18" charset="0"/>
              </a:rPr>
              <a:t>ư</a:t>
            </a:r>
            <a:r>
              <a:rPr lang="en-US" sz="1800">
                <a:latin typeface="Cambria" panose="02040503050406030204" pitchFamily="18" charset="0"/>
                <a:cs typeface="Times New Roman" pitchFamily="18" charset="0"/>
              </a:rPr>
              <a:t>u ý nếu số ký tự muốn chèn nhỏ h</a:t>
            </a:r>
            <a:r>
              <a:rPr lang="vi-VN" sz="1800">
                <a:latin typeface="Cambria" panose="02040503050406030204" pitchFamily="18" charset="0"/>
                <a:cs typeface="Times New Roman" pitchFamily="18" charset="0"/>
              </a:rPr>
              <a:t>ơ</a:t>
            </a:r>
            <a:r>
              <a:rPr lang="en-US" sz="1800">
                <a:latin typeface="Cambria" panose="02040503050406030204" pitchFamily="18" charset="0"/>
                <a:cs typeface="Times New Roman" pitchFamily="18" charset="0"/>
              </a:rPr>
              <a:t>n Chuỗi gốc thì không có gì thay đổi</a:t>
            </a: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p:txBody>
      </p:sp>
      <p:pic>
        <p:nvPicPr>
          <p:cNvPr id="11" name="Picture 10">
            <a:extLst>
              <a:ext uri="{FF2B5EF4-FFF2-40B4-BE49-F238E27FC236}">
                <a16:creationId xmlns:a16="http://schemas.microsoft.com/office/drawing/2014/main" id="{3BAC89F0-A925-4CE2-ADA9-DDBF88BF99EA}"/>
              </a:ext>
            </a:extLst>
          </p:cNvPr>
          <p:cNvPicPr>
            <a:picLocks noChangeAspect="1"/>
          </p:cNvPicPr>
          <p:nvPr/>
        </p:nvPicPr>
        <p:blipFill>
          <a:blip r:embed="rId3"/>
          <a:stretch>
            <a:fillRect/>
          </a:stretch>
        </p:blipFill>
        <p:spPr>
          <a:xfrm>
            <a:off x="800100" y="2500313"/>
            <a:ext cx="2571750" cy="1857375"/>
          </a:xfrm>
          <a:prstGeom prst="rect">
            <a:avLst/>
          </a:prstGeom>
        </p:spPr>
      </p:pic>
      <p:pic>
        <p:nvPicPr>
          <p:cNvPr id="12" name="Picture 11">
            <a:extLst>
              <a:ext uri="{FF2B5EF4-FFF2-40B4-BE49-F238E27FC236}">
                <a16:creationId xmlns:a16="http://schemas.microsoft.com/office/drawing/2014/main" id="{C432654F-9EC2-4357-A5B3-22A2A48DE0F1}"/>
              </a:ext>
            </a:extLst>
          </p:cNvPr>
          <p:cNvPicPr>
            <a:picLocks noChangeAspect="1"/>
          </p:cNvPicPr>
          <p:nvPr/>
        </p:nvPicPr>
        <p:blipFill>
          <a:blip r:embed="rId4"/>
          <a:stretch>
            <a:fillRect/>
          </a:stretch>
        </p:blipFill>
        <p:spPr>
          <a:xfrm>
            <a:off x="5100639" y="2732485"/>
            <a:ext cx="1343025" cy="1393031"/>
          </a:xfrm>
          <a:prstGeom prst="rect">
            <a:avLst/>
          </a:prstGeom>
          <a:ln>
            <a:solidFill>
              <a:schemeClr val="accent1"/>
            </a:solidFill>
          </a:ln>
        </p:spPr>
      </p:pic>
      <p:sp>
        <p:nvSpPr>
          <p:cNvPr id="15" name="Arrow: Right 14">
            <a:extLst>
              <a:ext uri="{FF2B5EF4-FFF2-40B4-BE49-F238E27FC236}">
                <a16:creationId xmlns:a16="http://schemas.microsoft.com/office/drawing/2014/main" id="{B6112545-4563-444C-99A1-50A7FD4827FF}"/>
              </a:ext>
            </a:extLst>
          </p:cNvPr>
          <p:cNvSpPr/>
          <p:nvPr/>
        </p:nvSpPr>
        <p:spPr>
          <a:xfrm>
            <a:off x="3228975" y="3120887"/>
            <a:ext cx="1200150" cy="28575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29616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125095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latin typeface="Cambria" panose="02040503050406030204" pitchFamily="18" charset="0"/>
                </a:rPr>
                <a:t>center</a:t>
              </a:r>
              <a:endParaRPr lang="en-US" sz="21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center căn giữa Chuỗi, nó tự đẩy khoảng trắng 2 bên sao cho tổng ký tự bằng giá trị muốn truyền vào. Nếu có đối số thứ 2 thì thay khoảng trắng bằng ký tự mới này</a:t>
            </a: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endParaRPr lang="en-US" sz="1800">
              <a:latin typeface="Cambria" panose="02040503050406030204" pitchFamily="18" charset="0"/>
              <a:cs typeface="Times New Roman" pitchFamily="18" charset="0"/>
            </a:endParaRPr>
          </a:p>
          <a:p>
            <a:pPr marL="0" indent="0">
              <a:buNone/>
            </a:pPr>
            <a:r>
              <a:rPr lang="en-US" sz="1800">
                <a:latin typeface="Cambria" panose="02040503050406030204" pitchFamily="18" charset="0"/>
                <a:cs typeface="Times New Roman" pitchFamily="18" charset="0"/>
              </a:rPr>
              <a:t>Lưu ý: Nếu số l</a:t>
            </a:r>
            <a:r>
              <a:rPr lang="vi-VN" sz="1800">
                <a:latin typeface="Cambria" panose="02040503050406030204" pitchFamily="18" charset="0"/>
                <a:cs typeface="Times New Roman" pitchFamily="18" charset="0"/>
              </a:rPr>
              <a:t>ư</a:t>
            </a:r>
            <a:r>
              <a:rPr lang="en-US" sz="1800">
                <a:latin typeface="Cambria" panose="02040503050406030204" pitchFamily="18" charset="0"/>
                <a:cs typeface="Times New Roman" pitchFamily="18" charset="0"/>
              </a:rPr>
              <a:t>ợng căn giữa mà nhỏ h</a:t>
            </a:r>
            <a:r>
              <a:rPr lang="vi-VN" sz="1800">
                <a:latin typeface="Cambria" panose="02040503050406030204" pitchFamily="18" charset="0"/>
                <a:cs typeface="Times New Roman" pitchFamily="18" charset="0"/>
              </a:rPr>
              <a:t>ơ</a:t>
            </a:r>
            <a:r>
              <a:rPr lang="en-US" sz="1800">
                <a:latin typeface="Cambria" panose="02040503050406030204" pitchFamily="18" charset="0"/>
                <a:cs typeface="Times New Roman" pitchFamily="18" charset="0"/>
              </a:rPr>
              <a:t>n số ký tự gốc thì không có gì thay đổi.</a:t>
            </a:r>
          </a:p>
        </p:txBody>
      </p:sp>
      <p:pic>
        <p:nvPicPr>
          <p:cNvPr id="8" name="Picture 7">
            <a:extLst>
              <a:ext uri="{FF2B5EF4-FFF2-40B4-BE49-F238E27FC236}">
                <a16:creationId xmlns:a16="http://schemas.microsoft.com/office/drawing/2014/main" id="{515F956B-515B-41C0-AA2C-D392A62A7ACB}"/>
              </a:ext>
            </a:extLst>
          </p:cNvPr>
          <p:cNvPicPr>
            <a:picLocks noChangeAspect="1"/>
          </p:cNvPicPr>
          <p:nvPr/>
        </p:nvPicPr>
        <p:blipFill>
          <a:blip r:embed="rId3"/>
          <a:stretch>
            <a:fillRect/>
          </a:stretch>
        </p:blipFill>
        <p:spPr>
          <a:xfrm>
            <a:off x="628651" y="2536032"/>
            <a:ext cx="2707481" cy="892969"/>
          </a:xfrm>
          <a:prstGeom prst="rect">
            <a:avLst/>
          </a:prstGeom>
        </p:spPr>
      </p:pic>
      <p:pic>
        <p:nvPicPr>
          <p:cNvPr id="9" name="Picture 8">
            <a:extLst>
              <a:ext uri="{FF2B5EF4-FFF2-40B4-BE49-F238E27FC236}">
                <a16:creationId xmlns:a16="http://schemas.microsoft.com/office/drawing/2014/main" id="{2F0E0343-05DA-44DF-B94F-EAFA491069A4}"/>
              </a:ext>
            </a:extLst>
          </p:cNvPr>
          <p:cNvPicPr>
            <a:picLocks noChangeAspect="1"/>
          </p:cNvPicPr>
          <p:nvPr/>
        </p:nvPicPr>
        <p:blipFill>
          <a:blip r:embed="rId4"/>
          <a:stretch>
            <a:fillRect/>
          </a:stretch>
        </p:blipFill>
        <p:spPr>
          <a:xfrm>
            <a:off x="5704544" y="2653903"/>
            <a:ext cx="2350294" cy="657225"/>
          </a:xfrm>
          <a:prstGeom prst="rect">
            <a:avLst/>
          </a:prstGeom>
          <a:ln>
            <a:solidFill>
              <a:schemeClr val="accent1"/>
            </a:solidFill>
          </a:ln>
        </p:spPr>
      </p:pic>
      <p:sp>
        <p:nvSpPr>
          <p:cNvPr id="16" name="Arrow: Right 15">
            <a:extLst>
              <a:ext uri="{FF2B5EF4-FFF2-40B4-BE49-F238E27FC236}">
                <a16:creationId xmlns:a16="http://schemas.microsoft.com/office/drawing/2014/main" id="{CD9045A3-D9BA-4283-952E-96C413EB9C65}"/>
              </a:ext>
            </a:extLst>
          </p:cNvPr>
          <p:cNvSpPr/>
          <p:nvPr/>
        </p:nvSpPr>
        <p:spPr>
          <a:xfrm>
            <a:off x="3771900" y="2839640"/>
            <a:ext cx="1200150" cy="28575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760966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04800" y="533400"/>
            <a:ext cx="5257800" cy="381000"/>
            <a:chOff x="789624" y="1191463"/>
            <a:chExt cx="7010400" cy="508000"/>
          </a:xfrm>
        </p:grpSpPr>
        <p:sp>
          <p:nvSpPr>
            <p:cNvPr id="3" name="AutoShape 52"/>
            <p:cNvSpPr>
              <a:spLocks noChangeArrowheads="1"/>
            </p:cNvSpPr>
            <p:nvPr/>
          </p:nvSpPr>
          <p:spPr bwMode="gray">
            <a:xfrm>
              <a:off x="990600" y="1191463"/>
              <a:ext cx="6809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5.4.</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xóa khoảng trắng dư thừa </a:t>
              </a:r>
              <a:r>
                <a:rPr lang="en-US" sz="2100" b="1" i="1">
                  <a:highlight>
                    <a:srgbClr val="FFFF00"/>
                  </a:highlight>
                  <a:latin typeface="Cambria" panose="02040503050406030204" pitchFamily="18" charset="0"/>
                  <a:ea typeface="Cambria" panose="02040503050406030204" pitchFamily="18" charset="0"/>
                </a:rPr>
                <a:t>s</a:t>
              </a:r>
              <a:r>
                <a:rPr lang="vi-VN" sz="2100" b="1" i="1">
                  <a:highlight>
                    <a:srgbClr val="FFFF00"/>
                  </a:highlight>
                  <a:latin typeface="Cambria" panose="02040503050406030204" pitchFamily="18" charset="0"/>
                  <a:ea typeface="Cambria" panose="02040503050406030204" pitchFamily="18" charset="0"/>
                </a:rPr>
                <a:t>trip</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485901"/>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Để xóa khoảng trắng d</a:t>
            </a:r>
            <a:r>
              <a:rPr lang="vi-VN" sz="1800">
                <a:latin typeface="Cambria" panose="02040503050406030204" pitchFamily="18" charset="0"/>
                <a:cs typeface="Times New Roman" pitchFamily="18" charset="0"/>
              </a:rPr>
              <a:t>ư</a:t>
            </a:r>
            <a:r>
              <a:rPr lang="en-US" sz="1800">
                <a:latin typeface="Cambria" panose="02040503050406030204" pitchFamily="18" charset="0"/>
                <a:cs typeface="Times New Roman" pitchFamily="18" charset="0"/>
              </a:rPr>
              <a:t> thừa, Python hỗ trợ hàm strip</a:t>
            </a:r>
          </a:p>
        </p:txBody>
      </p:sp>
      <p:pic>
        <p:nvPicPr>
          <p:cNvPr id="9" name="Picture 8">
            <a:extLst>
              <a:ext uri="{FF2B5EF4-FFF2-40B4-BE49-F238E27FC236}">
                <a16:creationId xmlns:a16="http://schemas.microsoft.com/office/drawing/2014/main" id="{A173FD4F-54DF-452F-824B-52411FF61002}"/>
              </a:ext>
            </a:extLst>
          </p:cNvPr>
          <p:cNvPicPr>
            <a:picLocks noChangeAspect="1"/>
          </p:cNvPicPr>
          <p:nvPr/>
        </p:nvPicPr>
        <p:blipFill>
          <a:blip r:embed="rId3"/>
          <a:stretch>
            <a:fillRect/>
          </a:stretch>
        </p:blipFill>
        <p:spPr>
          <a:xfrm>
            <a:off x="2171699" y="4507707"/>
            <a:ext cx="3529013" cy="914400"/>
          </a:xfrm>
          <a:prstGeom prst="rect">
            <a:avLst/>
          </a:prstGeom>
        </p:spPr>
      </p:pic>
      <p:sp>
        <p:nvSpPr>
          <p:cNvPr id="10" name="Arrow: Down 9">
            <a:extLst>
              <a:ext uri="{FF2B5EF4-FFF2-40B4-BE49-F238E27FC236}">
                <a16:creationId xmlns:a16="http://schemas.microsoft.com/office/drawing/2014/main" id="{16655BC3-D852-4800-A23E-FBED007C90FA}"/>
              </a:ext>
            </a:extLst>
          </p:cNvPr>
          <p:cNvSpPr/>
          <p:nvPr/>
        </p:nvSpPr>
        <p:spPr>
          <a:xfrm>
            <a:off x="3936206" y="3691377"/>
            <a:ext cx="285750" cy="539354"/>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Box 10">
            <a:extLst>
              <a:ext uri="{FF2B5EF4-FFF2-40B4-BE49-F238E27FC236}">
                <a16:creationId xmlns:a16="http://schemas.microsoft.com/office/drawing/2014/main" id="{F375789A-218B-4E73-A9C1-03E607367DB2}"/>
              </a:ext>
            </a:extLst>
          </p:cNvPr>
          <p:cNvSpPr txBox="1"/>
          <p:nvPr/>
        </p:nvSpPr>
        <p:spPr>
          <a:xfrm>
            <a:off x="723900" y="1813492"/>
            <a:ext cx="7696200" cy="1938992"/>
          </a:xfrm>
          <a:prstGeom prst="rect">
            <a:avLst/>
          </a:prstGeom>
          <a:noFill/>
        </p:spPr>
        <p:txBody>
          <a:bodyPr wrap="square" rtlCol="0">
            <a:spAutoFit/>
          </a:bodyPr>
          <a:lstStyle/>
          <a:p>
            <a:r>
              <a:rPr lang="en-US" sz="2000"/>
              <a:t>s=“ ABCDEFGHBCDIJKLMNOPQRSBCDTUVWXYZ</a:t>
            </a:r>
          </a:p>
          <a:p>
            <a:r>
              <a:rPr lang="en-US" sz="2000"/>
              <a:t>print(s)</a:t>
            </a:r>
          </a:p>
          <a:p>
            <a:r>
              <a:rPr lang="en-US" sz="2000"/>
              <a:t>print(s.len())</a:t>
            </a:r>
          </a:p>
          <a:p>
            <a:r>
              <a:rPr lang="en-US" sz="2000"/>
              <a:t>s=s.strip()</a:t>
            </a:r>
          </a:p>
          <a:p>
            <a:r>
              <a:rPr lang="en-US" sz="2000"/>
              <a:t>print(s)</a:t>
            </a:r>
          </a:p>
          <a:p>
            <a:r>
              <a:rPr lang="en-US" sz="2000"/>
              <a:t>print(s.len()</a:t>
            </a:r>
          </a:p>
        </p:txBody>
      </p:sp>
    </p:spTree>
    <p:extLst>
      <p:ext uri="{BB962C8B-B14F-4D97-AF65-F5344CB8AC3E}">
        <p14:creationId xmlns:p14="http://schemas.microsoft.com/office/powerpoint/2010/main" val="2867000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1950" y="3048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5.5.</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startsWith, endsWith</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543051"/>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startswith để kiểm tra Chuỗi có bắt đầu bằng 1 chuỗi con nào đó hay không</a:t>
            </a:r>
          </a:p>
          <a:p>
            <a:pPr marL="0" indent="0">
              <a:buNone/>
            </a:pPr>
            <a:r>
              <a:rPr lang="en-US" sz="1800">
                <a:latin typeface="Cambria" panose="02040503050406030204" pitchFamily="18" charset="0"/>
                <a:cs typeface="Times New Roman" pitchFamily="18" charset="0"/>
              </a:rPr>
              <a:t>endswith để kiểm tra Chuỗi có kết thúc bằng 1 chuỗi con nào đó hay không</a:t>
            </a:r>
          </a:p>
          <a:p>
            <a:pPr marL="0" indent="0">
              <a:buNone/>
            </a:pPr>
            <a:endParaRPr lang="en-US" sz="1800">
              <a:latin typeface="Cambria" panose="02040503050406030204" pitchFamily="18" charset="0"/>
              <a:cs typeface="Times New Roman" pitchFamily="18" charset="0"/>
            </a:endParaRPr>
          </a:p>
        </p:txBody>
      </p:sp>
      <p:pic>
        <p:nvPicPr>
          <p:cNvPr id="12" name="Picture 11">
            <a:extLst>
              <a:ext uri="{FF2B5EF4-FFF2-40B4-BE49-F238E27FC236}">
                <a16:creationId xmlns:a16="http://schemas.microsoft.com/office/drawing/2014/main" id="{BD2BB057-1FED-4101-BB7A-B6B408CD1870}"/>
              </a:ext>
            </a:extLst>
          </p:cNvPr>
          <p:cNvPicPr>
            <a:picLocks noChangeAspect="1"/>
          </p:cNvPicPr>
          <p:nvPr/>
        </p:nvPicPr>
        <p:blipFill>
          <a:blip r:embed="rId3"/>
          <a:stretch>
            <a:fillRect/>
          </a:stretch>
        </p:blipFill>
        <p:spPr>
          <a:xfrm>
            <a:off x="628650" y="2496741"/>
            <a:ext cx="2543175" cy="1135856"/>
          </a:xfrm>
          <a:prstGeom prst="rect">
            <a:avLst/>
          </a:prstGeom>
        </p:spPr>
      </p:pic>
      <p:pic>
        <p:nvPicPr>
          <p:cNvPr id="15" name="Picture 14">
            <a:extLst>
              <a:ext uri="{FF2B5EF4-FFF2-40B4-BE49-F238E27FC236}">
                <a16:creationId xmlns:a16="http://schemas.microsoft.com/office/drawing/2014/main" id="{FEC8C513-B085-4DF5-8D40-EBF24446205B}"/>
              </a:ext>
            </a:extLst>
          </p:cNvPr>
          <p:cNvPicPr>
            <a:picLocks noChangeAspect="1"/>
          </p:cNvPicPr>
          <p:nvPr/>
        </p:nvPicPr>
        <p:blipFill>
          <a:blip r:embed="rId4"/>
          <a:stretch>
            <a:fillRect/>
          </a:stretch>
        </p:blipFill>
        <p:spPr>
          <a:xfrm>
            <a:off x="4972050" y="2714159"/>
            <a:ext cx="885825" cy="935831"/>
          </a:xfrm>
          <a:prstGeom prst="rect">
            <a:avLst/>
          </a:prstGeom>
        </p:spPr>
      </p:pic>
      <p:sp>
        <p:nvSpPr>
          <p:cNvPr id="16" name="Arrow: Right 15">
            <a:extLst>
              <a:ext uri="{FF2B5EF4-FFF2-40B4-BE49-F238E27FC236}">
                <a16:creationId xmlns:a16="http://schemas.microsoft.com/office/drawing/2014/main" id="{EC9C28B2-169C-4270-801D-D3A009B7ACD3}"/>
              </a:ext>
            </a:extLst>
          </p:cNvPr>
          <p:cNvSpPr/>
          <p:nvPr/>
        </p:nvSpPr>
        <p:spPr>
          <a:xfrm>
            <a:off x="3314700" y="3064668"/>
            <a:ext cx="1257300" cy="30718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97375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85750" y="3048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5.6.</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find, count</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543051"/>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a:t>
            </a:r>
            <a:r>
              <a:rPr lang="en-US" sz="1800" b="1">
                <a:solidFill>
                  <a:srgbClr val="FF0000"/>
                </a:solidFill>
                <a:latin typeface="Cambria" panose="02040503050406030204" pitchFamily="18" charset="0"/>
                <a:cs typeface="Times New Roman" pitchFamily="18" charset="0"/>
              </a:rPr>
              <a:t>find</a:t>
            </a:r>
            <a:r>
              <a:rPr lang="en-US" sz="1800">
                <a:latin typeface="Cambria" panose="02040503050406030204" pitchFamily="18" charset="0"/>
                <a:cs typeface="Times New Roman" pitchFamily="18" charset="0"/>
              </a:rPr>
              <a:t> trả về vị trí đầu tiên tìm thấy, hàm </a:t>
            </a:r>
            <a:r>
              <a:rPr lang="en-US" sz="1800">
                <a:solidFill>
                  <a:srgbClr val="FF0000"/>
                </a:solidFill>
                <a:latin typeface="Cambria" panose="02040503050406030204" pitchFamily="18" charset="0"/>
                <a:cs typeface="Times New Roman" pitchFamily="18" charset="0"/>
              </a:rPr>
              <a:t>rfind</a:t>
            </a:r>
            <a:r>
              <a:rPr lang="en-US" sz="1800">
                <a:latin typeface="Cambria" panose="02040503050406030204" pitchFamily="18" charset="0"/>
                <a:cs typeface="Times New Roman" pitchFamily="18" charset="0"/>
              </a:rPr>
              <a:t> trả về vị trí cuối cùng tìm thấy. Nếu không thấy sẽ trả về -1</a:t>
            </a:r>
          </a:p>
        </p:txBody>
      </p:sp>
      <p:pic>
        <p:nvPicPr>
          <p:cNvPr id="8" name="Picture 7">
            <a:extLst>
              <a:ext uri="{FF2B5EF4-FFF2-40B4-BE49-F238E27FC236}">
                <a16:creationId xmlns:a16="http://schemas.microsoft.com/office/drawing/2014/main" id="{C298F22C-5ABB-4E3E-AC6A-444F7C35B318}"/>
              </a:ext>
            </a:extLst>
          </p:cNvPr>
          <p:cNvPicPr>
            <a:picLocks noChangeAspect="1"/>
          </p:cNvPicPr>
          <p:nvPr/>
        </p:nvPicPr>
        <p:blipFill>
          <a:blip r:embed="rId3"/>
          <a:stretch>
            <a:fillRect/>
          </a:stretch>
        </p:blipFill>
        <p:spPr>
          <a:xfrm>
            <a:off x="532132" y="2895600"/>
            <a:ext cx="3476784" cy="2305050"/>
          </a:xfrm>
          <a:prstGeom prst="rect">
            <a:avLst/>
          </a:prstGeom>
        </p:spPr>
      </p:pic>
      <p:pic>
        <p:nvPicPr>
          <p:cNvPr id="9" name="Picture 8">
            <a:extLst>
              <a:ext uri="{FF2B5EF4-FFF2-40B4-BE49-F238E27FC236}">
                <a16:creationId xmlns:a16="http://schemas.microsoft.com/office/drawing/2014/main" id="{A6F80F7E-2D0A-4DE3-9D42-DABE24AE3AEE}"/>
              </a:ext>
            </a:extLst>
          </p:cNvPr>
          <p:cNvPicPr>
            <a:picLocks noChangeAspect="1"/>
          </p:cNvPicPr>
          <p:nvPr/>
        </p:nvPicPr>
        <p:blipFill>
          <a:blip r:embed="rId4"/>
          <a:stretch>
            <a:fillRect/>
          </a:stretch>
        </p:blipFill>
        <p:spPr>
          <a:xfrm>
            <a:off x="5486399" y="3175397"/>
            <a:ext cx="1283911" cy="1244203"/>
          </a:xfrm>
          <a:prstGeom prst="rect">
            <a:avLst/>
          </a:prstGeom>
        </p:spPr>
      </p:pic>
      <p:sp>
        <p:nvSpPr>
          <p:cNvPr id="10" name="Arrow: Right 9">
            <a:extLst>
              <a:ext uri="{FF2B5EF4-FFF2-40B4-BE49-F238E27FC236}">
                <a16:creationId xmlns:a16="http://schemas.microsoft.com/office/drawing/2014/main" id="{B3DDF9A3-4035-4BF0-8D0D-55643E2FC583}"/>
              </a:ext>
            </a:extLst>
          </p:cNvPr>
          <p:cNvSpPr/>
          <p:nvPr/>
        </p:nvSpPr>
        <p:spPr>
          <a:xfrm>
            <a:off x="4343400" y="3511154"/>
            <a:ext cx="1028700" cy="3429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090246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a:t>
            </a:r>
            <a:r>
              <a:rPr lang="en-US" sz="1800" b="1">
                <a:solidFill>
                  <a:srgbClr val="FF0000"/>
                </a:solidFill>
                <a:latin typeface="Cambria" panose="02040503050406030204" pitchFamily="18" charset="0"/>
                <a:cs typeface="Times New Roman" pitchFamily="18" charset="0"/>
              </a:rPr>
              <a:t>count</a:t>
            </a:r>
            <a:r>
              <a:rPr lang="en-US" sz="1800">
                <a:latin typeface="Cambria" panose="02040503050406030204" pitchFamily="18" charset="0"/>
                <a:cs typeface="Times New Roman" pitchFamily="18" charset="0"/>
              </a:rPr>
              <a:t> trả về số lần xuất hiện của Chuỗi con trong Chuỗi gốc, không tồn tại trả về 0</a:t>
            </a:r>
          </a:p>
        </p:txBody>
      </p:sp>
      <p:sp>
        <p:nvSpPr>
          <p:cNvPr id="10" name="Arrow: Right 9">
            <a:extLst>
              <a:ext uri="{FF2B5EF4-FFF2-40B4-BE49-F238E27FC236}">
                <a16:creationId xmlns:a16="http://schemas.microsoft.com/office/drawing/2014/main" id="{B3DDF9A3-4035-4BF0-8D0D-55643E2FC583}"/>
              </a:ext>
            </a:extLst>
          </p:cNvPr>
          <p:cNvSpPr/>
          <p:nvPr/>
        </p:nvSpPr>
        <p:spPr>
          <a:xfrm>
            <a:off x="6951611" y="3461146"/>
            <a:ext cx="1028700" cy="3429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3E97DF48-FF62-42B6-A066-A711374F6008}"/>
              </a:ext>
            </a:extLst>
          </p:cNvPr>
          <p:cNvPicPr>
            <a:picLocks noChangeAspect="1"/>
          </p:cNvPicPr>
          <p:nvPr/>
        </p:nvPicPr>
        <p:blipFill>
          <a:blip r:embed="rId3"/>
          <a:stretch>
            <a:fillRect/>
          </a:stretch>
        </p:blipFill>
        <p:spPr>
          <a:xfrm>
            <a:off x="160389" y="2781610"/>
            <a:ext cx="6629400" cy="1701971"/>
          </a:xfrm>
          <a:prstGeom prst="rect">
            <a:avLst/>
          </a:prstGeom>
        </p:spPr>
      </p:pic>
      <p:pic>
        <p:nvPicPr>
          <p:cNvPr id="12" name="Picture 11">
            <a:extLst>
              <a:ext uri="{FF2B5EF4-FFF2-40B4-BE49-F238E27FC236}">
                <a16:creationId xmlns:a16="http://schemas.microsoft.com/office/drawing/2014/main" id="{DD2834CB-C1DD-4E5F-939E-32B9510A60E9}"/>
              </a:ext>
            </a:extLst>
          </p:cNvPr>
          <p:cNvPicPr>
            <a:picLocks noChangeAspect="1"/>
          </p:cNvPicPr>
          <p:nvPr/>
        </p:nvPicPr>
        <p:blipFill>
          <a:blip r:embed="rId4"/>
          <a:stretch>
            <a:fillRect/>
          </a:stretch>
        </p:blipFill>
        <p:spPr>
          <a:xfrm>
            <a:off x="8077200" y="3251735"/>
            <a:ext cx="838200" cy="786865"/>
          </a:xfrm>
          <a:prstGeom prst="rect">
            <a:avLst/>
          </a:prstGeom>
        </p:spPr>
      </p:pic>
      <p:grpSp>
        <p:nvGrpSpPr>
          <p:cNvPr id="15" name="Group 14">
            <a:extLst>
              <a:ext uri="{FF2B5EF4-FFF2-40B4-BE49-F238E27FC236}">
                <a16:creationId xmlns:a16="http://schemas.microsoft.com/office/drawing/2014/main" id="{D24B3BAF-6AA6-4627-95F7-21F0F004F72F}"/>
              </a:ext>
            </a:extLst>
          </p:cNvPr>
          <p:cNvGrpSpPr/>
          <p:nvPr/>
        </p:nvGrpSpPr>
        <p:grpSpPr>
          <a:xfrm>
            <a:off x="361950" y="381000"/>
            <a:ext cx="4972050" cy="381000"/>
            <a:chOff x="789624" y="1191463"/>
            <a:chExt cx="6629400" cy="508000"/>
          </a:xfrm>
        </p:grpSpPr>
        <p:sp>
          <p:nvSpPr>
            <p:cNvPr id="16" name="AutoShape 52">
              <a:extLst>
                <a:ext uri="{FF2B5EF4-FFF2-40B4-BE49-F238E27FC236}">
                  <a16:creationId xmlns:a16="http://schemas.microsoft.com/office/drawing/2014/main" id="{CD47563F-DDE1-4C61-8779-CF86544BD6EA}"/>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5.6.</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find, count</a:t>
              </a:r>
            </a:p>
          </p:txBody>
        </p:sp>
        <p:grpSp>
          <p:nvGrpSpPr>
            <p:cNvPr id="17" name="Group 17">
              <a:extLst>
                <a:ext uri="{FF2B5EF4-FFF2-40B4-BE49-F238E27FC236}">
                  <a16:creationId xmlns:a16="http://schemas.microsoft.com/office/drawing/2014/main" id="{ED280967-72DA-40D8-ADC1-FFEDBB82D7AE}"/>
                </a:ext>
              </a:extLst>
            </p:cNvPr>
            <p:cNvGrpSpPr>
              <a:grpSpLocks/>
            </p:cNvGrpSpPr>
            <p:nvPr/>
          </p:nvGrpSpPr>
          <p:grpSpPr bwMode="auto">
            <a:xfrm>
              <a:off x="789624" y="1295400"/>
              <a:ext cx="353376" cy="272472"/>
              <a:chOff x="1110" y="2656"/>
              <a:chExt cx="1549" cy="1351"/>
            </a:xfrm>
          </p:grpSpPr>
          <p:sp>
            <p:nvSpPr>
              <p:cNvPr id="18" name="AutoShape 18">
                <a:extLst>
                  <a:ext uri="{FF2B5EF4-FFF2-40B4-BE49-F238E27FC236}">
                    <a16:creationId xmlns:a16="http://schemas.microsoft.com/office/drawing/2014/main" id="{61C1D1D9-B181-4A1D-9D8A-1BE52CA20CC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19" name="AutoShape 19">
                <a:extLst>
                  <a:ext uri="{FF2B5EF4-FFF2-40B4-BE49-F238E27FC236}">
                    <a16:creationId xmlns:a16="http://schemas.microsoft.com/office/drawing/2014/main" id="{3996856E-43CB-41BE-AB5D-743B24255D2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20" name="AutoShape 20">
                <a:extLst>
                  <a:ext uri="{FF2B5EF4-FFF2-40B4-BE49-F238E27FC236}">
                    <a16:creationId xmlns:a16="http://schemas.microsoft.com/office/drawing/2014/main" id="{5644FA5A-0FCD-4D38-A12C-C5B8D2D529C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5502523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85750" y="3048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5.7.</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format</a:t>
              </a:r>
              <a:r>
                <a:rPr lang="en-US" sz="2100" b="1" i="1">
                  <a:highlight>
                    <a:srgbClr val="FFFF00"/>
                  </a:highlight>
                  <a:latin typeface="Cambria" panose="02040503050406030204" pitchFamily="18" charset="0"/>
                  <a:ea typeface="Cambria" panose="02040503050406030204" pitchFamily="18" charset="0"/>
                </a:rPr>
                <a:t>, substring</a:t>
              </a:r>
              <a:endParaRPr lang="vi-VN" sz="2100" b="1" i="1">
                <a:highlight>
                  <a:srgbClr val="FFFF00"/>
                </a:highlight>
                <a:latin typeface="Cambria" panose="02040503050406030204" pitchFamily="18" charset="0"/>
                <a:ea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485901"/>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a:latin typeface="Cambria" panose="02040503050406030204" pitchFamily="18" charset="0"/>
                <a:cs typeface="Times New Roman" pitchFamily="18" charset="0"/>
              </a:rPr>
              <a:t>Hàm format sử dụng {} để dành chỗ xuất dữ liệu</a:t>
            </a:r>
          </a:p>
        </p:txBody>
      </p:sp>
      <p:sp>
        <p:nvSpPr>
          <p:cNvPr id="10" name="Arrow: Right 9">
            <a:extLst>
              <a:ext uri="{FF2B5EF4-FFF2-40B4-BE49-F238E27FC236}">
                <a16:creationId xmlns:a16="http://schemas.microsoft.com/office/drawing/2014/main" id="{B3DDF9A3-4035-4BF0-8D0D-55643E2FC583}"/>
              </a:ext>
            </a:extLst>
          </p:cNvPr>
          <p:cNvSpPr/>
          <p:nvPr/>
        </p:nvSpPr>
        <p:spPr>
          <a:xfrm>
            <a:off x="4739723" y="3061097"/>
            <a:ext cx="1028700" cy="3429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93D4F629-30DD-4746-8284-0DA78C89EADC}"/>
              </a:ext>
            </a:extLst>
          </p:cNvPr>
          <p:cNvPicPr>
            <a:picLocks noChangeAspect="1"/>
          </p:cNvPicPr>
          <p:nvPr/>
        </p:nvPicPr>
        <p:blipFill>
          <a:blip r:embed="rId3"/>
          <a:stretch>
            <a:fillRect/>
          </a:stretch>
        </p:blipFill>
        <p:spPr>
          <a:xfrm>
            <a:off x="884894" y="2486025"/>
            <a:ext cx="3872812" cy="1552575"/>
          </a:xfrm>
          <a:prstGeom prst="rect">
            <a:avLst/>
          </a:prstGeom>
        </p:spPr>
      </p:pic>
      <p:pic>
        <p:nvPicPr>
          <p:cNvPr id="12" name="Picture 11">
            <a:extLst>
              <a:ext uri="{FF2B5EF4-FFF2-40B4-BE49-F238E27FC236}">
                <a16:creationId xmlns:a16="http://schemas.microsoft.com/office/drawing/2014/main" id="{A9E2110F-1F56-4AF3-9268-136D3671D652}"/>
              </a:ext>
            </a:extLst>
          </p:cNvPr>
          <p:cNvPicPr>
            <a:picLocks noChangeAspect="1"/>
          </p:cNvPicPr>
          <p:nvPr/>
        </p:nvPicPr>
        <p:blipFill>
          <a:blip r:embed="rId4"/>
          <a:stretch>
            <a:fillRect/>
          </a:stretch>
        </p:blipFill>
        <p:spPr>
          <a:xfrm>
            <a:off x="6073499" y="3061097"/>
            <a:ext cx="2486025" cy="520303"/>
          </a:xfrm>
          <a:prstGeom prst="rect">
            <a:avLst/>
          </a:prstGeom>
        </p:spPr>
      </p:pic>
    </p:spTree>
    <p:extLst>
      <p:ext uri="{BB962C8B-B14F-4D97-AF65-F5344CB8AC3E}">
        <p14:creationId xmlns:p14="http://schemas.microsoft.com/office/powerpoint/2010/main" val="2901100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substring</a:t>
            </a:r>
          </a:p>
        </p:txBody>
      </p:sp>
      <p:sp>
        <p:nvSpPr>
          <p:cNvPr id="8" name="Rectangle 1">
            <a:extLst>
              <a:ext uri="{FF2B5EF4-FFF2-40B4-BE49-F238E27FC236}">
                <a16:creationId xmlns:a16="http://schemas.microsoft.com/office/drawing/2014/main" id="{097C8484-5FFA-4F84-AAB7-A63F2779E1CD}"/>
              </a:ext>
            </a:extLst>
          </p:cNvPr>
          <p:cNvSpPr>
            <a:spLocks noChangeArrowheads="1"/>
          </p:cNvSpPr>
          <p:nvPr/>
        </p:nvSpPr>
        <p:spPr bwMode="auto">
          <a:xfrm>
            <a:off x="920764" y="2114550"/>
            <a:ext cx="3722814" cy="22852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eaLnBrk="0" fontAlgn="base" hangingPunct="0">
              <a:spcBef>
                <a:spcPct val="0"/>
              </a:spcBef>
              <a:spcAft>
                <a:spcPct val="0"/>
              </a:spcAft>
            </a:pPr>
            <a:r>
              <a:rPr lang="en-US" altLang="en-US" sz="1800">
                <a:solidFill>
                  <a:srgbClr val="000000"/>
                </a:solidFill>
                <a:latin typeface="Courier New" panose="02070309020205020404" pitchFamily="49" charset="0"/>
                <a:cs typeface="Courier New" panose="02070309020205020404" pitchFamily="49" charset="0"/>
              </a:rPr>
              <a:t>x = </a:t>
            </a:r>
            <a:r>
              <a:rPr lang="en-US" altLang="en-US" sz="1800" b="1">
                <a:solidFill>
                  <a:srgbClr val="008080"/>
                </a:solidFill>
                <a:latin typeface="Courier New" panose="02070309020205020404" pitchFamily="49" charset="0"/>
                <a:cs typeface="Courier New" panose="02070309020205020404" pitchFamily="49" charset="0"/>
              </a:rPr>
              <a:t>"Hello World!"</a:t>
            </a:r>
            <a:br>
              <a:rPr lang="en-US" altLang="en-US" sz="1800" b="1">
                <a:solidFill>
                  <a:srgbClr val="008080"/>
                </a:solidFill>
                <a:latin typeface="Courier New" panose="02070309020205020404" pitchFamily="49" charset="0"/>
                <a:cs typeface="Courier New" panose="02070309020205020404" pitchFamily="49" charset="0"/>
              </a:rPr>
            </a:br>
            <a:r>
              <a:rPr lang="en-US" altLang="en-US" sz="1800">
                <a:solidFill>
                  <a:srgbClr val="000080"/>
                </a:solidFill>
                <a:latin typeface="Courier New" panose="02070309020205020404" pitchFamily="49" charset="0"/>
                <a:cs typeface="Courier New" panose="02070309020205020404" pitchFamily="49" charset="0"/>
              </a:rPr>
              <a:t>print</a:t>
            </a:r>
            <a:r>
              <a:rPr lang="en-US" altLang="en-US" sz="1800">
                <a:solidFill>
                  <a:srgbClr val="000000"/>
                </a:solidFill>
                <a:latin typeface="Courier New" panose="02070309020205020404" pitchFamily="49" charset="0"/>
                <a:cs typeface="Courier New" panose="02070309020205020404" pitchFamily="49" charset="0"/>
              </a:rPr>
              <a:t>(x[</a:t>
            </a:r>
            <a:r>
              <a:rPr lang="en-US" altLang="en-US" sz="1800">
                <a:solidFill>
                  <a:srgbClr val="0000FF"/>
                </a:solidFill>
                <a:latin typeface="Courier New" panose="02070309020205020404" pitchFamily="49" charset="0"/>
                <a:cs typeface="Courier New" panose="02070309020205020404" pitchFamily="49" charset="0"/>
              </a:rPr>
              <a:t>2</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a:t>
            </a:r>
            <a:r>
              <a:rPr lang="en-US" altLang="en-US" sz="1800" b="1">
                <a:solidFill>
                  <a:srgbClr val="00808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llo World!</a:t>
            </a:r>
            <a:r>
              <a:rPr lang="en-US" altLang="en-US" sz="1800" b="1">
                <a:solidFill>
                  <a:srgbClr val="008080"/>
                </a:solidFill>
                <a:latin typeface="Courier New" panose="02070309020205020404" pitchFamily="49" charset="0"/>
                <a:cs typeface="Courier New" panose="02070309020205020404" pitchFamily="49" charset="0"/>
              </a:rPr>
              <a:t>"</a:t>
            </a:r>
            <a:br>
              <a:rPr lang="en-US" altLang="en-US" sz="1800" i="1">
                <a:solidFill>
                  <a:srgbClr val="808080"/>
                </a:solidFill>
                <a:latin typeface="Courier New" panose="02070309020205020404" pitchFamily="49" charset="0"/>
                <a:cs typeface="Courier New" panose="02070309020205020404" pitchFamily="49" charset="0"/>
              </a:rPr>
            </a:br>
            <a:r>
              <a:rPr lang="en-US" altLang="en-US" sz="1800">
                <a:solidFill>
                  <a:srgbClr val="000080"/>
                </a:solidFill>
                <a:latin typeface="Courier New" panose="02070309020205020404" pitchFamily="49" charset="0"/>
                <a:cs typeface="Courier New" panose="02070309020205020404" pitchFamily="49" charset="0"/>
              </a:rPr>
              <a:t>print</a:t>
            </a:r>
            <a:r>
              <a:rPr lang="en-US" altLang="en-US" sz="1800">
                <a:solidFill>
                  <a:srgbClr val="000000"/>
                </a:solidFill>
                <a:latin typeface="Courier New" panose="02070309020205020404" pitchFamily="49" charset="0"/>
                <a:cs typeface="Courier New" panose="02070309020205020404" pitchFamily="49" charset="0"/>
              </a:rPr>
              <a:t>(x[:</a:t>
            </a:r>
            <a:r>
              <a:rPr lang="en-US" altLang="en-US" sz="1800">
                <a:solidFill>
                  <a:srgbClr val="0000FF"/>
                </a:solidFill>
                <a:latin typeface="Courier New" panose="02070309020205020404" pitchFamily="49" charset="0"/>
                <a:cs typeface="Courier New" panose="02070309020205020404" pitchFamily="49" charset="0"/>
              </a:rPr>
              <a:t>2</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a:t>
            </a:r>
            <a:r>
              <a:rPr lang="en-US" altLang="en-US" sz="1800" b="1">
                <a:solidFill>
                  <a:srgbClr val="00808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He</a:t>
            </a:r>
            <a:r>
              <a:rPr lang="en-US" altLang="en-US" sz="1800" b="1">
                <a:solidFill>
                  <a:srgbClr val="008080"/>
                </a:solidFill>
                <a:latin typeface="Courier New" panose="02070309020205020404" pitchFamily="49" charset="0"/>
                <a:cs typeface="Courier New" panose="02070309020205020404" pitchFamily="49" charset="0"/>
              </a:rPr>
              <a:t>"</a:t>
            </a:r>
            <a:br>
              <a:rPr lang="en-US" altLang="en-US" sz="1800" i="1">
                <a:solidFill>
                  <a:srgbClr val="808080"/>
                </a:solidFill>
                <a:latin typeface="Courier New" panose="02070309020205020404" pitchFamily="49" charset="0"/>
                <a:cs typeface="Courier New" panose="02070309020205020404" pitchFamily="49" charset="0"/>
              </a:rPr>
            </a:br>
            <a:r>
              <a:rPr lang="en-US" altLang="en-US" sz="1800">
                <a:solidFill>
                  <a:srgbClr val="000080"/>
                </a:solidFill>
                <a:latin typeface="Courier New" panose="02070309020205020404" pitchFamily="49" charset="0"/>
                <a:cs typeface="Courier New" panose="02070309020205020404" pitchFamily="49" charset="0"/>
              </a:rPr>
              <a:t>print</a:t>
            </a:r>
            <a:r>
              <a:rPr lang="en-US" altLang="en-US" sz="1800">
                <a:solidFill>
                  <a:srgbClr val="000000"/>
                </a:solidFill>
                <a:latin typeface="Courier New" panose="02070309020205020404" pitchFamily="49" charset="0"/>
                <a:cs typeface="Courier New" panose="02070309020205020404" pitchFamily="49" charset="0"/>
              </a:rPr>
              <a:t>(x[:-</a:t>
            </a:r>
            <a:r>
              <a:rPr lang="en-US" altLang="en-US" sz="1800">
                <a:solidFill>
                  <a:srgbClr val="0000FF"/>
                </a:solidFill>
                <a:latin typeface="Courier New" panose="02070309020205020404" pitchFamily="49" charset="0"/>
                <a:cs typeface="Courier New" panose="02070309020205020404" pitchFamily="49" charset="0"/>
              </a:rPr>
              <a:t>2</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a:t>
            </a:r>
            <a:r>
              <a:rPr lang="en-US" altLang="en-US" sz="1800" b="1">
                <a:solidFill>
                  <a:srgbClr val="00808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Hello Worl</a:t>
            </a:r>
            <a:r>
              <a:rPr lang="en-US" altLang="en-US" sz="1800" b="1">
                <a:solidFill>
                  <a:srgbClr val="008080"/>
                </a:solidFill>
                <a:latin typeface="Courier New" panose="02070309020205020404" pitchFamily="49" charset="0"/>
                <a:cs typeface="Courier New" panose="02070309020205020404" pitchFamily="49" charset="0"/>
              </a:rPr>
              <a:t>"</a:t>
            </a:r>
            <a:br>
              <a:rPr lang="en-US" altLang="en-US" sz="1800" i="1">
                <a:solidFill>
                  <a:srgbClr val="808080"/>
                </a:solidFill>
                <a:latin typeface="Courier New" panose="02070309020205020404" pitchFamily="49" charset="0"/>
                <a:cs typeface="Courier New" panose="02070309020205020404" pitchFamily="49" charset="0"/>
              </a:rPr>
            </a:br>
            <a:r>
              <a:rPr lang="en-US" altLang="en-US" sz="1800">
                <a:solidFill>
                  <a:srgbClr val="000080"/>
                </a:solidFill>
                <a:latin typeface="Courier New" panose="02070309020205020404" pitchFamily="49" charset="0"/>
                <a:cs typeface="Courier New" panose="02070309020205020404" pitchFamily="49" charset="0"/>
              </a:rPr>
              <a:t>print</a:t>
            </a:r>
            <a:r>
              <a:rPr lang="en-US" altLang="en-US" sz="1800">
                <a:solidFill>
                  <a:srgbClr val="000000"/>
                </a:solidFill>
                <a:latin typeface="Courier New" panose="02070309020205020404" pitchFamily="49" charset="0"/>
                <a:cs typeface="Courier New" panose="02070309020205020404" pitchFamily="49" charset="0"/>
              </a:rPr>
              <a:t>(x[-</a:t>
            </a:r>
            <a:r>
              <a:rPr lang="en-US" altLang="en-US" sz="1800">
                <a:solidFill>
                  <a:srgbClr val="0000FF"/>
                </a:solidFill>
                <a:latin typeface="Courier New" panose="02070309020205020404" pitchFamily="49" charset="0"/>
                <a:cs typeface="Courier New" panose="02070309020205020404" pitchFamily="49" charset="0"/>
              </a:rPr>
              <a:t>2</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a:t>
            </a:r>
            <a:r>
              <a:rPr lang="en-US" altLang="en-US" sz="1800" b="1">
                <a:solidFill>
                  <a:srgbClr val="00808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d!</a:t>
            </a:r>
            <a:r>
              <a:rPr lang="en-US" altLang="en-US" sz="1800" b="1">
                <a:solidFill>
                  <a:srgbClr val="008080"/>
                </a:solidFill>
                <a:latin typeface="Courier New" panose="02070309020205020404" pitchFamily="49" charset="0"/>
                <a:cs typeface="Courier New" panose="02070309020205020404" pitchFamily="49" charset="0"/>
              </a:rPr>
              <a:t>"</a:t>
            </a:r>
            <a:br>
              <a:rPr lang="en-US" altLang="en-US" sz="1800" i="1">
                <a:solidFill>
                  <a:srgbClr val="808080"/>
                </a:solidFill>
                <a:latin typeface="Courier New" panose="02070309020205020404" pitchFamily="49" charset="0"/>
                <a:cs typeface="Courier New" panose="02070309020205020404" pitchFamily="49" charset="0"/>
              </a:rPr>
            </a:br>
            <a:r>
              <a:rPr lang="en-US" altLang="en-US" sz="1800">
                <a:solidFill>
                  <a:srgbClr val="000080"/>
                </a:solidFill>
                <a:latin typeface="Courier New" panose="02070309020205020404" pitchFamily="49" charset="0"/>
                <a:cs typeface="Courier New" panose="02070309020205020404" pitchFamily="49" charset="0"/>
              </a:rPr>
              <a:t>print</a:t>
            </a:r>
            <a:r>
              <a:rPr lang="en-US" altLang="en-US" sz="1800">
                <a:solidFill>
                  <a:srgbClr val="000000"/>
                </a:solidFill>
                <a:latin typeface="Courier New" panose="02070309020205020404" pitchFamily="49" charset="0"/>
                <a:cs typeface="Courier New" panose="02070309020205020404" pitchFamily="49" charset="0"/>
              </a:rPr>
              <a:t>(x[</a:t>
            </a:r>
            <a:r>
              <a:rPr lang="en-US" altLang="en-US" sz="1800">
                <a:solidFill>
                  <a:srgbClr val="0000FF"/>
                </a:solidFill>
                <a:latin typeface="Courier New" panose="02070309020205020404" pitchFamily="49" charset="0"/>
                <a:cs typeface="Courier New" panose="02070309020205020404" pitchFamily="49" charset="0"/>
              </a:rPr>
              <a:t>2</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a:solidFill>
                  <a:srgbClr val="0000FF"/>
                </a:solidFill>
                <a:latin typeface="Courier New" panose="02070309020205020404" pitchFamily="49" charset="0"/>
                <a:cs typeface="Courier New" panose="02070309020205020404" pitchFamily="49" charset="0"/>
              </a:rPr>
              <a:t>2</a:t>
            </a:r>
            <a:r>
              <a:rPr lang="en-US" altLang="en-US" sz="1800">
                <a:solidFill>
                  <a:srgbClr val="00000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a:t>
            </a:r>
            <a:r>
              <a:rPr lang="en-US" altLang="en-US" sz="1800" b="1">
                <a:solidFill>
                  <a:srgbClr val="00808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llo Worl</a:t>
            </a:r>
            <a:r>
              <a:rPr lang="en-US" altLang="en-US" sz="1800" b="1">
                <a:solidFill>
                  <a:srgbClr val="008080"/>
                </a:solidFill>
                <a:latin typeface="Courier New" panose="02070309020205020404" pitchFamily="49" charset="0"/>
                <a:cs typeface="Courier New" panose="02070309020205020404" pitchFamily="49" charset="0"/>
              </a:rPr>
              <a:t>"</a:t>
            </a:r>
          </a:p>
          <a:p>
            <a:pPr eaLnBrk="0" fontAlgn="base" hangingPunct="0">
              <a:spcBef>
                <a:spcPct val="0"/>
              </a:spcBef>
              <a:spcAft>
                <a:spcPct val="0"/>
              </a:spcAft>
            </a:pPr>
            <a:r>
              <a:rPr lang="en-US" altLang="en-US" sz="1800">
                <a:solidFill>
                  <a:srgbClr val="000080"/>
                </a:solidFill>
                <a:latin typeface="Courier New" panose="02070309020205020404" pitchFamily="49" charset="0"/>
                <a:cs typeface="Courier New" panose="02070309020205020404" pitchFamily="49" charset="0"/>
              </a:rPr>
              <a:t>print</a:t>
            </a:r>
            <a:r>
              <a:rPr lang="en-US" altLang="en-US" sz="1800">
                <a:solidFill>
                  <a:srgbClr val="000000"/>
                </a:solidFill>
                <a:latin typeface="Courier New" panose="02070309020205020404" pitchFamily="49" charset="0"/>
                <a:cs typeface="Courier New" panose="02070309020205020404" pitchFamily="49" charset="0"/>
              </a:rPr>
              <a:t>(x[</a:t>
            </a:r>
            <a:r>
              <a:rPr lang="en-US" altLang="en-US" sz="1800">
                <a:solidFill>
                  <a:srgbClr val="0000FF"/>
                </a:solidFill>
                <a:latin typeface="Courier New" panose="02070309020205020404" pitchFamily="49" charset="0"/>
                <a:cs typeface="Courier New" panose="02070309020205020404" pitchFamily="49" charset="0"/>
              </a:rPr>
              <a:t>6</a:t>
            </a:r>
            <a:r>
              <a:rPr lang="en-US" altLang="en-US" sz="1800">
                <a:solidFill>
                  <a:srgbClr val="000000"/>
                </a:solidFill>
                <a:latin typeface="Courier New" panose="02070309020205020404" pitchFamily="49" charset="0"/>
                <a:cs typeface="Courier New" panose="02070309020205020404" pitchFamily="49" charset="0"/>
              </a:rPr>
              <a:t>:11])</a:t>
            </a:r>
            <a:r>
              <a:rPr lang="en-US" altLang="en-US" sz="1800" i="1">
                <a:solidFill>
                  <a:srgbClr val="808080"/>
                </a:solidFill>
                <a:latin typeface="Courier New" panose="02070309020205020404" pitchFamily="49" charset="0"/>
                <a:cs typeface="Courier New" panose="02070309020205020404" pitchFamily="49" charset="0"/>
              </a:rPr>
              <a:t>#</a:t>
            </a:r>
            <a:r>
              <a:rPr lang="en-US" altLang="en-US" sz="1800" b="1">
                <a:solidFill>
                  <a:srgbClr val="008080"/>
                </a:solidFill>
                <a:latin typeface="Courier New" panose="02070309020205020404" pitchFamily="49" charset="0"/>
                <a:cs typeface="Courier New" panose="02070309020205020404" pitchFamily="49" charset="0"/>
              </a:rPr>
              <a:t>"</a:t>
            </a:r>
            <a:r>
              <a:rPr lang="en-US" altLang="en-US" sz="1800" i="1">
                <a:solidFill>
                  <a:srgbClr val="808080"/>
                </a:solidFill>
                <a:latin typeface="Courier New" panose="02070309020205020404" pitchFamily="49" charset="0"/>
                <a:cs typeface="Courier New" panose="02070309020205020404" pitchFamily="49" charset="0"/>
              </a:rPr>
              <a:t>World</a:t>
            </a:r>
            <a:r>
              <a:rPr lang="en-US" altLang="en-US" sz="1800" b="1">
                <a:solidFill>
                  <a:srgbClr val="008080"/>
                </a:solidFill>
                <a:latin typeface="Courier New" panose="02070309020205020404" pitchFamily="49" charset="0"/>
                <a:cs typeface="Courier New" panose="02070309020205020404" pitchFamily="49" charset="0"/>
              </a:rPr>
              <a:t>"</a:t>
            </a:r>
            <a:endParaRPr lang="en-US" altLang="en-US" sz="1800">
              <a:latin typeface="Arial" panose="020B0604020202020204" pitchFamily="34" charset="0"/>
            </a:endParaRPr>
          </a:p>
          <a:p>
            <a:pPr lvl="0" eaLnBrk="0" fontAlgn="base" hangingPunct="0">
              <a:spcBef>
                <a:spcPct val="0"/>
              </a:spcBef>
              <a:spcAft>
                <a:spcPct val="0"/>
              </a:spcAft>
            </a:pPr>
            <a:endParaRPr lang="en-US" altLang="en-US" sz="1800">
              <a:latin typeface="Arial" panose="020B0604020202020204" pitchFamily="34" charset="0"/>
            </a:endParaRPr>
          </a:p>
        </p:txBody>
      </p:sp>
      <p:grpSp>
        <p:nvGrpSpPr>
          <p:cNvPr id="19" name="Group 18">
            <a:extLst>
              <a:ext uri="{FF2B5EF4-FFF2-40B4-BE49-F238E27FC236}">
                <a16:creationId xmlns:a16="http://schemas.microsoft.com/office/drawing/2014/main" id="{0C97192A-55EB-40A2-B501-7B4BBD89A90F}"/>
              </a:ext>
            </a:extLst>
          </p:cNvPr>
          <p:cNvGrpSpPr/>
          <p:nvPr/>
        </p:nvGrpSpPr>
        <p:grpSpPr>
          <a:xfrm>
            <a:off x="361950" y="381000"/>
            <a:ext cx="4972050" cy="381000"/>
            <a:chOff x="789624" y="1191463"/>
            <a:chExt cx="6629400" cy="508000"/>
          </a:xfrm>
        </p:grpSpPr>
        <p:sp>
          <p:nvSpPr>
            <p:cNvPr id="20" name="AutoShape 52">
              <a:extLst>
                <a:ext uri="{FF2B5EF4-FFF2-40B4-BE49-F238E27FC236}">
                  <a16:creationId xmlns:a16="http://schemas.microsoft.com/office/drawing/2014/main" id="{6774A004-1CAF-4924-8E13-348728EF010F}"/>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5.7.</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format</a:t>
              </a:r>
              <a:r>
                <a:rPr lang="en-US" sz="2100" b="1" i="1">
                  <a:highlight>
                    <a:srgbClr val="FFFF00"/>
                  </a:highlight>
                  <a:latin typeface="Cambria" panose="02040503050406030204" pitchFamily="18" charset="0"/>
                  <a:ea typeface="Cambria" panose="02040503050406030204" pitchFamily="18" charset="0"/>
                </a:rPr>
                <a:t>, substring</a:t>
              </a:r>
              <a:endParaRPr lang="vi-VN" sz="2100" b="1" i="1">
                <a:highlight>
                  <a:srgbClr val="FFFF00"/>
                </a:highlight>
                <a:latin typeface="Cambria" panose="02040503050406030204" pitchFamily="18" charset="0"/>
                <a:ea typeface="Cambria" panose="02040503050406030204" pitchFamily="18" charset="0"/>
              </a:endParaRPr>
            </a:p>
          </p:txBody>
        </p:sp>
        <p:grpSp>
          <p:nvGrpSpPr>
            <p:cNvPr id="21" name="Group 17">
              <a:extLst>
                <a:ext uri="{FF2B5EF4-FFF2-40B4-BE49-F238E27FC236}">
                  <a16:creationId xmlns:a16="http://schemas.microsoft.com/office/drawing/2014/main" id="{18274113-1FD5-4FFC-9B1C-E90103642050}"/>
                </a:ext>
              </a:extLst>
            </p:cNvPr>
            <p:cNvGrpSpPr>
              <a:grpSpLocks/>
            </p:cNvGrpSpPr>
            <p:nvPr/>
          </p:nvGrpSpPr>
          <p:grpSpPr bwMode="auto">
            <a:xfrm>
              <a:off x="789624" y="1295400"/>
              <a:ext cx="353376" cy="272472"/>
              <a:chOff x="1110" y="2656"/>
              <a:chExt cx="1549" cy="1351"/>
            </a:xfrm>
          </p:grpSpPr>
          <p:sp>
            <p:nvSpPr>
              <p:cNvPr id="22" name="AutoShape 18">
                <a:extLst>
                  <a:ext uri="{FF2B5EF4-FFF2-40B4-BE49-F238E27FC236}">
                    <a16:creationId xmlns:a16="http://schemas.microsoft.com/office/drawing/2014/main" id="{9AEDB67B-30CB-4423-9C63-28E5118B298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23" name="AutoShape 19">
                <a:extLst>
                  <a:ext uri="{FF2B5EF4-FFF2-40B4-BE49-F238E27FC236}">
                    <a16:creationId xmlns:a16="http://schemas.microsoft.com/office/drawing/2014/main" id="{F940480A-B769-4FB7-9A3E-E9CCF8E9A97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24" name="AutoShape 20">
                <a:extLst>
                  <a:ext uri="{FF2B5EF4-FFF2-40B4-BE49-F238E27FC236}">
                    <a16:creationId xmlns:a16="http://schemas.microsoft.com/office/drawing/2014/main" id="{EFD5026F-20CE-4A8D-97C4-3FE26F4091E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1259920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85750"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5.8.</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tách chuỗi</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600201"/>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split dùng để tách chuỗi thành mảng các chuỗi con</a:t>
            </a:r>
          </a:p>
        </p:txBody>
      </p:sp>
      <p:sp>
        <p:nvSpPr>
          <p:cNvPr id="10" name="Arrow: Right 9">
            <a:extLst>
              <a:ext uri="{FF2B5EF4-FFF2-40B4-BE49-F238E27FC236}">
                <a16:creationId xmlns:a16="http://schemas.microsoft.com/office/drawing/2014/main" id="{B3DDF9A3-4035-4BF0-8D0D-55643E2FC583}"/>
              </a:ext>
            </a:extLst>
          </p:cNvPr>
          <p:cNvSpPr/>
          <p:nvPr/>
        </p:nvSpPr>
        <p:spPr>
          <a:xfrm>
            <a:off x="4519820" y="2761059"/>
            <a:ext cx="1028700" cy="3429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a:extLst>
              <a:ext uri="{FF2B5EF4-FFF2-40B4-BE49-F238E27FC236}">
                <a16:creationId xmlns:a16="http://schemas.microsoft.com/office/drawing/2014/main" id="{D92965C3-F1AA-4EC7-B568-E9C3BF5AB1AD}"/>
              </a:ext>
            </a:extLst>
          </p:cNvPr>
          <p:cNvPicPr>
            <a:picLocks noChangeAspect="1"/>
          </p:cNvPicPr>
          <p:nvPr/>
        </p:nvPicPr>
        <p:blipFill>
          <a:blip r:embed="rId3"/>
          <a:stretch>
            <a:fillRect/>
          </a:stretch>
        </p:blipFill>
        <p:spPr>
          <a:xfrm>
            <a:off x="428936" y="2575322"/>
            <a:ext cx="3557588" cy="1057275"/>
          </a:xfrm>
          <a:prstGeom prst="rect">
            <a:avLst/>
          </a:prstGeom>
        </p:spPr>
      </p:pic>
      <p:pic>
        <p:nvPicPr>
          <p:cNvPr id="9" name="Picture 8">
            <a:extLst>
              <a:ext uri="{FF2B5EF4-FFF2-40B4-BE49-F238E27FC236}">
                <a16:creationId xmlns:a16="http://schemas.microsoft.com/office/drawing/2014/main" id="{842F413D-FFA7-48C4-89E8-2ACC6F765977}"/>
              </a:ext>
            </a:extLst>
          </p:cNvPr>
          <p:cNvPicPr>
            <a:picLocks noChangeAspect="1"/>
          </p:cNvPicPr>
          <p:nvPr/>
        </p:nvPicPr>
        <p:blipFill>
          <a:blip r:embed="rId4"/>
          <a:stretch>
            <a:fillRect/>
          </a:stretch>
        </p:blipFill>
        <p:spPr>
          <a:xfrm>
            <a:off x="5715001" y="2699407"/>
            <a:ext cx="1678781" cy="707231"/>
          </a:xfrm>
          <a:prstGeom prst="rect">
            <a:avLst/>
          </a:prstGeom>
          <a:ln>
            <a:solidFill>
              <a:schemeClr val="accent1"/>
            </a:solidFill>
          </a:ln>
        </p:spPr>
      </p:pic>
    </p:spTree>
    <p:extLst>
      <p:ext uri="{BB962C8B-B14F-4D97-AF65-F5344CB8AC3E}">
        <p14:creationId xmlns:p14="http://schemas.microsoft.com/office/powerpoint/2010/main" val="1832034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85750"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100" b="1" i="1">
                  <a:highlight>
                    <a:srgbClr val="FFFF00"/>
                  </a:highlight>
                  <a:latin typeface="Cambria" panose="02040503050406030204" pitchFamily="18" charset="0"/>
                  <a:ea typeface="Cambria" panose="02040503050406030204" pitchFamily="18" charset="0"/>
                </a:rPr>
                <a:t>5.9.</a:t>
              </a:r>
              <a:r>
                <a:rPr lang="en-US" sz="2100" b="1" i="1">
                  <a:highlight>
                    <a:srgbClr val="FFFF00"/>
                  </a:highlight>
                  <a:latin typeface="Cambria" panose="02040503050406030204" pitchFamily="18" charset="0"/>
                  <a:ea typeface="Cambria" panose="02040503050406030204" pitchFamily="18" charset="0"/>
                </a:rPr>
                <a:t> </a:t>
              </a:r>
              <a:r>
                <a:rPr lang="vi-VN" sz="2100" b="1" i="1">
                  <a:highlight>
                    <a:srgbClr val="FFFF00"/>
                  </a:highlight>
                  <a:latin typeface="Cambria" panose="02040503050406030204" pitchFamily="18" charset="0"/>
                  <a:ea typeface="Cambria" panose="02040503050406030204" pitchFamily="18" charset="0"/>
                </a:rPr>
                <a:t>Hàm nối chuỗi</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42900" y="1664494"/>
            <a:ext cx="8572500" cy="39362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a:latin typeface="Cambria" panose="02040503050406030204" pitchFamily="18" charset="0"/>
                <a:cs typeface="Times New Roman" pitchFamily="18" charset="0"/>
              </a:rPr>
              <a:t>Hàm </a:t>
            </a:r>
            <a:r>
              <a:rPr lang="en-US" sz="1800">
                <a:solidFill>
                  <a:srgbClr val="FF0000"/>
                </a:solidFill>
                <a:latin typeface="Cambria" panose="02040503050406030204" pitchFamily="18" charset="0"/>
                <a:cs typeface="Times New Roman" pitchFamily="18" charset="0"/>
              </a:rPr>
              <a:t>join</a:t>
            </a:r>
            <a:r>
              <a:rPr lang="en-US" sz="1800">
                <a:latin typeface="Cambria" panose="02040503050406030204" pitchFamily="18" charset="0"/>
                <a:cs typeface="Times New Roman" pitchFamily="18" charset="0"/>
              </a:rPr>
              <a:t> dùng để nối Chuỗi:</a:t>
            </a:r>
          </a:p>
        </p:txBody>
      </p:sp>
      <p:pic>
        <p:nvPicPr>
          <p:cNvPr id="11" name="Picture 10">
            <a:extLst>
              <a:ext uri="{FF2B5EF4-FFF2-40B4-BE49-F238E27FC236}">
                <a16:creationId xmlns:a16="http://schemas.microsoft.com/office/drawing/2014/main" id="{606EEABB-4C7C-48FC-B0B0-F43697250D5B}"/>
              </a:ext>
            </a:extLst>
          </p:cNvPr>
          <p:cNvPicPr>
            <a:picLocks noChangeAspect="1"/>
          </p:cNvPicPr>
          <p:nvPr/>
        </p:nvPicPr>
        <p:blipFill>
          <a:blip r:embed="rId3"/>
          <a:stretch>
            <a:fillRect/>
          </a:stretch>
        </p:blipFill>
        <p:spPr>
          <a:xfrm>
            <a:off x="478631" y="2400300"/>
            <a:ext cx="3714750" cy="1757363"/>
          </a:xfrm>
          <a:prstGeom prst="rect">
            <a:avLst/>
          </a:prstGeom>
        </p:spPr>
      </p:pic>
      <p:pic>
        <p:nvPicPr>
          <p:cNvPr id="12" name="Picture 11">
            <a:extLst>
              <a:ext uri="{FF2B5EF4-FFF2-40B4-BE49-F238E27FC236}">
                <a16:creationId xmlns:a16="http://schemas.microsoft.com/office/drawing/2014/main" id="{361E7D15-B5AB-459B-8E2A-2E9848CFC26F}"/>
              </a:ext>
            </a:extLst>
          </p:cNvPr>
          <p:cNvPicPr>
            <a:picLocks noChangeAspect="1"/>
          </p:cNvPicPr>
          <p:nvPr/>
        </p:nvPicPr>
        <p:blipFill>
          <a:blip r:embed="rId4"/>
          <a:stretch>
            <a:fillRect/>
          </a:stretch>
        </p:blipFill>
        <p:spPr>
          <a:xfrm>
            <a:off x="5461553" y="3028950"/>
            <a:ext cx="3314700" cy="1007269"/>
          </a:xfrm>
          <a:prstGeom prst="rect">
            <a:avLst/>
          </a:prstGeom>
        </p:spPr>
      </p:pic>
      <p:cxnSp>
        <p:nvCxnSpPr>
          <p:cNvPr id="16" name="Straight Arrow Connector 15">
            <a:extLst>
              <a:ext uri="{FF2B5EF4-FFF2-40B4-BE49-F238E27FC236}">
                <a16:creationId xmlns:a16="http://schemas.microsoft.com/office/drawing/2014/main" id="{E1DC8E26-F08F-4236-9A4A-1C1381A48729}"/>
              </a:ext>
            </a:extLst>
          </p:cNvPr>
          <p:cNvCxnSpPr>
            <a:cxnSpLocks/>
          </p:cNvCxnSpPr>
          <p:nvPr/>
        </p:nvCxnSpPr>
        <p:spPr>
          <a:xfrm flipV="1">
            <a:off x="2336007" y="3932634"/>
            <a:ext cx="3036094" cy="10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817BF5B-2FD6-4F5D-B5B5-650DF7BC41B0}"/>
              </a:ext>
            </a:extLst>
          </p:cNvPr>
          <p:cNvCxnSpPr/>
          <p:nvPr/>
        </p:nvCxnSpPr>
        <p:spPr>
          <a:xfrm>
            <a:off x="1885950" y="3278981"/>
            <a:ext cx="34861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978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882378" y="1428751"/>
            <a:ext cx="5947172" cy="1428749"/>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3600" kern="0">
                <a:solidFill>
                  <a:schemeClr val="tx1"/>
                </a:solidFill>
                <a:latin typeface="Cambria" panose="02040503050406030204" pitchFamily="18" charset="0"/>
                <a:ea typeface="Cambria" panose="02040503050406030204" pitchFamily="18" charset="0"/>
              </a:rPr>
              <a:t>KIỂU DICTIONARY</a:t>
            </a:r>
          </a:p>
        </p:txBody>
      </p:sp>
      <p:sp>
        <p:nvSpPr>
          <p:cNvPr id="5" name="Slide Number Placeholder 4"/>
          <p:cNvSpPr>
            <a:spLocks noGrp="1"/>
          </p:cNvSpPr>
          <p:nvPr>
            <p:ph type="sldNum" sz="quarter" idx="12"/>
          </p:nvPr>
        </p:nvSpPr>
        <p:spPr>
          <a:xfrm>
            <a:off x="9347200" y="6467476"/>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rgbClr val="002060"/>
                </a:solidFill>
                <a:latin typeface="Cambria" panose="02040503050406030204"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Trang </a:t>
            </a:r>
            <a:fld id="{99166BD8-DA3C-4BE0-9C00-AA0485D1F6DE}" type="slidenum">
              <a:rPr lang="en-US" smtClean="0"/>
              <a:pPr/>
              <a:t>36</a:t>
            </a:fld>
            <a:endParaRPr lang="en-US"/>
          </a:p>
        </p:txBody>
      </p:sp>
      <p:pic>
        <p:nvPicPr>
          <p:cNvPr id="6" name="Picture 2" descr="Image result for Python">
            <a:extLst>
              <a:ext uri="{FF2B5EF4-FFF2-40B4-BE49-F238E27FC236}">
                <a16:creationId xmlns:a16="http://schemas.microsoft.com/office/drawing/2014/main" id="{920AE674-81F7-47A5-8E7E-15E96F18A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8951" y="3028950"/>
            <a:ext cx="3876767" cy="1957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0924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từ điển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381000" y="1447800"/>
            <a:ext cx="8572500" cy="4876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vi-VN" sz="2800"/>
              <a:t>Dictionary được khởi tạo với các dấu ngoặc nhọn {} và chúng có các khóa và giá trị (key-value). </a:t>
            </a:r>
          </a:p>
          <a:p>
            <a:pPr algn="just">
              <a:buFont typeface="Wingdings" pitchFamily="2" charset="2"/>
              <a:buChar char="Ø"/>
            </a:pPr>
            <a:r>
              <a:rPr lang="vi-VN" sz="2800"/>
              <a:t>Mỗi cặp key-value được xem như là một item. </a:t>
            </a:r>
          </a:p>
          <a:p>
            <a:pPr algn="just">
              <a:buFont typeface="Wingdings" pitchFamily="2" charset="2"/>
              <a:buChar char="Ø"/>
            </a:pPr>
            <a:r>
              <a:rPr lang="vi-VN" sz="2800"/>
              <a:t>Key mà đã truyền cho item đó phải là duy nhất, trong khi đó value có thể là bất kỳ kiểu giá trị nào. </a:t>
            </a:r>
          </a:p>
          <a:p>
            <a:pPr algn="just">
              <a:buFont typeface="Wingdings" pitchFamily="2" charset="2"/>
              <a:buChar char="Ø"/>
            </a:pPr>
            <a:r>
              <a:rPr lang="vi-VN" sz="2800"/>
              <a:t>Key phải là một kiểu dữ liệu không thay đổi (immutable) như chuỗi, số hoặc tuple.</a:t>
            </a:r>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3661524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từ điển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43434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a:t>dictCar = {</a:t>
            </a:r>
          </a:p>
          <a:p>
            <a:pPr marL="0" indent="0">
              <a:buNone/>
            </a:pPr>
            <a:r>
              <a:rPr lang="en-US" sz="2800"/>
              <a:t>    "brand": "Honda",</a:t>
            </a:r>
          </a:p>
          <a:p>
            <a:pPr marL="0" indent="0">
              <a:buNone/>
            </a:pPr>
            <a:r>
              <a:rPr lang="en-US" sz="2800"/>
              <a:t>    "model": "Honda Civic",</a:t>
            </a:r>
          </a:p>
          <a:p>
            <a:pPr marL="0" indent="0">
              <a:buNone/>
            </a:pPr>
            <a:r>
              <a:rPr lang="en-US" sz="2800"/>
              <a:t>    "year": 2022</a:t>
            </a:r>
          </a:p>
          <a:p>
            <a:pPr marL="0" indent="0">
              <a:buNone/>
            </a:pPr>
            <a:r>
              <a:rPr lang="en-US" sz="2800"/>
              <a:t>}</a:t>
            </a:r>
          </a:p>
          <a:p>
            <a:pPr marL="0" indent="0">
              <a:buNone/>
            </a:pPr>
            <a:r>
              <a:rPr lang="en-US" sz="2800"/>
              <a:t>print(dictCar)</a:t>
            </a:r>
          </a:p>
          <a:p>
            <a:pPr marL="0" indent="0">
              <a:buNone/>
            </a:pPr>
            <a:r>
              <a:rPr lang="en-US" sz="2800"/>
              <a:t>#{'brand': 'Honda', 'model': 'Honda Civic', 'year’: 2022}</a:t>
            </a:r>
          </a:p>
        </p:txBody>
      </p:sp>
    </p:spTree>
    <p:extLst>
      <p:ext uri="{BB962C8B-B14F-4D97-AF65-F5344CB8AC3E}">
        <p14:creationId xmlns:p14="http://schemas.microsoft.com/office/powerpoint/2010/main" val="1642036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từ điển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sz="2400"/>
              <a:t>Truy cập các item của Dictionary bằng cách sử dụng khóa của nó, bên trong dấu ngoặc vuông</a:t>
            </a:r>
          </a:p>
          <a:p>
            <a:pPr marL="0" indent="0" algn="just">
              <a:buNone/>
            </a:pPr>
            <a:r>
              <a:rPr lang="en-US" sz="2800"/>
              <a:t>hoặc sử dụng </a:t>
            </a:r>
            <a:r>
              <a:rPr lang="en-US" sz="2800">
                <a:hlinkClick r:id="rId3"/>
              </a:rPr>
              <a:t>hàm get()</a:t>
            </a:r>
            <a:r>
              <a:rPr lang="en-US" sz="2800"/>
              <a:t> để truy cập item</a:t>
            </a:r>
            <a:endParaRPr lang="en-US" sz="2400"/>
          </a:p>
          <a:p>
            <a:r>
              <a:rPr lang="en-US" sz="2400"/>
              <a:t>dictCar = {</a:t>
            </a:r>
          </a:p>
          <a:p>
            <a:r>
              <a:rPr lang="en-US" sz="2400"/>
              <a:t>    "brand": "Honda",</a:t>
            </a:r>
          </a:p>
          <a:p>
            <a:r>
              <a:rPr lang="en-US" sz="2400"/>
              <a:t>    "model": "Honda Civic",</a:t>
            </a:r>
          </a:p>
          <a:p>
            <a:r>
              <a:rPr lang="en-US" sz="2400"/>
              <a:t>    "year": 2022</a:t>
            </a:r>
          </a:p>
          <a:p>
            <a:r>
              <a:rPr lang="en-US" sz="2400"/>
              <a:t>}</a:t>
            </a:r>
          </a:p>
          <a:p>
            <a:r>
              <a:rPr lang="en-US" sz="2400">
                <a:solidFill>
                  <a:srgbClr val="333333"/>
                </a:solidFill>
                <a:latin typeface="Monaco" pitchFamily="2" charset="77"/>
              </a:rPr>
              <a:t>print(dictCar.get("model"))</a:t>
            </a:r>
            <a:endParaRPr lang="en-US" sz="2400"/>
          </a:p>
          <a:p>
            <a:r>
              <a:rPr lang="en-US" sz="2400"/>
              <a:t>#hoặc print(dictCar["model"])</a:t>
            </a:r>
          </a:p>
          <a:p>
            <a:pPr algn="just">
              <a:buFont typeface="Wingdings" pitchFamily="2" charset="2"/>
              <a:buChar char="Ø"/>
            </a:pPr>
            <a:r>
              <a:rPr lang="en-US" sz="2400"/>
              <a:t>#"Honda Civic"</a:t>
            </a:r>
          </a:p>
        </p:txBody>
      </p:sp>
    </p:spTree>
    <p:extLst>
      <p:ext uri="{BB962C8B-B14F-4D97-AF65-F5344CB8AC3E}">
        <p14:creationId xmlns:p14="http://schemas.microsoft.com/office/powerpoint/2010/main" val="3941467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từ điển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19028" y="1295400"/>
            <a:ext cx="9124972"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a:t>thay đổi giá trị của một item cụ thể bằng khóa của nó</a:t>
            </a:r>
          </a:p>
          <a:p>
            <a:pPr lvl="1" algn="just">
              <a:buFont typeface="Wingdings" pitchFamily="2" charset="2"/>
              <a:buChar char="Ø"/>
            </a:pPr>
            <a:r>
              <a:rPr lang="en-US" sz="2000"/>
              <a:t>dictCar["year"] =</a:t>
            </a:r>
            <a:r>
              <a:rPr lang="en-US"/>
              <a:t> </a:t>
            </a:r>
            <a:r>
              <a:rPr lang="en-US" sz="2000"/>
              <a:t>2020</a:t>
            </a:r>
          </a:p>
          <a:p>
            <a:pPr algn="just">
              <a:buFont typeface="Wingdings" pitchFamily="2" charset="2"/>
              <a:buChar char="Ø"/>
            </a:pPr>
            <a:r>
              <a:rPr lang="en-US"/>
              <a:t>duyệt qua một Dictionary bằng cách sử dụng </a:t>
            </a:r>
            <a:r>
              <a:rPr lang="en-US">
                <a:hlinkClick r:id="rId3"/>
              </a:rPr>
              <a:t>vòng lặp for</a:t>
            </a:r>
            <a:r>
              <a:rPr lang="en-US"/>
              <a:t>.</a:t>
            </a:r>
          </a:p>
          <a:p>
            <a:pPr marL="457200" lvl="1" indent="0" algn="just">
              <a:buNone/>
            </a:pPr>
            <a:r>
              <a:rPr lang="en-US"/>
              <a:t>for x in dictCar:</a:t>
            </a:r>
          </a:p>
          <a:p>
            <a:pPr marL="457200" lvl="1" indent="0" algn="just">
              <a:buNone/>
            </a:pPr>
            <a:r>
              <a:rPr lang="en-US"/>
              <a:t>   print(x, ": ", dictCar.get(x))</a:t>
            </a:r>
          </a:p>
          <a:p>
            <a:pPr marL="400050" lvl="1" indent="0" algn="just">
              <a:buNone/>
            </a:pPr>
            <a:r>
              <a:rPr lang="en-US" sz="2000"/>
              <a:t>hoặc</a:t>
            </a:r>
          </a:p>
          <a:p>
            <a:pPr marL="457200" lvl="1" indent="0" algn="just">
              <a:buNone/>
            </a:pPr>
            <a:r>
              <a:rPr lang="en-US"/>
              <a:t>for x in dictCar.values():</a:t>
            </a:r>
          </a:p>
          <a:p>
            <a:pPr marL="457200" lvl="1" indent="0" algn="just">
              <a:buNone/>
            </a:pPr>
            <a:r>
              <a:rPr lang="en-US"/>
              <a:t>	print(x)</a:t>
            </a:r>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24737545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từ điển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vi-VN"/>
              <a:t>Xác định xem một khóa (key) được chỉ định có tồn tại trong từ điển hay không, hãy sử dụng từ khóa </a:t>
            </a:r>
            <a:r>
              <a:rPr lang="vi-VN" i="1"/>
              <a:t>in</a:t>
            </a:r>
            <a:r>
              <a:rPr lang="vi-VN"/>
              <a:t>:</a:t>
            </a:r>
          </a:p>
          <a:p>
            <a:pPr marL="0" indent="0">
              <a:buNone/>
            </a:pPr>
            <a:r>
              <a:rPr lang="en-US" sz="2000"/>
              <a:t>dictCar = {</a:t>
            </a:r>
          </a:p>
          <a:p>
            <a:pPr marL="0" indent="0">
              <a:buNone/>
            </a:pPr>
            <a:r>
              <a:rPr lang="en-US" sz="2000"/>
              <a:t>    "brand": "Honda",</a:t>
            </a:r>
          </a:p>
          <a:p>
            <a:pPr marL="0" indent="0">
              <a:buNone/>
            </a:pPr>
            <a:r>
              <a:rPr lang="en-US" sz="2000"/>
              <a:t>    "model": "Honda Civic",</a:t>
            </a:r>
          </a:p>
          <a:p>
            <a:pPr marL="0" indent="0">
              <a:buNone/>
            </a:pPr>
            <a:r>
              <a:rPr lang="en-US" sz="2000"/>
              <a:t>    "year": 1972</a:t>
            </a:r>
          </a:p>
          <a:p>
            <a:pPr marL="0" indent="0">
              <a:buNone/>
            </a:pPr>
            <a:r>
              <a:rPr lang="en-US" sz="2000"/>
              <a:t>}</a:t>
            </a:r>
          </a:p>
          <a:p>
            <a:pPr marL="0" indent="0">
              <a:buNone/>
            </a:pPr>
            <a:r>
              <a:rPr lang="en-US" sz="2000"/>
              <a:t>if "model" in dictCar:</a:t>
            </a:r>
          </a:p>
          <a:p>
            <a:pPr marL="0" indent="0">
              <a:buNone/>
            </a:pPr>
            <a:r>
              <a:rPr lang="en-US" sz="2000"/>
              <a:t>    print("Khoa \"model\" co ton tai.")</a:t>
            </a:r>
          </a:p>
          <a:p>
            <a:pPr marL="0" indent="0">
              <a:buNone/>
            </a:pPr>
            <a:r>
              <a:rPr lang="en-US" sz="2000"/>
              <a:t>else:</a:t>
            </a:r>
          </a:p>
          <a:p>
            <a:pPr marL="0" indent="0">
              <a:buNone/>
            </a:pPr>
            <a:r>
              <a:rPr lang="en-US" sz="2000"/>
              <a:t>    print("Khoa \"model\" khong ton tai.")</a:t>
            </a:r>
          </a:p>
        </p:txBody>
      </p:sp>
    </p:spTree>
    <p:extLst>
      <p:ext uri="{BB962C8B-B14F-4D97-AF65-F5344CB8AC3E}">
        <p14:creationId xmlns:p14="http://schemas.microsoft.com/office/powerpoint/2010/main" val="305915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từ điển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a:t>Xác định có bao nhiêu item (cặp khóa-giá trị) trong Dictionary, hãy sử dụng hàm len().</a:t>
            </a:r>
          </a:p>
          <a:p>
            <a:pPr lvl="1" algn="just">
              <a:buFont typeface="Wingdings" pitchFamily="2" charset="2"/>
              <a:buChar char="Ø"/>
            </a:pPr>
            <a:r>
              <a:rPr lang="en-US" sz="2000"/>
              <a:t>print(len(dictCar)) # 3</a:t>
            </a:r>
          </a:p>
          <a:p>
            <a:pPr algn="just">
              <a:buFont typeface="Wingdings" pitchFamily="2" charset="2"/>
              <a:buChar char="Ø"/>
            </a:pPr>
            <a:r>
              <a:rPr lang="vi-VN"/>
              <a:t>Thêm một item vào Dictionary được thực hiện bằng cách sử dụng khóa mới và gán giá trị cho nó:</a:t>
            </a:r>
          </a:p>
          <a:p>
            <a:pPr lvl="1" algn="just">
              <a:buFont typeface="Wingdings" pitchFamily="2" charset="2"/>
              <a:buChar char="Ø"/>
            </a:pPr>
            <a:r>
              <a:rPr lang="en-US" sz="2000"/>
              <a:t>dictCar["color"] =</a:t>
            </a:r>
            <a:r>
              <a:rPr lang="en-US"/>
              <a:t> </a:t>
            </a:r>
            <a:r>
              <a:rPr lang="en-US" sz="2000"/>
              <a:t>"yellow”</a:t>
            </a:r>
          </a:p>
          <a:p>
            <a:pPr lvl="1" algn="just">
              <a:buFont typeface="Wingdings" pitchFamily="2" charset="2"/>
              <a:buChar char="Ø"/>
            </a:pPr>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247137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9399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4.2. Kiểu từ điển-</a:t>
              </a:r>
              <a:r>
                <a:rPr lang="en-US">
                  <a:solidFill>
                    <a:srgbClr val="FFFF00"/>
                  </a:solidFill>
                </a:rPr>
                <a:t>Xóa item của Dictionary</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vi-VN" sz="2800"/>
              <a:t>Hàm pop() xóa item với key được chỉ định:</a:t>
            </a:r>
          </a:p>
          <a:p>
            <a:pPr marL="457200" lvl="1" indent="0" algn="just">
              <a:buNone/>
            </a:pPr>
            <a:r>
              <a:rPr lang="en-US" sz="1800"/>
              <a:t>dictCar.pop("model")</a:t>
            </a:r>
          </a:p>
          <a:p>
            <a:pPr marL="0" indent="0" algn="just">
              <a:buNone/>
            </a:pPr>
            <a:r>
              <a:rPr lang="en-US" sz="2800"/>
              <a:t>Hàm popitem() xóa item cuối cùng, với các phiên bản trước 3.7 thì xoá item ngẫu nhiên.</a:t>
            </a:r>
          </a:p>
          <a:p>
            <a:pPr marL="457200" lvl="1" indent="0" algn="just">
              <a:buNone/>
            </a:pPr>
            <a:r>
              <a:rPr lang="en-US" sz="2400"/>
              <a:t>dictCar.popitem()</a:t>
            </a:r>
          </a:p>
          <a:p>
            <a:pPr marL="0" indent="0" algn="just">
              <a:buNone/>
            </a:pPr>
            <a:r>
              <a:rPr lang="vi-VN" sz="2800"/>
              <a:t>Lệnh del sẽ xóa item với key được chỉ định:</a:t>
            </a:r>
          </a:p>
          <a:p>
            <a:pPr marL="457200" lvl="1" indent="0" algn="just">
              <a:buNone/>
            </a:pPr>
            <a:r>
              <a:rPr lang="en-US" sz="1800"/>
              <a:t>del</a:t>
            </a:r>
            <a:r>
              <a:rPr lang="en-US" sz="2400"/>
              <a:t> </a:t>
            </a:r>
            <a:r>
              <a:rPr lang="en-US" sz="1800"/>
              <a:t>dictCar["model"]</a:t>
            </a:r>
          </a:p>
          <a:p>
            <a:pPr marL="0" indent="0">
              <a:buNone/>
            </a:pPr>
            <a:r>
              <a:rPr lang="en-US" sz="2800"/>
              <a:t>Hàm clear() xóa toàn bộ các item của Dictionary.</a:t>
            </a:r>
          </a:p>
          <a:p>
            <a:pPr marL="457200" lvl="1" indent="0">
              <a:buNone/>
            </a:pPr>
            <a:r>
              <a:rPr lang="en-US" sz="2400"/>
              <a:t>dictCar.clear()</a:t>
            </a:r>
          </a:p>
        </p:txBody>
      </p:sp>
    </p:spTree>
    <p:extLst>
      <p:ext uri="{BB962C8B-B14F-4D97-AF65-F5344CB8AC3E}">
        <p14:creationId xmlns:p14="http://schemas.microsoft.com/office/powerpoint/2010/main" val="2930911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4.2. Kiểu từ điển-</a:t>
              </a:r>
              <a:r>
                <a:rPr lang="en-US">
                  <a:solidFill>
                    <a:srgbClr val="FFFF00"/>
                  </a:solidFill>
                </a:rPr>
                <a:t>Copy Dictionary</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3716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a:t>dict1 = dictCar # su dung toan tu =</a:t>
            </a:r>
          </a:p>
          <a:p>
            <a:r>
              <a:rPr lang="en-US" sz="2800"/>
              <a:t>dict2 = dictCar.copy() # su dung ham copy()</a:t>
            </a:r>
          </a:p>
          <a:p>
            <a:r>
              <a:rPr lang="en-US" sz="2800"/>
              <a:t>dict3 = dict(dictCar)</a:t>
            </a:r>
          </a:p>
          <a:p>
            <a:r>
              <a:rPr lang="en-US" sz="2800"/>
              <a:t>dictCar["color"] = "yellow" # thay doi dictCar	</a:t>
            </a:r>
          </a:p>
          <a:p>
            <a:pPr marL="0" indent="0">
              <a:buNone/>
            </a:pPr>
            <a:r>
              <a:rPr lang="en-US" sz="2800"/>
              <a:t>#khi sử dụng toán tử =, thì dict1 chỉ tham chiếu đến dictCar. Nếu dictCar thay đổi thì dict1 cũng thay đổi</a:t>
            </a:r>
          </a:p>
          <a:p>
            <a:pPr marL="0" indent="0">
              <a:buNone/>
            </a:pPr>
            <a:r>
              <a:rPr lang="en-US" sz="2800"/>
              <a:t>#Khi sử dụng phương thức copy, hoặc hàm dict thì tạo ra một bản sao mới </a:t>
            </a:r>
          </a:p>
        </p:txBody>
      </p:sp>
    </p:spTree>
    <p:extLst>
      <p:ext uri="{BB962C8B-B14F-4D97-AF65-F5344CB8AC3E}">
        <p14:creationId xmlns:p14="http://schemas.microsoft.com/office/powerpoint/2010/main" val="30745491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84629" y="381000"/>
            <a:ext cx="55589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4.2. Kiểu từ điển-</a:t>
              </a:r>
              <a:r>
                <a:rPr lang="en-US">
                  <a:solidFill>
                    <a:srgbClr val="FFFF00"/>
                  </a:solidFill>
                </a:rPr>
                <a:t>Dictionary lồng nhau</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504825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sz="1800"/>
              <a:t>Một Dictionary cũng có thể chứa nhiều Dictionary</a:t>
            </a:r>
          </a:p>
          <a:p>
            <a:pPr marL="0" indent="0">
              <a:buNone/>
            </a:pPr>
            <a:r>
              <a:rPr lang="en-US" sz="1800"/>
              <a:t>child1 = {</a:t>
            </a:r>
          </a:p>
          <a:p>
            <a:pPr marL="0" indent="0">
              <a:buNone/>
            </a:pPr>
            <a:r>
              <a:rPr lang="en-US" sz="1800"/>
              <a:t>  "name" : "Van",</a:t>
            </a:r>
          </a:p>
          <a:p>
            <a:pPr marL="0" indent="0">
              <a:buNone/>
            </a:pPr>
            <a:r>
              <a:rPr lang="en-US" sz="1800"/>
              <a:t>  "birthday" : 2004</a:t>
            </a:r>
          </a:p>
          <a:p>
            <a:pPr marL="0" indent="0">
              <a:buNone/>
            </a:pPr>
            <a:r>
              <a:rPr lang="en-US" sz="1800"/>
              <a:t>}</a:t>
            </a:r>
          </a:p>
          <a:p>
            <a:pPr marL="0" indent="0">
              <a:buNone/>
            </a:pPr>
            <a:r>
              <a:rPr lang="en-US" sz="1800"/>
              <a:t>child2 = {</a:t>
            </a:r>
          </a:p>
          <a:p>
            <a:pPr marL="0" indent="0">
              <a:buNone/>
            </a:pPr>
            <a:r>
              <a:rPr lang="en-US" sz="1800"/>
              <a:t>  "name" : "Minh",</a:t>
            </a:r>
          </a:p>
          <a:p>
            <a:pPr marL="0" indent="0">
              <a:buNone/>
            </a:pPr>
            <a:r>
              <a:rPr lang="en-US" sz="1800"/>
              <a:t>  "birthday" : 2007</a:t>
            </a:r>
          </a:p>
          <a:p>
            <a:pPr marL="0" indent="0">
              <a:buNone/>
            </a:pPr>
            <a:r>
              <a:rPr lang="en-US" sz="1800"/>
              <a:t>}</a:t>
            </a:r>
          </a:p>
          <a:p>
            <a:pPr marL="0" indent="0">
              <a:buNone/>
            </a:pPr>
            <a:r>
              <a:rPr lang="en-US" sz="1800"/>
              <a:t>child3 = {</a:t>
            </a:r>
          </a:p>
          <a:p>
            <a:pPr marL="0" indent="0">
              <a:buNone/>
            </a:pPr>
            <a:r>
              <a:rPr lang="en-US" sz="1800"/>
              <a:t>  "name" : "Phuc",</a:t>
            </a:r>
          </a:p>
          <a:p>
            <a:pPr marL="0" indent="0">
              <a:buNone/>
            </a:pPr>
            <a:r>
              <a:rPr lang="en-US" sz="1800"/>
              <a:t>  "birthday" : 2011</a:t>
            </a:r>
          </a:p>
          <a:p>
            <a:pPr marL="0" indent="0">
              <a:buNone/>
            </a:pPr>
            <a:r>
              <a:rPr lang="en-US" sz="1800"/>
              <a:t>} </a:t>
            </a:r>
            <a:endParaRPr lang="en-US" sz="140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F9EBAF7C-9FC7-4227-9A92-AB11412D6704}"/>
              </a:ext>
            </a:extLst>
          </p:cNvPr>
          <p:cNvSpPr txBox="1"/>
          <p:nvPr/>
        </p:nvSpPr>
        <p:spPr>
          <a:xfrm>
            <a:off x="5334000" y="2133600"/>
            <a:ext cx="3810000" cy="2308324"/>
          </a:xfrm>
          <a:prstGeom prst="rect">
            <a:avLst/>
          </a:prstGeom>
          <a:noFill/>
        </p:spPr>
        <p:txBody>
          <a:bodyPr wrap="square">
            <a:spAutoFit/>
          </a:bodyPr>
          <a:lstStyle/>
          <a:p>
            <a:r>
              <a:rPr lang="en-US" sz="2400"/>
              <a:t>myfamily = {</a:t>
            </a:r>
          </a:p>
          <a:p>
            <a:r>
              <a:rPr lang="en-US" sz="2400"/>
              <a:t>  "child1" : child1,</a:t>
            </a:r>
          </a:p>
          <a:p>
            <a:r>
              <a:rPr lang="en-US" sz="2400"/>
              <a:t>  "child2" : child2,</a:t>
            </a:r>
          </a:p>
          <a:p>
            <a:r>
              <a:rPr lang="en-US" sz="2400"/>
              <a:t>  "child3" : child3</a:t>
            </a:r>
          </a:p>
          <a:p>
            <a:r>
              <a:rPr lang="en-US" sz="2400"/>
              <a:t>}</a:t>
            </a:r>
          </a:p>
          <a:p>
            <a:r>
              <a:rPr lang="en-US" sz="2400"/>
              <a:t> print(myfamily)</a:t>
            </a:r>
          </a:p>
        </p:txBody>
      </p:sp>
    </p:spTree>
    <p:extLst>
      <p:ext uri="{BB962C8B-B14F-4D97-AF65-F5344CB8AC3E}">
        <p14:creationId xmlns:p14="http://schemas.microsoft.com/office/powerpoint/2010/main" val="9378190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5589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4.2. Kiểu từ điển-</a:t>
              </a:r>
              <a:r>
                <a:rPr lang="en-US">
                  <a:solidFill>
                    <a:srgbClr val="FFFF00"/>
                  </a:solidFill>
                </a:rPr>
                <a:t>sắp xếp</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17245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a:t>#sắp xếp theo key</a:t>
            </a:r>
          </a:p>
          <a:p>
            <a:pPr marL="0" indent="0" algn="just">
              <a:buNone/>
            </a:pPr>
            <a:r>
              <a:rPr lang="en-US"/>
              <a:t>sorted(dict.items(), reverse=False)</a:t>
            </a:r>
          </a:p>
          <a:p>
            <a:pPr marL="0" indent="0" algn="just">
              <a:buNone/>
            </a:pPr>
            <a:r>
              <a:rPr lang="en-US"/>
              <a:t>#ép về kiểu dict</a:t>
            </a:r>
          </a:p>
          <a:p>
            <a:pPr marL="0" indent="0" algn="just">
              <a:buNone/>
            </a:pPr>
            <a:r>
              <a:rPr lang="en-US"/>
              <a:t>dict(sorted(dict.items(), reverse=False))</a:t>
            </a:r>
          </a:p>
          <a:p>
            <a:pPr marL="0" indent="0" algn="just">
              <a:buNone/>
            </a:pPr>
            <a:r>
              <a:rPr lang="en-US"/>
              <a:t>#sắp xếp theo value</a:t>
            </a:r>
          </a:p>
          <a:p>
            <a:pPr marL="0" indent="0" algn="just">
              <a:buNone/>
            </a:pPr>
            <a:r>
              <a:rPr lang="en-US"/>
              <a:t>sorted(dict, key=dict.get, reverse=False)</a:t>
            </a:r>
            <a:endParaRPr lang="en-US" sz="1400">
              <a:latin typeface="Times New Roman" pitchFamily="18" charset="0"/>
              <a:cs typeface="Times New Roman" pitchFamily="18" charset="0"/>
            </a:endParaRPr>
          </a:p>
        </p:txBody>
      </p:sp>
    </p:spTree>
    <p:extLst>
      <p:ext uri="{BB962C8B-B14F-4D97-AF65-F5344CB8AC3E}">
        <p14:creationId xmlns:p14="http://schemas.microsoft.com/office/powerpoint/2010/main" val="38428800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9716C6-048C-E607-BE4B-6825817569C5}"/>
              </a:ext>
            </a:extLst>
          </p:cNvPr>
          <p:cNvSpPr txBox="1"/>
          <p:nvPr/>
        </p:nvSpPr>
        <p:spPr>
          <a:xfrm>
            <a:off x="381000" y="1676400"/>
            <a:ext cx="8229600" cy="4031873"/>
          </a:xfrm>
          <a:prstGeom prst="rect">
            <a:avLst/>
          </a:prstGeom>
          <a:noFill/>
        </p:spPr>
        <p:txBody>
          <a:bodyPr wrap="square">
            <a:spAutoFit/>
          </a:bodyPr>
          <a:lstStyle/>
          <a:p>
            <a:r>
              <a:rPr lang="en-US" sz="3200" b="0" i="0">
                <a:effectLst/>
                <a:latin typeface="Consolas" panose="020B0609020204030204" pitchFamily="49" charset="0"/>
              </a:rPr>
              <a:t>Viết chương trình tạo một từ điển đơn giản với các chức năng:</a:t>
            </a:r>
          </a:p>
          <a:p>
            <a:r>
              <a:rPr lang="en-US" sz="3200">
                <a:latin typeface="Consolas" panose="020B0609020204030204" pitchFamily="49" charset="0"/>
              </a:rPr>
              <a:t>+ thêm một từ</a:t>
            </a:r>
          </a:p>
          <a:p>
            <a:r>
              <a:rPr lang="en-US" sz="3200">
                <a:latin typeface="Consolas" panose="020B0609020204030204" pitchFamily="49" charset="0"/>
              </a:rPr>
              <a:t>+ xoá một từ</a:t>
            </a:r>
          </a:p>
          <a:p>
            <a:r>
              <a:rPr lang="en-US" sz="3200">
                <a:latin typeface="Consolas" panose="020B0609020204030204" pitchFamily="49" charset="0"/>
              </a:rPr>
              <a:t>+ sửa một từ</a:t>
            </a:r>
          </a:p>
          <a:p>
            <a:r>
              <a:rPr lang="en-US" sz="3200">
                <a:latin typeface="Consolas" panose="020B0609020204030204" pitchFamily="49" charset="0"/>
              </a:rPr>
              <a:t>+ tìm kiếm từ (tìm </a:t>
            </a:r>
            <a:r>
              <a:rPr lang="vi-VN" sz="3200">
                <a:latin typeface="Consolas" panose="020B0609020204030204" pitchFamily="49" charset="0"/>
              </a:rPr>
              <a:t>đượ</a:t>
            </a:r>
            <a:r>
              <a:rPr lang="en-US" sz="3200">
                <a:latin typeface="Consolas" panose="020B0609020204030204" pitchFamily="49" charset="0"/>
              </a:rPr>
              <a:t>c thì in ra) </a:t>
            </a:r>
          </a:p>
          <a:p>
            <a:r>
              <a:rPr lang="en-US" sz="3200">
                <a:latin typeface="Consolas" panose="020B0609020204030204" pitchFamily="49" charset="0"/>
              </a:rPr>
              <a:t>+ sắp xếp từ điển</a:t>
            </a:r>
          </a:p>
          <a:p>
            <a:r>
              <a:rPr lang="en-US" sz="3200">
                <a:latin typeface="Consolas" panose="020B0609020204030204" pitchFamily="49" charset="0"/>
              </a:rPr>
              <a:t>+ in từ điển</a:t>
            </a:r>
            <a:endParaRPr lang="en-VN" sz="3200"/>
          </a:p>
        </p:txBody>
      </p:sp>
      <p:grpSp>
        <p:nvGrpSpPr>
          <p:cNvPr id="4" name="Group 3">
            <a:extLst>
              <a:ext uri="{FF2B5EF4-FFF2-40B4-BE49-F238E27FC236}">
                <a16:creationId xmlns:a16="http://schemas.microsoft.com/office/drawing/2014/main" id="{559AFB1E-C71F-2745-20BD-E7E6809A20D0}"/>
              </a:ext>
            </a:extLst>
          </p:cNvPr>
          <p:cNvGrpSpPr/>
          <p:nvPr/>
        </p:nvGrpSpPr>
        <p:grpSpPr>
          <a:xfrm>
            <a:off x="384629" y="381000"/>
            <a:ext cx="5558971" cy="381000"/>
            <a:chOff x="789624" y="1191463"/>
            <a:chExt cx="6629400" cy="508000"/>
          </a:xfrm>
        </p:grpSpPr>
        <p:sp>
          <p:nvSpPr>
            <p:cNvPr id="5" name="AutoShape 52">
              <a:extLst>
                <a:ext uri="{FF2B5EF4-FFF2-40B4-BE49-F238E27FC236}">
                  <a16:creationId xmlns:a16="http://schemas.microsoft.com/office/drawing/2014/main" id="{85CA0E75-B9E8-BDFB-44D7-9C89F8DED1D8}"/>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Bài tập 1</a:t>
              </a:r>
              <a:endParaRPr lang="en-US">
                <a:solidFill>
                  <a:srgbClr val="FFFF00"/>
                </a:solidFill>
              </a:endParaRPr>
            </a:p>
          </p:txBody>
        </p:sp>
        <p:grpSp>
          <p:nvGrpSpPr>
            <p:cNvPr id="6" name="Group 17">
              <a:extLst>
                <a:ext uri="{FF2B5EF4-FFF2-40B4-BE49-F238E27FC236}">
                  <a16:creationId xmlns:a16="http://schemas.microsoft.com/office/drawing/2014/main" id="{91D4C377-3EF9-512C-0CAA-3A95730D524F}"/>
                </a:ext>
              </a:extLst>
            </p:cNvPr>
            <p:cNvGrpSpPr>
              <a:grpSpLocks/>
            </p:cNvGrpSpPr>
            <p:nvPr/>
          </p:nvGrpSpPr>
          <p:grpSpPr bwMode="auto">
            <a:xfrm>
              <a:off x="789624" y="1295400"/>
              <a:ext cx="353376" cy="272472"/>
              <a:chOff x="1110" y="2656"/>
              <a:chExt cx="1549" cy="1351"/>
            </a:xfrm>
          </p:grpSpPr>
          <p:sp>
            <p:nvSpPr>
              <p:cNvPr id="7" name="AutoShape 18">
                <a:extLst>
                  <a:ext uri="{FF2B5EF4-FFF2-40B4-BE49-F238E27FC236}">
                    <a16:creationId xmlns:a16="http://schemas.microsoft.com/office/drawing/2014/main" id="{757F00B9-AFAF-22A2-8350-A3CC754590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8" name="AutoShape 19">
                <a:extLst>
                  <a:ext uri="{FF2B5EF4-FFF2-40B4-BE49-F238E27FC236}">
                    <a16:creationId xmlns:a16="http://schemas.microsoft.com/office/drawing/2014/main" id="{35D6D059-3389-AA82-FA93-00B994E4602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9" name="AutoShape 20">
                <a:extLst>
                  <a:ext uri="{FF2B5EF4-FFF2-40B4-BE49-F238E27FC236}">
                    <a16:creationId xmlns:a16="http://schemas.microsoft.com/office/drawing/2014/main" id="{26C19070-EBFC-FB4F-13FC-A0717C116E4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3804422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9716C6-048C-E607-BE4B-6825817569C5}"/>
              </a:ext>
            </a:extLst>
          </p:cNvPr>
          <p:cNvSpPr txBox="1"/>
          <p:nvPr/>
        </p:nvSpPr>
        <p:spPr>
          <a:xfrm>
            <a:off x="381000" y="1676400"/>
            <a:ext cx="8229600" cy="4524315"/>
          </a:xfrm>
          <a:prstGeom prst="rect">
            <a:avLst/>
          </a:prstGeom>
          <a:noFill/>
        </p:spPr>
        <p:txBody>
          <a:bodyPr wrap="square">
            <a:spAutoFit/>
          </a:bodyPr>
          <a:lstStyle/>
          <a:p>
            <a:r>
              <a:rPr lang="en-US" sz="3200" b="0" i="0">
                <a:effectLst/>
                <a:latin typeface="Consolas" panose="020B0609020204030204" pitchFamily="49" charset="0"/>
              </a:rPr>
              <a:t>Viết chương trình tạo một danh sách sinh viên với các chức năng:</a:t>
            </a:r>
          </a:p>
          <a:p>
            <a:r>
              <a:rPr lang="en-US" sz="3200">
                <a:latin typeface="Consolas" panose="020B0609020204030204" pitchFamily="49" charset="0"/>
              </a:rPr>
              <a:t>+ thêm một sinh viên</a:t>
            </a:r>
          </a:p>
          <a:p>
            <a:r>
              <a:rPr lang="en-US" sz="3200">
                <a:latin typeface="Consolas" panose="020B0609020204030204" pitchFamily="49" charset="0"/>
              </a:rPr>
              <a:t>+ xoá một sinh viên</a:t>
            </a:r>
          </a:p>
          <a:p>
            <a:r>
              <a:rPr lang="en-US" sz="3200">
                <a:latin typeface="Consolas" panose="020B0609020204030204" pitchFamily="49" charset="0"/>
              </a:rPr>
              <a:t>+ sửa thông tin một sinh viên</a:t>
            </a:r>
          </a:p>
          <a:p>
            <a:r>
              <a:rPr lang="en-US" sz="3200">
                <a:latin typeface="Consolas" panose="020B0609020204030204" pitchFamily="49" charset="0"/>
              </a:rPr>
              <a:t>+ tìm kiếm sinh viên (tìm </a:t>
            </a:r>
            <a:r>
              <a:rPr lang="vi-VN" sz="3200">
                <a:latin typeface="Consolas" panose="020B0609020204030204" pitchFamily="49" charset="0"/>
              </a:rPr>
              <a:t>đượ</a:t>
            </a:r>
            <a:r>
              <a:rPr lang="en-US" sz="3200">
                <a:latin typeface="Consolas" panose="020B0609020204030204" pitchFamily="49" charset="0"/>
              </a:rPr>
              <a:t>c thì in ra) </a:t>
            </a:r>
          </a:p>
          <a:p>
            <a:r>
              <a:rPr lang="en-US" sz="3200">
                <a:latin typeface="Consolas" panose="020B0609020204030204" pitchFamily="49" charset="0"/>
              </a:rPr>
              <a:t>+ sắp xếp ds </a:t>
            </a:r>
          </a:p>
          <a:p>
            <a:r>
              <a:rPr lang="en-US" sz="3200">
                <a:latin typeface="Consolas" panose="020B0609020204030204" pitchFamily="49" charset="0"/>
              </a:rPr>
              <a:t>+ in ds</a:t>
            </a:r>
            <a:endParaRPr lang="en-VN" sz="3200"/>
          </a:p>
        </p:txBody>
      </p:sp>
      <p:grpSp>
        <p:nvGrpSpPr>
          <p:cNvPr id="4" name="Group 3">
            <a:extLst>
              <a:ext uri="{FF2B5EF4-FFF2-40B4-BE49-F238E27FC236}">
                <a16:creationId xmlns:a16="http://schemas.microsoft.com/office/drawing/2014/main" id="{559AFB1E-C71F-2745-20BD-E7E6809A20D0}"/>
              </a:ext>
            </a:extLst>
          </p:cNvPr>
          <p:cNvGrpSpPr/>
          <p:nvPr/>
        </p:nvGrpSpPr>
        <p:grpSpPr>
          <a:xfrm>
            <a:off x="384629" y="368300"/>
            <a:ext cx="5558971" cy="381000"/>
            <a:chOff x="789624" y="1191463"/>
            <a:chExt cx="6629400" cy="508000"/>
          </a:xfrm>
        </p:grpSpPr>
        <p:sp>
          <p:nvSpPr>
            <p:cNvPr id="5" name="AutoShape 52">
              <a:extLst>
                <a:ext uri="{FF2B5EF4-FFF2-40B4-BE49-F238E27FC236}">
                  <a16:creationId xmlns:a16="http://schemas.microsoft.com/office/drawing/2014/main" id="{85CA0E75-B9E8-BDFB-44D7-9C89F8DED1D8}"/>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Bài tập 2</a:t>
              </a:r>
              <a:endParaRPr lang="en-US">
                <a:solidFill>
                  <a:srgbClr val="FFFF00"/>
                </a:solidFill>
              </a:endParaRPr>
            </a:p>
          </p:txBody>
        </p:sp>
        <p:grpSp>
          <p:nvGrpSpPr>
            <p:cNvPr id="6" name="Group 17">
              <a:extLst>
                <a:ext uri="{FF2B5EF4-FFF2-40B4-BE49-F238E27FC236}">
                  <a16:creationId xmlns:a16="http://schemas.microsoft.com/office/drawing/2014/main" id="{91D4C377-3EF9-512C-0CAA-3A95730D524F}"/>
                </a:ext>
              </a:extLst>
            </p:cNvPr>
            <p:cNvGrpSpPr>
              <a:grpSpLocks/>
            </p:cNvGrpSpPr>
            <p:nvPr/>
          </p:nvGrpSpPr>
          <p:grpSpPr bwMode="auto">
            <a:xfrm>
              <a:off x="789624" y="1295400"/>
              <a:ext cx="353376" cy="272472"/>
              <a:chOff x="1110" y="2656"/>
              <a:chExt cx="1549" cy="1351"/>
            </a:xfrm>
          </p:grpSpPr>
          <p:sp>
            <p:nvSpPr>
              <p:cNvPr id="7" name="AutoShape 18">
                <a:extLst>
                  <a:ext uri="{FF2B5EF4-FFF2-40B4-BE49-F238E27FC236}">
                    <a16:creationId xmlns:a16="http://schemas.microsoft.com/office/drawing/2014/main" id="{757F00B9-AFAF-22A2-8350-A3CC754590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8" name="AutoShape 19">
                <a:extLst>
                  <a:ext uri="{FF2B5EF4-FFF2-40B4-BE49-F238E27FC236}">
                    <a16:creationId xmlns:a16="http://schemas.microsoft.com/office/drawing/2014/main" id="{35D6D059-3389-AA82-FA93-00B994E4602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9" name="AutoShape 20">
                <a:extLst>
                  <a:ext uri="{FF2B5EF4-FFF2-40B4-BE49-F238E27FC236}">
                    <a16:creationId xmlns:a16="http://schemas.microsoft.com/office/drawing/2014/main" id="{26C19070-EBFC-FB4F-13FC-A0717C116E4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18517841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770FEB1-51F9-4417-B900-775AD70287BA}"/>
              </a:ext>
            </a:extLst>
          </p:cNvPr>
          <p:cNvGrpSpPr/>
          <p:nvPr/>
        </p:nvGrpSpPr>
        <p:grpSpPr>
          <a:xfrm>
            <a:off x="384629" y="342900"/>
            <a:ext cx="5558971" cy="381000"/>
            <a:chOff x="789624" y="1191463"/>
            <a:chExt cx="6629400" cy="508000"/>
          </a:xfrm>
        </p:grpSpPr>
        <p:sp>
          <p:nvSpPr>
            <p:cNvPr id="3" name="AutoShape 52">
              <a:extLst>
                <a:ext uri="{FF2B5EF4-FFF2-40B4-BE49-F238E27FC236}">
                  <a16:creationId xmlns:a16="http://schemas.microsoft.com/office/drawing/2014/main" id="{333D708A-8D8E-4B33-8C54-92E14F9E3F7E}"/>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Bài tập 3</a:t>
              </a:r>
              <a:endParaRPr lang="en-US">
                <a:solidFill>
                  <a:srgbClr val="FFFF00"/>
                </a:solidFill>
              </a:endParaRPr>
            </a:p>
          </p:txBody>
        </p:sp>
        <p:grpSp>
          <p:nvGrpSpPr>
            <p:cNvPr id="4" name="Group 17">
              <a:extLst>
                <a:ext uri="{FF2B5EF4-FFF2-40B4-BE49-F238E27FC236}">
                  <a16:creationId xmlns:a16="http://schemas.microsoft.com/office/drawing/2014/main" id="{B72D15FA-06CB-4A04-9D45-75ECE6D28AE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C1BD9F8-49D9-4BB0-B915-C90735EE8B9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B81CCCD-5A96-4F88-92A3-FF5BA1C982C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4294F17-2D6E-4E67-8FB8-AC3A7391C57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60C2C67-AB40-4BF8-B5D8-812F5838E1B3}"/>
              </a:ext>
            </a:extLst>
          </p:cNvPr>
          <p:cNvSpPr txBox="1"/>
          <p:nvPr/>
        </p:nvSpPr>
        <p:spPr>
          <a:xfrm>
            <a:off x="384629" y="1157989"/>
            <a:ext cx="8742154" cy="5016758"/>
          </a:xfrm>
          <a:prstGeom prst="rect">
            <a:avLst/>
          </a:prstGeom>
          <a:noFill/>
        </p:spPr>
        <p:txBody>
          <a:bodyPr wrap="square">
            <a:spAutoFit/>
          </a:bodyPr>
          <a:lstStyle/>
          <a:p>
            <a:r>
              <a:rPr lang="vi-VN" sz="2000"/>
              <a:t>Viết hàm xóa một ký tự trong chuỗi tại vị trí vt nào đó (tính từ 0).</a:t>
            </a:r>
          </a:p>
          <a:p>
            <a:r>
              <a:rPr lang="vi-VN" sz="2000"/>
              <a:t>Viết chương trình nhập vào chuỗi X và số nguyên n; nhập vào chuỗi Y và số nguyên m. Xóa chuỗi X và Y một ký tự tại vị trí n và m tương ứng.</a:t>
            </a:r>
          </a:p>
          <a:p>
            <a:r>
              <a:rPr lang="vi-VN" sz="2000"/>
              <a:t>Input: </a:t>
            </a:r>
          </a:p>
          <a:p>
            <a:r>
              <a:rPr lang="vi-VN" sz="2000"/>
              <a:t>+ Dòng thứ nhất nhập chuỗi ký tự X </a:t>
            </a:r>
          </a:p>
          <a:p>
            <a:r>
              <a:rPr lang="vi-VN" sz="2000"/>
              <a:t>+ Dòng thứ hai nhập vào số nguyên n. </a:t>
            </a:r>
          </a:p>
          <a:p>
            <a:r>
              <a:rPr lang="vi-VN" sz="2000"/>
              <a:t>+ Dòng thứ ba nhập chuỗi ký tự Y </a:t>
            </a:r>
          </a:p>
          <a:p>
            <a:r>
              <a:rPr lang="vi-VN" sz="2000"/>
              <a:t>+ Dòng thứ tư nhập vào số nguyên m. </a:t>
            </a:r>
          </a:p>
          <a:p>
            <a:r>
              <a:rPr lang="vi-VN" sz="2000"/>
              <a:t>Output: Dòng thứ nhất là chuỗi kết quả X.</a:t>
            </a:r>
          </a:p>
          <a:p>
            <a:r>
              <a:rPr lang="vi-VN" sz="2000"/>
              <a:t>+ Dòng thứ 2 là chuỗi kết quả Y</a:t>
            </a:r>
          </a:p>
          <a:p>
            <a:r>
              <a:rPr lang="vi-VN" sz="2000"/>
              <a:t>Constrains: chuỗi ký tự có độ dài không quá 100, n, m là các số kiểu int.</a:t>
            </a:r>
            <a:endParaRPr lang="en-US" sz="2000"/>
          </a:p>
          <a:p>
            <a:r>
              <a:rPr lang="en-US" sz="2000"/>
              <a:t>VD</a:t>
            </a:r>
            <a:r>
              <a:rPr lang="vi-VN" sz="2000"/>
              <a:t> </a:t>
            </a:r>
            <a:endParaRPr lang="en-US" sz="2000"/>
          </a:p>
          <a:p>
            <a:r>
              <a:rPr lang="vi-VN" sz="2000"/>
              <a:t>abc</a:t>
            </a:r>
          </a:p>
          <a:p>
            <a:r>
              <a:rPr lang="vi-VN" sz="2000"/>
              <a:t>0</a:t>
            </a:r>
          </a:p>
          <a:p>
            <a:r>
              <a:rPr lang="vi-VN" sz="2000"/>
              <a:t>xyz</a:t>
            </a:r>
          </a:p>
          <a:p>
            <a:r>
              <a:rPr lang="en-US" sz="2000"/>
              <a:t>1</a:t>
            </a:r>
            <a:endParaRPr lang="vi-VN" sz="2000"/>
          </a:p>
        </p:txBody>
      </p:sp>
      <p:sp>
        <p:nvSpPr>
          <p:cNvPr id="11" name="TextBox 10">
            <a:extLst>
              <a:ext uri="{FF2B5EF4-FFF2-40B4-BE49-F238E27FC236}">
                <a16:creationId xmlns:a16="http://schemas.microsoft.com/office/drawing/2014/main" id="{EC0C8740-51C7-4E1D-B9CE-113A334FBF2C}"/>
              </a:ext>
            </a:extLst>
          </p:cNvPr>
          <p:cNvSpPr txBox="1"/>
          <p:nvPr/>
        </p:nvSpPr>
        <p:spPr>
          <a:xfrm>
            <a:off x="1828800" y="5105400"/>
            <a:ext cx="990600" cy="707886"/>
          </a:xfrm>
          <a:prstGeom prst="rect">
            <a:avLst/>
          </a:prstGeom>
          <a:noFill/>
        </p:spPr>
        <p:txBody>
          <a:bodyPr wrap="square" rtlCol="0">
            <a:spAutoFit/>
          </a:bodyPr>
          <a:lstStyle/>
          <a:p>
            <a:r>
              <a:rPr lang="en-US" sz="2000"/>
              <a:t>bc</a:t>
            </a:r>
          </a:p>
          <a:p>
            <a:r>
              <a:rPr lang="en-US" sz="2000"/>
              <a:t>xz</a:t>
            </a:r>
          </a:p>
        </p:txBody>
      </p:sp>
      <p:cxnSp>
        <p:nvCxnSpPr>
          <p:cNvPr id="13" name="Straight Arrow Connector 12">
            <a:extLst>
              <a:ext uri="{FF2B5EF4-FFF2-40B4-BE49-F238E27FC236}">
                <a16:creationId xmlns:a16="http://schemas.microsoft.com/office/drawing/2014/main" id="{FB87C32F-C0D9-40D8-83F7-53B33047358C}"/>
              </a:ext>
            </a:extLst>
          </p:cNvPr>
          <p:cNvCxnSpPr/>
          <p:nvPr/>
        </p:nvCxnSpPr>
        <p:spPr>
          <a:xfrm>
            <a:off x="990600" y="5410200"/>
            <a:ext cx="685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6259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2D4B3D8-793F-49F6-A5BC-52FF44E1BDB3}"/>
              </a:ext>
            </a:extLst>
          </p:cNvPr>
          <p:cNvGrpSpPr/>
          <p:nvPr/>
        </p:nvGrpSpPr>
        <p:grpSpPr>
          <a:xfrm>
            <a:off x="384629" y="355600"/>
            <a:ext cx="5558971" cy="381000"/>
            <a:chOff x="789624" y="1191463"/>
            <a:chExt cx="6629400" cy="508000"/>
          </a:xfrm>
        </p:grpSpPr>
        <p:sp>
          <p:nvSpPr>
            <p:cNvPr id="3" name="AutoShape 52">
              <a:extLst>
                <a:ext uri="{FF2B5EF4-FFF2-40B4-BE49-F238E27FC236}">
                  <a16:creationId xmlns:a16="http://schemas.microsoft.com/office/drawing/2014/main" id="{BF272BE5-3C90-4964-881E-C452FB324A88}"/>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Bài tập 4</a:t>
              </a:r>
              <a:endParaRPr lang="en-US">
                <a:solidFill>
                  <a:srgbClr val="FFFF00"/>
                </a:solidFill>
              </a:endParaRPr>
            </a:p>
          </p:txBody>
        </p:sp>
        <p:grpSp>
          <p:nvGrpSpPr>
            <p:cNvPr id="4" name="Group 17">
              <a:extLst>
                <a:ext uri="{FF2B5EF4-FFF2-40B4-BE49-F238E27FC236}">
                  <a16:creationId xmlns:a16="http://schemas.microsoft.com/office/drawing/2014/main" id="{B5CE2E99-FEA4-4170-B842-9E615AB7C25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3271688-8E04-45BF-9EF3-C286C62DA26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A3092C8-EF03-4DF2-A495-395BFA70860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6734B62-5DD5-4376-A4E7-AFCF2B55036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40994C2-5C0C-452F-AC9B-1CF0B2AD04A1}"/>
              </a:ext>
            </a:extLst>
          </p:cNvPr>
          <p:cNvSpPr txBox="1"/>
          <p:nvPr/>
        </p:nvSpPr>
        <p:spPr>
          <a:xfrm>
            <a:off x="114300" y="1219200"/>
            <a:ext cx="8915400" cy="2308324"/>
          </a:xfrm>
          <a:prstGeom prst="rect">
            <a:avLst/>
          </a:prstGeom>
          <a:noFill/>
        </p:spPr>
        <p:txBody>
          <a:bodyPr wrap="square">
            <a:spAutoFit/>
          </a:bodyPr>
          <a:lstStyle/>
          <a:p>
            <a:r>
              <a:rPr lang="vi-VN"/>
              <a:t>Viết chương trình nhập vào một chuỗi gồm các chữ cái và dấu cách. Chuẩn hóa chuỗi vừa nhập thành dạng tên riêng.</a:t>
            </a:r>
          </a:p>
          <a:p>
            <a:r>
              <a:rPr lang="vi-VN"/>
              <a:t>Input: chuỗi ký tự bao gồm chữ cái, dấu cách.</a:t>
            </a:r>
          </a:p>
          <a:p>
            <a:r>
              <a:rPr lang="vi-VN"/>
              <a:t>Output: chuỗi ký tự ở dạng tên riêng.</a:t>
            </a:r>
          </a:p>
          <a:p>
            <a:r>
              <a:rPr lang="vi-VN"/>
              <a:t>Constrains: chuỗi ký tự chỉ chứa các chữ cái, dấu cách.</a:t>
            </a:r>
          </a:p>
          <a:p>
            <a:endParaRPr lang="vi-VN"/>
          </a:p>
        </p:txBody>
      </p:sp>
      <p:sp>
        <p:nvSpPr>
          <p:cNvPr id="11" name="TextBox 10">
            <a:extLst>
              <a:ext uri="{FF2B5EF4-FFF2-40B4-BE49-F238E27FC236}">
                <a16:creationId xmlns:a16="http://schemas.microsoft.com/office/drawing/2014/main" id="{5B1E9157-21F0-44ED-9DFB-324F6F506C23}"/>
              </a:ext>
            </a:extLst>
          </p:cNvPr>
          <p:cNvSpPr txBox="1"/>
          <p:nvPr/>
        </p:nvSpPr>
        <p:spPr>
          <a:xfrm>
            <a:off x="609600" y="3647152"/>
            <a:ext cx="3048000" cy="461665"/>
          </a:xfrm>
          <a:prstGeom prst="rect">
            <a:avLst/>
          </a:prstGeom>
          <a:noFill/>
        </p:spPr>
        <p:txBody>
          <a:bodyPr wrap="square">
            <a:spAutoFit/>
          </a:bodyPr>
          <a:lstStyle/>
          <a:p>
            <a:r>
              <a:rPr lang="en-US"/>
              <a:t> hung    van    trung </a:t>
            </a:r>
          </a:p>
        </p:txBody>
      </p:sp>
      <p:sp>
        <p:nvSpPr>
          <p:cNvPr id="13" name="TextBox 12">
            <a:extLst>
              <a:ext uri="{FF2B5EF4-FFF2-40B4-BE49-F238E27FC236}">
                <a16:creationId xmlns:a16="http://schemas.microsoft.com/office/drawing/2014/main" id="{C94F3DD4-940F-4403-83D7-6EBED7E516DF}"/>
              </a:ext>
            </a:extLst>
          </p:cNvPr>
          <p:cNvSpPr txBox="1"/>
          <p:nvPr/>
        </p:nvSpPr>
        <p:spPr>
          <a:xfrm>
            <a:off x="4572000" y="3647152"/>
            <a:ext cx="4572000" cy="461665"/>
          </a:xfrm>
          <a:prstGeom prst="rect">
            <a:avLst/>
          </a:prstGeom>
          <a:noFill/>
        </p:spPr>
        <p:txBody>
          <a:bodyPr wrap="square">
            <a:spAutoFit/>
          </a:bodyPr>
          <a:lstStyle/>
          <a:p>
            <a:r>
              <a:rPr lang="en-US"/>
              <a:t>Hung Van Trung</a:t>
            </a:r>
          </a:p>
        </p:txBody>
      </p:sp>
      <p:sp>
        <p:nvSpPr>
          <p:cNvPr id="15" name="TextBox 14">
            <a:extLst>
              <a:ext uri="{FF2B5EF4-FFF2-40B4-BE49-F238E27FC236}">
                <a16:creationId xmlns:a16="http://schemas.microsoft.com/office/drawing/2014/main" id="{54672F8A-B18B-4A13-822E-5BF4EA4FC477}"/>
              </a:ext>
            </a:extLst>
          </p:cNvPr>
          <p:cNvSpPr txBox="1"/>
          <p:nvPr/>
        </p:nvSpPr>
        <p:spPr>
          <a:xfrm>
            <a:off x="609600" y="4495800"/>
            <a:ext cx="3048000" cy="461665"/>
          </a:xfrm>
          <a:prstGeom prst="rect">
            <a:avLst/>
          </a:prstGeom>
          <a:noFill/>
        </p:spPr>
        <p:txBody>
          <a:bodyPr wrap="square">
            <a:spAutoFit/>
          </a:bodyPr>
          <a:lstStyle/>
          <a:p>
            <a:r>
              <a:rPr lang="en-US"/>
              <a:t> HUNG    HucG </a:t>
            </a:r>
          </a:p>
        </p:txBody>
      </p:sp>
      <p:sp>
        <p:nvSpPr>
          <p:cNvPr id="17" name="TextBox 16">
            <a:extLst>
              <a:ext uri="{FF2B5EF4-FFF2-40B4-BE49-F238E27FC236}">
                <a16:creationId xmlns:a16="http://schemas.microsoft.com/office/drawing/2014/main" id="{E5089AC3-FE2C-44AE-B617-BB5E116B4F4A}"/>
              </a:ext>
            </a:extLst>
          </p:cNvPr>
          <p:cNvSpPr txBox="1"/>
          <p:nvPr/>
        </p:nvSpPr>
        <p:spPr>
          <a:xfrm>
            <a:off x="4610100" y="4491683"/>
            <a:ext cx="4572000" cy="461665"/>
          </a:xfrm>
          <a:prstGeom prst="rect">
            <a:avLst/>
          </a:prstGeom>
          <a:noFill/>
        </p:spPr>
        <p:txBody>
          <a:bodyPr wrap="square">
            <a:spAutoFit/>
          </a:bodyPr>
          <a:lstStyle/>
          <a:p>
            <a:r>
              <a:rPr lang="en-US"/>
              <a:t>Hung Hucg</a:t>
            </a:r>
          </a:p>
        </p:txBody>
      </p:sp>
      <p:cxnSp>
        <p:nvCxnSpPr>
          <p:cNvPr id="19" name="Straight Arrow Connector 18">
            <a:extLst>
              <a:ext uri="{FF2B5EF4-FFF2-40B4-BE49-F238E27FC236}">
                <a16:creationId xmlns:a16="http://schemas.microsoft.com/office/drawing/2014/main" id="{0C539B31-2693-4DA0-B4B9-5FC479520D86}"/>
              </a:ext>
            </a:extLst>
          </p:cNvPr>
          <p:cNvCxnSpPr>
            <a:stCxn id="11" idx="3"/>
            <a:endCxn id="13" idx="1"/>
          </p:cNvCxnSpPr>
          <p:nvPr/>
        </p:nvCxnSpPr>
        <p:spPr>
          <a:xfrm>
            <a:off x="3657600" y="3877985"/>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AEE7186-0F30-4C64-94A2-D8DAB2B627D5}"/>
              </a:ext>
            </a:extLst>
          </p:cNvPr>
          <p:cNvCxnSpPr/>
          <p:nvPr/>
        </p:nvCxnSpPr>
        <p:spPr>
          <a:xfrm>
            <a:off x="3657600" y="4722515"/>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82157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320848-1C45-47FE-B955-76E95998552B}"/>
              </a:ext>
            </a:extLst>
          </p:cNvPr>
          <p:cNvSpPr txBox="1"/>
          <p:nvPr/>
        </p:nvSpPr>
        <p:spPr>
          <a:xfrm>
            <a:off x="304800" y="1228397"/>
            <a:ext cx="8839200" cy="4093428"/>
          </a:xfrm>
          <a:prstGeom prst="rect">
            <a:avLst/>
          </a:prstGeom>
          <a:noFill/>
        </p:spPr>
        <p:txBody>
          <a:bodyPr wrap="square">
            <a:spAutoFit/>
          </a:bodyPr>
          <a:lstStyle/>
          <a:p>
            <a:r>
              <a:rPr lang="vi-VN" sz="2000"/>
              <a:t>Nhập vào một bảng số gồm n dòng và n cột. Tính tổng các số</a:t>
            </a:r>
          </a:p>
          <a:p>
            <a:r>
              <a:rPr lang="vi-VN" sz="2000"/>
              <a:t>nằm trên đường chéo chính; tính tổng các số nằm trên đường chéo phụ của bảng</a:t>
            </a:r>
          </a:p>
          <a:p>
            <a:r>
              <a:rPr lang="vi-VN" sz="2000" b="1"/>
              <a:t>Input:</a:t>
            </a:r>
          </a:p>
          <a:p>
            <a:r>
              <a:rPr lang="vi-VN" sz="2000"/>
              <a:t>Dòng đầu nhập số cột n</a:t>
            </a:r>
          </a:p>
          <a:p>
            <a:r>
              <a:rPr lang="vi-VN" sz="2000"/>
              <a:t>Dòng hai nhập số hàng n</a:t>
            </a:r>
          </a:p>
          <a:p>
            <a:r>
              <a:rPr lang="vi-VN" sz="2000"/>
              <a:t>Các dòng tiếp theo nhập các phần tử của của bảng cách nhau một dấu cách, nhập theo dòng</a:t>
            </a:r>
          </a:p>
          <a:p>
            <a:r>
              <a:rPr lang="vi-VN" sz="2000" b="1"/>
              <a:t>Output:</a:t>
            </a:r>
          </a:p>
          <a:p>
            <a:r>
              <a:rPr lang="vi-VN" sz="2000"/>
              <a:t>Dòng đầu in ra  tổng các số thuộc đường chéo chính</a:t>
            </a:r>
          </a:p>
          <a:p>
            <a:r>
              <a:rPr lang="vi-VN" sz="2000"/>
              <a:t>Dòng cuối in ra tổng các số thuộc đường chéo phụ</a:t>
            </a:r>
          </a:p>
          <a:p>
            <a:r>
              <a:rPr lang="vi-VN" sz="2000" b="1"/>
              <a:t>Constrainst</a:t>
            </a:r>
          </a:p>
          <a:p>
            <a:r>
              <a:rPr lang="vi-VN" sz="2000"/>
              <a:t>n nguyên dương</a:t>
            </a:r>
          </a:p>
          <a:p>
            <a:r>
              <a:rPr lang="vi-VN" sz="2000"/>
              <a:t>Các phần từ của bảng là kiểu int</a:t>
            </a:r>
          </a:p>
        </p:txBody>
      </p:sp>
      <p:grpSp>
        <p:nvGrpSpPr>
          <p:cNvPr id="4" name="Group 3">
            <a:extLst>
              <a:ext uri="{FF2B5EF4-FFF2-40B4-BE49-F238E27FC236}">
                <a16:creationId xmlns:a16="http://schemas.microsoft.com/office/drawing/2014/main" id="{347DBBBD-C1B1-4EA3-8C7F-D73CB8EBC729}"/>
              </a:ext>
            </a:extLst>
          </p:cNvPr>
          <p:cNvGrpSpPr/>
          <p:nvPr/>
        </p:nvGrpSpPr>
        <p:grpSpPr>
          <a:xfrm>
            <a:off x="384629" y="355600"/>
            <a:ext cx="5558971" cy="381000"/>
            <a:chOff x="789624" y="1191463"/>
            <a:chExt cx="6629400" cy="508000"/>
          </a:xfrm>
        </p:grpSpPr>
        <p:sp>
          <p:nvSpPr>
            <p:cNvPr id="5" name="AutoShape 52">
              <a:extLst>
                <a:ext uri="{FF2B5EF4-FFF2-40B4-BE49-F238E27FC236}">
                  <a16:creationId xmlns:a16="http://schemas.microsoft.com/office/drawing/2014/main" id="{70C676FD-AA38-4967-9D45-148F5631E45F}"/>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Bài tập 5</a:t>
              </a:r>
              <a:endParaRPr lang="en-US">
                <a:solidFill>
                  <a:srgbClr val="FFFF00"/>
                </a:solidFill>
              </a:endParaRPr>
            </a:p>
          </p:txBody>
        </p:sp>
        <p:grpSp>
          <p:nvGrpSpPr>
            <p:cNvPr id="6" name="Group 17">
              <a:extLst>
                <a:ext uri="{FF2B5EF4-FFF2-40B4-BE49-F238E27FC236}">
                  <a16:creationId xmlns:a16="http://schemas.microsoft.com/office/drawing/2014/main" id="{7383DB00-C79B-4297-B769-DA1AF5D14808}"/>
                </a:ext>
              </a:extLst>
            </p:cNvPr>
            <p:cNvGrpSpPr>
              <a:grpSpLocks/>
            </p:cNvGrpSpPr>
            <p:nvPr/>
          </p:nvGrpSpPr>
          <p:grpSpPr bwMode="auto">
            <a:xfrm>
              <a:off x="789624" y="1295400"/>
              <a:ext cx="353376" cy="272472"/>
              <a:chOff x="1110" y="2656"/>
              <a:chExt cx="1549" cy="1351"/>
            </a:xfrm>
          </p:grpSpPr>
          <p:sp>
            <p:nvSpPr>
              <p:cNvPr id="7" name="AutoShape 18">
                <a:extLst>
                  <a:ext uri="{FF2B5EF4-FFF2-40B4-BE49-F238E27FC236}">
                    <a16:creationId xmlns:a16="http://schemas.microsoft.com/office/drawing/2014/main" id="{BE012846-E97D-4E55-B3A7-16098474E3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8" name="AutoShape 19">
                <a:extLst>
                  <a:ext uri="{FF2B5EF4-FFF2-40B4-BE49-F238E27FC236}">
                    <a16:creationId xmlns:a16="http://schemas.microsoft.com/office/drawing/2014/main" id="{0961366B-9686-4EE0-8D3C-63D5792D12F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9" name="AutoShape 20">
                <a:extLst>
                  <a:ext uri="{FF2B5EF4-FFF2-40B4-BE49-F238E27FC236}">
                    <a16:creationId xmlns:a16="http://schemas.microsoft.com/office/drawing/2014/main" id="{2B60577A-723B-40A6-BD65-33EA23A252E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227A3751-5E96-4679-9820-1BBC8BC9A4AF}"/>
              </a:ext>
            </a:extLst>
          </p:cNvPr>
          <p:cNvSpPr txBox="1"/>
          <p:nvPr/>
        </p:nvSpPr>
        <p:spPr>
          <a:xfrm>
            <a:off x="990600" y="5228729"/>
            <a:ext cx="1600200" cy="1692771"/>
          </a:xfrm>
          <a:prstGeom prst="rect">
            <a:avLst/>
          </a:prstGeom>
          <a:noFill/>
        </p:spPr>
        <p:txBody>
          <a:bodyPr wrap="square" rtlCol="0">
            <a:spAutoFit/>
          </a:bodyPr>
          <a:lstStyle/>
          <a:p>
            <a:r>
              <a:rPr lang="en-US" sz="2000"/>
              <a:t>3</a:t>
            </a:r>
          </a:p>
          <a:p>
            <a:r>
              <a:rPr lang="en-US" sz="2000"/>
              <a:t>3</a:t>
            </a:r>
          </a:p>
          <a:p>
            <a:r>
              <a:rPr lang="en-US" sz="2000"/>
              <a:t>3 4 5</a:t>
            </a:r>
          </a:p>
          <a:p>
            <a:r>
              <a:rPr lang="en-US" sz="2000"/>
              <a:t>4 5 6</a:t>
            </a:r>
          </a:p>
          <a:p>
            <a:r>
              <a:rPr lang="en-US" sz="2000"/>
              <a:t>3 4 5</a:t>
            </a:r>
          </a:p>
        </p:txBody>
      </p:sp>
      <p:sp>
        <p:nvSpPr>
          <p:cNvPr id="11" name="TextBox 10">
            <a:extLst>
              <a:ext uri="{FF2B5EF4-FFF2-40B4-BE49-F238E27FC236}">
                <a16:creationId xmlns:a16="http://schemas.microsoft.com/office/drawing/2014/main" id="{C41CD17B-9F71-4060-BC00-FDD92453FF44}"/>
              </a:ext>
            </a:extLst>
          </p:cNvPr>
          <p:cNvSpPr txBox="1"/>
          <p:nvPr/>
        </p:nvSpPr>
        <p:spPr>
          <a:xfrm>
            <a:off x="3314700" y="5912315"/>
            <a:ext cx="990600" cy="707886"/>
          </a:xfrm>
          <a:prstGeom prst="rect">
            <a:avLst/>
          </a:prstGeom>
          <a:noFill/>
        </p:spPr>
        <p:txBody>
          <a:bodyPr wrap="square" rtlCol="0">
            <a:spAutoFit/>
          </a:bodyPr>
          <a:lstStyle/>
          <a:p>
            <a:r>
              <a:rPr lang="en-US" sz="2000"/>
              <a:t>13</a:t>
            </a:r>
          </a:p>
          <a:p>
            <a:r>
              <a:rPr lang="en-US" sz="2000"/>
              <a:t>13</a:t>
            </a:r>
          </a:p>
        </p:txBody>
      </p:sp>
      <p:cxnSp>
        <p:nvCxnSpPr>
          <p:cNvPr id="13" name="Straight Arrow Connector 12">
            <a:extLst>
              <a:ext uri="{FF2B5EF4-FFF2-40B4-BE49-F238E27FC236}">
                <a16:creationId xmlns:a16="http://schemas.microsoft.com/office/drawing/2014/main" id="{45DCFFE3-B009-4404-9EF6-2452125362BE}"/>
              </a:ext>
            </a:extLst>
          </p:cNvPr>
          <p:cNvCxnSpPr/>
          <p:nvPr/>
        </p:nvCxnSpPr>
        <p:spPr>
          <a:xfrm>
            <a:off x="2057400" y="61722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985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C77706-86C9-4298-8976-F5D33D78F52E}"/>
              </a:ext>
            </a:extLst>
          </p:cNvPr>
          <p:cNvSpPr txBox="1"/>
          <p:nvPr/>
        </p:nvSpPr>
        <p:spPr>
          <a:xfrm>
            <a:off x="88900" y="1219200"/>
            <a:ext cx="9067800" cy="3785652"/>
          </a:xfrm>
          <a:prstGeom prst="rect">
            <a:avLst/>
          </a:prstGeom>
          <a:noFill/>
        </p:spPr>
        <p:txBody>
          <a:bodyPr wrap="square">
            <a:spAutoFit/>
          </a:bodyPr>
          <a:lstStyle/>
          <a:p>
            <a:r>
              <a:rPr lang="vi-VN" sz="2000"/>
              <a:t>Cho một danh sách gồm n số nguyên dương và một số nguyên dương K.</a:t>
            </a:r>
          </a:p>
          <a:p>
            <a:r>
              <a:rPr lang="vi-VN" sz="2000"/>
              <a:t>Viết chương trình tìm số lớn nhất trong danh sách nhưng nhỏ hơn hoặc bằng K. Nếu không có số nào thỏa mãn, in ra "NO".</a:t>
            </a:r>
          </a:p>
          <a:p>
            <a:r>
              <a:rPr lang="vi-VN" sz="2000"/>
              <a:t>Input:</a:t>
            </a:r>
          </a:p>
          <a:p>
            <a:r>
              <a:rPr lang="vi-VN" sz="2000"/>
              <a:t>Dòng đầu tiên chứa số nguyên dương n (1 ≤ n ≤ 100), là số lượng phần tử của danh sách.</a:t>
            </a:r>
          </a:p>
          <a:p>
            <a:r>
              <a:rPr lang="vi-VN" sz="2000"/>
              <a:t>Dòng tiếp theo chứa n số nguyên dương là các phần tử của danh sách, mỗi số cách nhau một dấu cách.</a:t>
            </a:r>
          </a:p>
          <a:p>
            <a:r>
              <a:rPr lang="vi-VN" sz="2000"/>
              <a:t>Dòng tiếp theo chứa số nguyên dương K.</a:t>
            </a:r>
          </a:p>
          <a:p>
            <a:r>
              <a:rPr lang="vi-VN" sz="2000"/>
              <a:t>Output:</a:t>
            </a:r>
          </a:p>
          <a:p>
            <a:r>
              <a:rPr lang="vi-VN" sz="2000"/>
              <a:t>In ra số lớn nhất nhỏ hơn hoặc bằng K. Nếu không tìm thấy, in ra "NO".</a:t>
            </a:r>
          </a:p>
          <a:p>
            <a:endParaRPr lang="vi-VN" sz="2000"/>
          </a:p>
        </p:txBody>
      </p:sp>
      <p:sp>
        <p:nvSpPr>
          <p:cNvPr id="5" name="TextBox 4">
            <a:extLst>
              <a:ext uri="{FF2B5EF4-FFF2-40B4-BE49-F238E27FC236}">
                <a16:creationId xmlns:a16="http://schemas.microsoft.com/office/drawing/2014/main" id="{6C0EDBB6-0449-4DC1-8730-A0F4A01561BC}"/>
              </a:ext>
            </a:extLst>
          </p:cNvPr>
          <p:cNvSpPr txBox="1"/>
          <p:nvPr/>
        </p:nvSpPr>
        <p:spPr>
          <a:xfrm>
            <a:off x="127000" y="4572000"/>
            <a:ext cx="3962400" cy="2554545"/>
          </a:xfrm>
          <a:prstGeom prst="rect">
            <a:avLst/>
          </a:prstGeom>
          <a:noFill/>
        </p:spPr>
        <p:txBody>
          <a:bodyPr wrap="square" numCol="2" rtlCol="0">
            <a:spAutoFit/>
          </a:bodyPr>
          <a:lstStyle/>
          <a:p>
            <a:r>
              <a:rPr lang="vi-VN" sz="2000"/>
              <a:t>Ví dụ:</a:t>
            </a:r>
          </a:p>
          <a:p>
            <a:r>
              <a:rPr lang="vi-VN" sz="2000"/>
              <a:t>input 1:</a:t>
            </a:r>
          </a:p>
          <a:p>
            <a:r>
              <a:rPr lang="vi-VN" sz="2000"/>
              <a:t>5</a:t>
            </a:r>
          </a:p>
          <a:p>
            <a:r>
              <a:rPr lang="vi-VN" sz="2000"/>
              <a:t>10 15 7 20 3</a:t>
            </a:r>
          </a:p>
          <a:p>
            <a:r>
              <a:rPr lang="vi-VN" sz="2000"/>
              <a:t>16</a:t>
            </a:r>
          </a:p>
          <a:p>
            <a:r>
              <a:rPr lang="vi-VN" sz="2000"/>
              <a:t>output 1:</a:t>
            </a:r>
          </a:p>
          <a:p>
            <a:r>
              <a:rPr lang="vi-VN" sz="2000"/>
              <a:t>15</a:t>
            </a:r>
          </a:p>
          <a:p>
            <a:endParaRPr lang="en-US" sz="2000"/>
          </a:p>
          <a:p>
            <a:r>
              <a:rPr lang="vi-VN" sz="2000"/>
              <a:t>input 2:</a:t>
            </a:r>
          </a:p>
          <a:p>
            <a:r>
              <a:rPr lang="vi-VN" sz="2000"/>
              <a:t>4</a:t>
            </a:r>
          </a:p>
          <a:p>
            <a:r>
              <a:rPr lang="vi-VN" sz="2000"/>
              <a:t>25 30 35 40</a:t>
            </a:r>
          </a:p>
          <a:p>
            <a:r>
              <a:rPr lang="vi-VN" sz="2000"/>
              <a:t>20</a:t>
            </a:r>
          </a:p>
          <a:p>
            <a:r>
              <a:rPr lang="vi-VN" sz="2000"/>
              <a:t>output 2:</a:t>
            </a:r>
          </a:p>
          <a:p>
            <a:r>
              <a:rPr lang="vi-VN" sz="2000"/>
              <a:t>NO</a:t>
            </a:r>
          </a:p>
          <a:p>
            <a:endParaRPr lang="en-US" sz="2000"/>
          </a:p>
        </p:txBody>
      </p:sp>
      <p:grpSp>
        <p:nvGrpSpPr>
          <p:cNvPr id="6" name="Group 5">
            <a:extLst>
              <a:ext uri="{FF2B5EF4-FFF2-40B4-BE49-F238E27FC236}">
                <a16:creationId xmlns:a16="http://schemas.microsoft.com/office/drawing/2014/main" id="{8139ED4F-C6BF-43CB-A924-3878E17F461E}"/>
              </a:ext>
            </a:extLst>
          </p:cNvPr>
          <p:cNvGrpSpPr/>
          <p:nvPr/>
        </p:nvGrpSpPr>
        <p:grpSpPr>
          <a:xfrm>
            <a:off x="384629" y="355600"/>
            <a:ext cx="5558971" cy="381000"/>
            <a:chOff x="789624" y="1191463"/>
            <a:chExt cx="6629400" cy="508000"/>
          </a:xfrm>
        </p:grpSpPr>
        <p:sp>
          <p:nvSpPr>
            <p:cNvPr id="7" name="AutoShape 52">
              <a:extLst>
                <a:ext uri="{FF2B5EF4-FFF2-40B4-BE49-F238E27FC236}">
                  <a16:creationId xmlns:a16="http://schemas.microsoft.com/office/drawing/2014/main" id="{1C3C1A8F-CF12-4247-9F49-4DB0DE289B61}"/>
                </a:ext>
              </a:extLst>
            </p:cNvPr>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Bài tập 6</a:t>
              </a:r>
              <a:endParaRPr lang="en-US">
                <a:solidFill>
                  <a:srgbClr val="FFFF00"/>
                </a:solidFill>
              </a:endParaRPr>
            </a:p>
          </p:txBody>
        </p:sp>
        <p:grpSp>
          <p:nvGrpSpPr>
            <p:cNvPr id="8" name="Group 17">
              <a:extLst>
                <a:ext uri="{FF2B5EF4-FFF2-40B4-BE49-F238E27FC236}">
                  <a16:creationId xmlns:a16="http://schemas.microsoft.com/office/drawing/2014/main" id="{D742A2EF-560B-4064-A166-709FCDDEDF7F}"/>
                </a:ext>
              </a:extLst>
            </p:cNvPr>
            <p:cNvGrpSpPr>
              <a:grpSpLocks/>
            </p:cNvGrpSpPr>
            <p:nvPr/>
          </p:nvGrpSpPr>
          <p:grpSpPr bwMode="auto">
            <a:xfrm>
              <a:off x="789624" y="1295400"/>
              <a:ext cx="353376" cy="272472"/>
              <a:chOff x="1110" y="2656"/>
              <a:chExt cx="1549" cy="1351"/>
            </a:xfrm>
          </p:grpSpPr>
          <p:sp>
            <p:nvSpPr>
              <p:cNvPr id="9" name="AutoShape 18">
                <a:extLst>
                  <a:ext uri="{FF2B5EF4-FFF2-40B4-BE49-F238E27FC236}">
                    <a16:creationId xmlns:a16="http://schemas.microsoft.com/office/drawing/2014/main" id="{969FF78B-65E9-4B1A-8AC9-29E3058AE52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10" name="AutoShape 19">
                <a:extLst>
                  <a:ext uri="{FF2B5EF4-FFF2-40B4-BE49-F238E27FC236}">
                    <a16:creationId xmlns:a16="http://schemas.microsoft.com/office/drawing/2014/main" id="{68C533FA-19FF-4022-9439-FB3B548874F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11" name="AutoShape 20">
                <a:extLst>
                  <a:ext uri="{FF2B5EF4-FFF2-40B4-BE49-F238E27FC236}">
                    <a16:creationId xmlns:a16="http://schemas.microsoft.com/office/drawing/2014/main" id="{05CA7D48-9F11-4889-A31D-E53AE8351F9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1389034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9" y="381000"/>
            <a:ext cx="4972050"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tập hợp</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b="1"/>
              <a:t>Kiểu dữ liệu Set trong python</a:t>
            </a:r>
            <a:r>
              <a:rPr lang="en-US"/>
              <a:t> là một collection không có thứ tự, không có chỉ mục. Không cho phép chứa dữ liệu trùng lặp.</a:t>
            </a:r>
          </a:p>
          <a:p>
            <a:pPr algn="just">
              <a:buFont typeface="Wingdings" pitchFamily="2" charset="2"/>
              <a:buChar char="Ø"/>
            </a:pPr>
            <a:r>
              <a:rPr lang="vi-VN"/>
              <a:t>Set trong Python được khai báo với các dấu ngoặc nhọn {}.</a:t>
            </a:r>
          </a:p>
          <a:p>
            <a:r>
              <a:rPr lang="en-US"/>
              <a:t>setFruits = {"apple", "cherry", "banana"}</a:t>
            </a:r>
          </a:p>
          <a:p>
            <a:r>
              <a:rPr lang="en-US"/>
              <a:t>print(setFruits)</a:t>
            </a:r>
          </a:p>
          <a:p>
            <a:pPr algn="just">
              <a:buFont typeface="Wingdings" pitchFamily="2" charset="2"/>
              <a:buChar char="Ø"/>
            </a:pPr>
            <a:endParaRPr lang="en-US" sz="2400">
              <a:latin typeface="Times New Roman" pitchFamily="18" charset="0"/>
              <a:cs typeface="Times New Roman" pitchFamily="18" charset="0"/>
            </a:endParaRPr>
          </a:p>
        </p:txBody>
      </p:sp>
    </p:spTree>
    <p:extLst>
      <p:ext uri="{BB962C8B-B14F-4D97-AF65-F5344CB8AC3E}">
        <p14:creationId xmlns:p14="http://schemas.microsoft.com/office/powerpoint/2010/main" val="39243629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tập hợp – truy cập các phần tử </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a:t>sử dụng vòng lặp for để truy cập các phần tử của một Set.</a:t>
            </a:r>
          </a:p>
          <a:p>
            <a:pPr lvl="1"/>
            <a:r>
              <a:rPr lang="en-US"/>
              <a:t>for x in setFruits:</a:t>
            </a:r>
          </a:p>
          <a:p>
            <a:pPr lvl="1"/>
            <a:r>
              <a:rPr lang="en-US"/>
              <a:t>    print(x)</a:t>
            </a:r>
          </a:p>
          <a:p>
            <a:pPr algn="just">
              <a:buFont typeface="Wingdings" pitchFamily="2" charset="2"/>
              <a:buChar char="Ø"/>
            </a:pPr>
            <a:r>
              <a:rPr lang="en-US"/>
              <a:t>có thể sử dụng từ khóa </a:t>
            </a:r>
            <a:r>
              <a:rPr lang="en-US" b="1"/>
              <a:t>in </a:t>
            </a:r>
            <a:r>
              <a:rPr lang="en-US"/>
              <a:t>để kiểm tra xem phần tử có tồn tại trong Set hay không</a:t>
            </a:r>
          </a:p>
          <a:p>
            <a:pPr lvl="1"/>
            <a:r>
              <a:rPr lang="en-US"/>
              <a:t>x = "apple" in setFruits</a:t>
            </a:r>
          </a:p>
          <a:p>
            <a:pPr lvl="1"/>
            <a:r>
              <a:rPr lang="en-US"/>
              <a:t>print(x)</a:t>
            </a:r>
          </a:p>
          <a:p>
            <a:pPr marL="0" indent="0" algn="just">
              <a:buNone/>
            </a:pPr>
            <a:endParaRPr lang="en-US" sz="2400">
              <a:latin typeface="Times New Roman" pitchFamily="18" charset="0"/>
              <a:cs typeface="Times New Roman" pitchFamily="18" charset="0"/>
            </a:endParaRPr>
          </a:p>
        </p:txBody>
      </p:sp>
    </p:spTree>
    <p:extLst>
      <p:ext uri="{BB962C8B-B14F-4D97-AF65-F5344CB8AC3E}">
        <p14:creationId xmlns:p14="http://schemas.microsoft.com/office/powerpoint/2010/main" val="969744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6701972"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4.2. Kiểu tập hợp – </a:t>
              </a:r>
              <a:r>
                <a:rPr lang="en-US">
                  <a:solidFill>
                    <a:srgbClr val="FFFF00"/>
                  </a:solidFill>
                </a:rPr>
                <a:t>Thêm các item vào một set</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vi-VN"/>
              <a:t>Khi một set được tạo ra, bạn không thể thay đổi các item của nó, nhưng bạn có thể thêm các item mới.</a:t>
            </a:r>
          </a:p>
          <a:p>
            <a:pPr algn="just"/>
            <a:r>
              <a:rPr lang="en-US"/>
              <a:t>Để thêm một item vào một set, sử dụng hàm </a:t>
            </a:r>
            <a:r>
              <a:rPr lang="en-US" b="1"/>
              <a:t>add()</a:t>
            </a:r>
            <a:endParaRPr lang="en-US"/>
          </a:p>
          <a:p>
            <a:pPr algn="just"/>
            <a:r>
              <a:rPr lang="en-US"/>
              <a:t>Để thêm nhiều item vào một set, sử dụng hàm </a:t>
            </a:r>
            <a:r>
              <a:rPr lang="en-US" b="1"/>
              <a:t>update()</a:t>
            </a:r>
            <a:endParaRPr lang="en-US"/>
          </a:p>
          <a:p>
            <a:pPr algn="just"/>
            <a:r>
              <a:rPr lang="en-US" sz="2400"/>
              <a:t>setFruits.add("kiwi")</a:t>
            </a:r>
          </a:p>
          <a:p>
            <a:pPr algn="just"/>
            <a:r>
              <a:rPr lang="en-US" sz="2400"/>
              <a:t>setFruits.update(["orange", "mango", "grapes"])</a:t>
            </a:r>
            <a:endParaRPr lang="en-US" sz="2400">
              <a:latin typeface="Times New Roman" pitchFamily="18" charset="0"/>
              <a:cs typeface="Times New Roman" pitchFamily="18" charset="0"/>
            </a:endParaRPr>
          </a:p>
        </p:txBody>
      </p:sp>
    </p:spTree>
    <p:extLst>
      <p:ext uri="{BB962C8B-B14F-4D97-AF65-F5344CB8AC3E}">
        <p14:creationId xmlns:p14="http://schemas.microsoft.com/office/powerpoint/2010/main" val="23934170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4.2. Kiểu tập hợp – </a:t>
              </a:r>
              <a:r>
                <a:rPr lang="en-US">
                  <a:solidFill>
                    <a:srgbClr val="FFFF00"/>
                  </a:solidFill>
                </a:rPr>
                <a:t>Xóa một phần tử từ Set</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a:t>sử dụng hàm remove(), hoặc discard(), hoặc pop()</a:t>
            </a:r>
          </a:p>
          <a:p>
            <a:pPr algn="just">
              <a:buFont typeface="Wingdings" pitchFamily="2" charset="2"/>
              <a:buChar char="Ø"/>
            </a:pPr>
            <a:r>
              <a:rPr lang="en-US" sz="2400"/>
              <a:t>setFruits.remove("banana")</a:t>
            </a:r>
          </a:p>
          <a:p>
            <a:pPr algn="just">
              <a:buFont typeface="Wingdings" pitchFamily="2" charset="2"/>
              <a:buChar char="Ø"/>
            </a:pPr>
            <a:r>
              <a:rPr lang="en-US" sz="2400"/>
              <a:t>setFruits.discard("banana")</a:t>
            </a:r>
          </a:p>
          <a:p>
            <a:pPr algn="just">
              <a:buFont typeface="Wingdings" pitchFamily="2" charset="2"/>
              <a:buChar char="Ø"/>
            </a:pPr>
            <a:r>
              <a:rPr lang="en-US" sz="2400"/>
              <a:t>x =</a:t>
            </a:r>
            <a:r>
              <a:rPr lang="en-US"/>
              <a:t> </a:t>
            </a:r>
            <a:r>
              <a:rPr lang="en-US" sz="2400"/>
              <a:t>setFruits.pop() #xoá phần tử ngẫu nhiên</a:t>
            </a:r>
          </a:p>
          <a:p>
            <a:pPr algn="just">
              <a:buFont typeface="Wingdings" pitchFamily="2" charset="2"/>
              <a:buChar char="Ø"/>
            </a:pPr>
            <a:r>
              <a:rPr lang="en-US"/>
              <a:t>setFruits.clear() </a:t>
            </a:r>
            <a:r>
              <a:rPr lang="en-US" sz="1800"/>
              <a:t>#xoá toàn bộ các phần tử, kết quả là một set rỗng</a:t>
            </a:r>
            <a:endParaRPr lang="en-US"/>
          </a:p>
          <a:p>
            <a:pPr algn="just">
              <a:buFont typeface="Wingdings" pitchFamily="2" charset="2"/>
              <a:buChar char="Ø"/>
            </a:pPr>
            <a:r>
              <a:rPr lang="en-US" sz="2400"/>
              <a:t>del</a:t>
            </a:r>
            <a:r>
              <a:rPr lang="en-US"/>
              <a:t> </a:t>
            </a:r>
            <a:r>
              <a:rPr lang="en-US" sz="2400"/>
              <a:t>setFruits </a:t>
            </a:r>
            <a:r>
              <a:rPr lang="en-US" sz="2000"/>
              <a:t>#xoá toàn bộ cả set, kết quả là biến setFruits bị xoá</a:t>
            </a:r>
            <a:endParaRPr lang="en-US" sz="2400"/>
          </a:p>
          <a:p>
            <a:pPr marL="0" indent="0" algn="just">
              <a:buNone/>
            </a:pPr>
            <a:endParaRPr lang="en-US" sz="2400">
              <a:latin typeface="Times New Roman" pitchFamily="18" charset="0"/>
              <a:cs typeface="Times New Roman" pitchFamily="18" charset="0"/>
            </a:endParaRPr>
          </a:p>
        </p:txBody>
      </p:sp>
    </p:spTree>
    <p:extLst>
      <p:ext uri="{BB962C8B-B14F-4D97-AF65-F5344CB8AC3E}">
        <p14:creationId xmlns:p14="http://schemas.microsoft.com/office/powerpoint/2010/main" val="24494030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tập hợp – truy cập các phần tử </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a:t>sử dụng vòng lặp for để truy cập các phần tử của một Set.</a:t>
            </a:r>
          </a:p>
          <a:p>
            <a:pPr lvl="1"/>
            <a:r>
              <a:rPr lang="en-US"/>
              <a:t>for x in setFruits:</a:t>
            </a:r>
          </a:p>
          <a:p>
            <a:pPr lvl="1"/>
            <a:r>
              <a:rPr lang="en-US"/>
              <a:t>    print(x)</a:t>
            </a:r>
          </a:p>
          <a:p>
            <a:pPr algn="just">
              <a:buFont typeface="Wingdings" pitchFamily="2" charset="2"/>
              <a:buChar char="Ø"/>
            </a:pPr>
            <a:r>
              <a:rPr lang="en-US"/>
              <a:t>có thể sử dụng từ khóa </a:t>
            </a:r>
            <a:r>
              <a:rPr lang="en-US" b="1"/>
              <a:t>in </a:t>
            </a:r>
            <a:r>
              <a:rPr lang="en-US"/>
              <a:t>để kiểm tra xem phần tử có tồn tại trong Set hay không</a:t>
            </a:r>
          </a:p>
          <a:p>
            <a:pPr lvl="1"/>
            <a:r>
              <a:rPr lang="en-US"/>
              <a:t>x = "apple" in setFruits</a:t>
            </a:r>
          </a:p>
          <a:p>
            <a:pPr lvl="1"/>
            <a:r>
              <a:rPr lang="en-US"/>
              <a:t>print(x)</a:t>
            </a:r>
          </a:p>
          <a:p>
            <a:pPr marL="0" indent="0" algn="just">
              <a:buNone/>
            </a:pPr>
            <a:endParaRPr lang="en-US" sz="2400">
              <a:latin typeface="Times New Roman" pitchFamily="18" charset="0"/>
              <a:cs typeface="Times New Roman" pitchFamily="18" charset="0"/>
            </a:endParaRPr>
          </a:p>
        </p:txBody>
      </p:sp>
    </p:spTree>
    <p:extLst>
      <p:ext uri="{BB962C8B-B14F-4D97-AF65-F5344CB8AC3E}">
        <p14:creationId xmlns:p14="http://schemas.microsoft.com/office/powerpoint/2010/main" val="13752213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4.2. Kiểu tập hợp – truy cập các phần tử </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Char char="Ø"/>
            </a:pPr>
            <a:r>
              <a:rPr lang="en-US"/>
              <a:t>sử dụng vòng lặp for để truy cập các phần tử của một Set.</a:t>
            </a:r>
          </a:p>
          <a:p>
            <a:pPr lvl="1"/>
            <a:r>
              <a:rPr lang="en-US"/>
              <a:t>for x in setFruits:</a:t>
            </a:r>
          </a:p>
          <a:p>
            <a:pPr lvl="1"/>
            <a:r>
              <a:rPr lang="en-US"/>
              <a:t>    print(x)</a:t>
            </a:r>
          </a:p>
          <a:p>
            <a:pPr algn="just">
              <a:buFont typeface="Wingdings" pitchFamily="2" charset="2"/>
              <a:buChar char="Ø"/>
            </a:pPr>
            <a:r>
              <a:rPr lang="en-US"/>
              <a:t>có thể sử dụng từ khóa </a:t>
            </a:r>
            <a:r>
              <a:rPr lang="en-US" b="1"/>
              <a:t>in </a:t>
            </a:r>
            <a:r>
              <a:rPr lang="en-US"/>
              <a:t>để kiểm tra xem phần tử có tồn tại trong Set hay không</a:t>
            </a:r>
          </a:p>
          <a:p>
            <a:pPr lvl="1"/>
            <a:r>
              <a:rPr lang="en-US"/>
              <a:t>x = "apple" in setFruits</a:t>
            </a:r>
          </a:p>
          <a:p>
            <a:pPr lvl="1"/>
            <a:r>
              <a:rPr lang="en-US"/>
              <a:t>print(x)</a:t>
            </a:r>
          </a:p>
          <a:p>
            <a:pPr marL="0" indent="0" algn="just">
              <a:buNone/>
            </a:pPr>
            <a:endParaRPr lang="en-US" sz="2400">
              <a:latin typeface="Times New Roman" pitchFamily="18" charset="0"/>
              <a:cs typeface="Times New Roman" pitchFamily="18" charset="0"/>
            </a:endParaRPr>
          </a:p>
        </p:txBody>
      </p:sp>
    </p:spTree>
    <p:extLst>
      <p:ext uri="{BB962C8B-B14F-4D97-AF65-F5344CB8AC3E}">
        <p14:creationId xmlns:p14="http://schemas.microsoft.com/office/powerpoint/2010/main" val="35244345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4.4. Kiểu tuple</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a:t>Nội dung:</a:t>
            </a:r>
          </a:p>
          <a:p>
            <a:pPr lvl="1">
              <a:lnSpc>
                <a:spcPct val="150000"/>
              </a:lnSpc>
            </a:pPr>
            <a:r>
              <a:rPr lang="en-US"/>
              <a:t>Giới thiệu về Tuple trong Python.</a:t>
            </a:r>
          </a:p>
          <a:p>
            <a:pPr lvl="1">
              <a:lnSpc>
                <a:spcPct val="150000"/>
              </a:lnSpc>
            </a:pPr>
            <a:r>
              <a:rPr lang="en-US"/>
              <a:t>Cách khởi tạo Tuple.</a:t>
            </a:r>
          </a:p>
          <a:p>
            <a:pPr lvl="1">
              <a:lnSpc>
                <a:spcPct val="150000"/>
              </a:lnSpc>
            </a:pPr>
            <a:r>
              <a:rPr lang="en-US"/>
              <a:t>Một số toán tử với Tuple trong Python.</a:t>
            </a:r>
          </a:p>
          <a:p>
            <a:pPr lvl="1">
              <a:lnSpc>
                <a:spcPct val="150000"/>
              </a:lnSpc>
            </a:pPr>
            <a:r>
              <a:rPr lang="en-US"/>
              <a:t>Indexing và cắt Tuple trong Python.</a:t>
            </a:r>
          </a:p>
          <a:p>
            <a:pPr marL="457200" lvl="1" indent="0">
              <a:lnSpc>
                <a:spcPct val="150000"/>
              </a:lnSpc>
              <a:buNone/>
            </a:pPr>
            <a:endParaRPr lang="en-US"/>
          </a:p>
        </p:txBody>
      </p:sp>
    </p:spTree>
    <p:extLst>
      <p:ext uri="{BB962C8B-B14F-4D97-AF65-F5344CB8AC3E}">
        <p14:creationId xmlns:p14="http://schemas.microsoft.com/office/powerpoint/2010/main" val="31180239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4.4. Kiểu tuple</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5875" lvl="1" indent="0">
              <a:lnSpc>
                <a:spcPct val="150000"/>
              </a:lnSpc>
              <a:buNone/>
            </a:pPr>
            <a:r>
              <a:rPr lang="vi-VN"/>
              <a:t>Khái niệm</a:t>
            </a:r>
          </a:p>
          <a:p>
            <a:pPr lvl="1">
              <a:lnSpc>
                <a:spcPct val="150000"/>
              </a:lnSpc>
            </a:pPr>
            <a:r>
              <a:rPr lang="vi-VN" sz="2400"/>
              <a:t>Tuple là tập hợp dữ liệu hỗn hợp có thứ tự và không thể thay đổi được.</a:t>
            </a:r>
          </a:p>
          <a:p>
            <a:pPr marL="0" indent="0">
              <a:lnSpc>
                <a:spcPct val="150000"/>
              </a:lnSpc>
              <a:buNone/>
            </a:pPr>
            <a:r>
              <a:rPr lang="vi-VN" sz="2800"/>
              <a:t>Tuple có các tính chất sau đây:</a:t>
            </a:r>
          </a:p>
          <a:p>
            <a:pPr lvl="1">
              <a:lnSpc>
                <a:spcPct val="150000"/>
              </a:lnSpc>
            </a:pPr>
            <a:r>
              <a:rPr lang="vi-VN" sz="2400"/>
              <a:t>Có thứ tự</a:t>
            </a:r>
          </a:p>
          <a:p>
            <a:pPr lvl="1">
              <a:lnSpc>
                <a:spcPct val="150000"/>
              </a:lnSpc>
            </a:pPr>
            <a:r>
              <a:rPr lang="vi-VN" sz="2400"/>
              <a:t>Không thể thay đổi được.</a:t>
            </a:r>
          </a:p>
          <a:p>
            <a:pPr lvl="1">
              <a:lnSpc>
                <a:spcPct val="150000"/>
              </a:lnSpc>
            </a:pPr>
            <a:r>
              <a:rPr lang="vi-VN" sz="2400"/>
              <a:t>Hỗn tạp.</a:t>
            </a:r>
          </a:p>
          <a:p>
            <a:pPr lvl="1">
              <a:lnSpc>
                <a:spcPct val="150000"/>
              </a:lnSpc>
            </a:pPr>
            <a:r>
              <a:rPr lang="vi-VN" sz="2400"/>
              <a:t>Cho phép sự trùng lặp trong dữ liệu.</a:t>
            </a:r>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41057611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100" b="1">
                  <a:solidFill>
                    <a:srgbClr val="FFFF00"/>
                  </a:solidFill>
                  <a:latin typeface="Cambria" panose="02040503050406030204" pitchFamily="18" charset="0"/>
                </a:rPr>
                <a:t>4.4. Kiểu tuple</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285750" y="1295400"/>
            <a:ext cx="85725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a:t>Cách khởi tạo Tuple. </a:t>
            </a:r>
          </a:p>
          <a:p>
            <a:pPr lvl="1" algn="just"/>
            <a:r>
              <a:rPr lang="vi-VN"/>
              <a:t>Được giới hạn bởi cặp ngoặc </a:t>
            </a:r>
            <a:r>
              <a:rPr lang="vi-VN" b="1"/>
              <a:t>()</a:t>
            </a:r>
            <a:r>
              <a:rPr lang="vi-VN"/>
              <a:t>, tất cả những gì nằm trong đó là những phần tử của Tuple.</a:t>
            </a:r>
          </a:p>
          <a:p>
            <a:pPr lvl="1" algn="just"/>
            <a:r>
              <a:rPr lang="vi-VN"/>
              <a:t>Các phần tử của Tuple được phân cách nhau ra bởi dấu phẩy (</a:t>
            </a:r>
            <a:r>
              <a:rPr lang="vi-VN" b="1"/>
              <a:t>,</a:t>
            </a:r>
            <a:r>
              <a:rPr lang="vi-VN"/>
              <a:t>).</a:t>
            </a:r>
          </a:p>
          <a:p>
            <a:pPr lvl="1" algn="just"/>
            <a:r>
              <a:rPr lang="vi-VN"/>
              <a:t>Tuple có khả năng chứa mọi giá trị, đối tượng trong Python.</a:t>
            </a:r>
          </a:p>
          <a:p>
            <a:pPr lvl="1" algn="just"/>
            <a:r>
              <a:rPr lang="en-US" b="1"/>
              <a:t>(&lt;giá trị thứ nhất&gt;, &lt;giá trị thứ hai&gt;, .., &lt;giá trị thứ n – 1&gt;, &lt;giá trị thứ n&gt;)</a:t>
            </a:r>
            <a:endParaRPr lang="vi-VN"/>
          </a:p>
        </p:txBody>
      </p:sp>
    </p:spTree>
    <p:extLst>
      <p:ext uri="{BB962C8B-B14F-4D97-AF65-F5344CB8AC3E}">
        <p14:creationId xmlns:p14="http://schemas.microsoft.com/office/powerpoint/2010/main" val="37255175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 y="381000"/>
            <a:ext cx="5711371" cy="381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r>
                <a:rPr lang="en-US" sz="2100" b="1">
                  <a:solidFill>
                    <a:srgbClr val="FFFF00"/>
                  </a:solidFill>
                  <a:latin typeface="Cambria" panose="02040503050406030204" pitchFamily="18" charset="0"/>
                </a:rPr>
                <a:t>4.4. Kiểu tuple</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sz="1800" b="1" kern="0">
                  <a:solidFill>
                    <a:srgbClr val="000000"/>
                  </a:solidFill>
                  <a:latin typeface="Arial" panose="020B0604020202020204" pitchFamily="34" charset="0"/>
                </a:endParaRPr>
              </a:p>
            </p:txBody>
          </p:sp>
        </p:grpSp>
      </p:grpSp>
      <p:sp>
        <p:nvSpPr>
          <p:cNvPr id="14" name="Content Placeholder 2"/>
          <p:cNvSpPr txBox="1">
            <a:spLocks/>
          </p:cNvSpPr>
          <p:nvPr/>
        </p:nvSpPr>
        <p:spPr>
          <a:xfrm>
            <a:off x="0" y="1295400"/>
            <a:ext cx="9144000" cy="5181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ct val="150000"/>
              </a:lnSpc>
            </a:pPr>
            <a:r>
              <a:rPr lang="en-US" b="1"/>
              <a:t>(&lt;giá trị thứ nhất&gt;, &lt;giá trị thứ hai&gt;, .., &lt;giá trị thứ n – 1&gt;, &lt;giá trị thứ n&gt;)</a:t>
            </a:r>
            <a:endParaRPr lang="vi-VN" b="1"/>
          </a:p>
          <a:p>
            <a:pPr lvl="1">
              <a:lnSpc>
                <a:spcPct val="150000"/>
              </a:lnSpc>
            </a:pPr>
            <a:r>
              <a:rPr lang="vi-VN"/>
              <a:t>number_tuple = (11, 22, 21.25)</a:t>
            </a:r>
          </a:p>
          <a:p>
            <a:pPr lvl="1">
              <a:lnSpc>
                <a:spcPct val="150000"/>
              </a:lnSpc>
            </a:pPr>
            <a:r>
              <a:rPr lang="vi-VN"/>
              <a:t>string_tuple = ('Học', 'Python', ‘VMU')</a:t>
            </a:r>
          </a:p>
          <a:p>
            <a:pPr lvl="1">
              <a:lnSpc>
                <a:spcPct val="150000"/>
              </a:lnSpc>
            </a:pPr>
            <a:r>
              <a:rPr lang="vi-VN"/>
              <a:t>sample_tuple = ('Python', 10, 23.15, [15, 18])</a:t>
            </a:r>
          </a:p>
          <a:p>
            <a:pPr lvl="1">
              <a:lnSpc>
                <a:spcPct val="150000"/>
              </a:lnSpc>
            </a:pPr>
            <a:r>
              <a:rPr lang="vi-VN"/>
              <a:t># Tạo tuple sử dụng phương thức tuple() sample_tuple = tuple(('Python', 10, 23.15, [15, 18])) </a:t>
            </a:r>
          </a:p>
        </p:txBody>
      </p:sp>
    </p:spTree>
    <p:extLst>
      <p:ext uri="{BB962C8B-B14F-4D97-AF65-F5344CB8AC3E}">
        <p14:creationId xmlns:p14="http://schemas.microsoft.com/office/powerpoint/2010/main" val="1982546753"/>
      </p:ext>
    </p:extLst>
  </p:cSld>
  <p:clrMapOvr>
    <a:masterClrMapping/>
  </p:clrMapOvr>
</p:sld>
</file>

<file path=ppt/theme/theme1.xml><?xml version="1.0" encoding="utf-8"?>
<a:theme xmlns:a="http://schemas.openxmlformats.org/drawingml/2006/main" name="170Gp_natural_light">
  <a:themeElements>
    <a:clrScheme name="170Gp_natural_light 1">
      <a:dk1>
        <a:srgbClr val="000000"/>
      </a:dk1>
      <a:lt1>
        <a:srgbClr val="FFFFFF"/>
      </a:lt1>
      <a:dk2>
        <a:srgbClr val="000066"/>
      </a:dk2>
      <a:lt2>
        <a:srgbClr val="C0C0C0"/>
      </a:lt2>
      <a:accent1>
        <a:srgbClr val="65D135"/>
      </a:accent1>
      <a:accent2>
        <a:srgbClr val="ECCE4C"/>
      </a:accent2>
      <a:accent3>
        <a:srgbClr val="FFFFFF"/>
      </a:accent3>
      <a:accent4>
        <a:srgbClr val="000000"/>
      </a:accent4>
      <a:accent5>
        <a:srgbClr val="B8E5AE"/>
      </a:accent5>
      <a:accent6>
        <a:srgbClr val="D6BA44"/>
      </a:accent6>
      <a:hlink>
        <a:srgbClr val="AE0404"/>
      </a:hlink>
      <a:folHlink>
        <a:srgbClr val="0066CC"/>
      </a:folHlink>
    </a:clrScheme>
    <a:fontScheme name="170Gp_natural_light">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70Gp_natural_light 1">
        <a:dk1>
          <a:srgbClr val="000000"/>
        </a:dk1>
        <a:lt1>
          <a:srgbClr val="FFFFFF"/>
        </a:lt1>
        <a:dk2>
          <a:srgbClr val="000066"/>
        </a:dk2>
        <a:lt2>
          <a:srgbClr val="C0C0C0"/>
        </a:lt2>
        <a:accent1>
          <a:srgbClr val="65D135"/>
        </a:accent1>
        <a:accent2>
          <a:srgbClr val="ECCE4C"/>
        </a:accent2>
        <a:accent3>
          <a:srgbClr val="FFFFFF"/>
        </a:accent3>
        <a:accent4>
          <a:srgbClr val="000000"/>
        </a:accent4>
        <a:accent5>
          <a:srgbClr val="B8E5AE"/>
        </a:accent5>
        <a:accent6>
          <a:srgbClr val="D6BA44"/>
        </a:accent6>
        <a:hlink>
          <a:srgbClr val="AE0404"/>
        </a:hlink>
        <a:folHlink>
          <a:srgbClr val="0066CC"/>
        </a:folHlink>
      </a:clrScheme>
      <a:clrMap bg1="lt1" tx1="dk1" bg2="lt2" tx2="dk2" accent1="accent1" accent2="accent2" accent3="accent3" accent4="accent4" accent5="accent5" accent6="accent6" hlink="hlink" folHlink="folHlink"/>
    </a:extraClrScheme>
    <a:extraClrScheme>
      <a:clrScheme name="170Gp_natural_light 2">
        <a:dk1>
          <a:srgbClr val="000000"/>
        </a:dk1>
        <a:lt1>
          <a:srgbClr val="FFFFFF"/>
        </a:lt1>
        <a:dk2>
          <a:srgbClr val="17407D"/>
        </a:dk2>
        <a:lt2>
          <a:srgbClr val="DDDDDD"/>
        </a:lt2>
        <a:accent1>
          <a:srgbClr val="5DC5B9"/>
        </a:accent1>
        <a:accent2>
          <a:srgbClr val="99CCFF"/>
        </a:accent2>
        <a:accent3>
          <a:srgbClr val="FFFFFF"/>
        </a:accent3>
        <a:accent4>
          <a:srgbClr val="000000"/>
        </a:accent4>
        <a:accent5>
          <a:srgbClr val="B6DFD9"/>
        </a:accent5>
        <a:accent6>
          <a:srgbClr val="8AB9E7"/>
        </a:accent6>
        <a:hlink>
          <a:srgbClr val="5D99DB"/>
        </a:hlink>
        <a:folHlink>
          <a:srgbClr val="F1CA69"/>
        </a:folHlink>
      </a:clrScheme>
      <a:clrMap bg1="lt1" tx1="dk1" bg2="lt2" tx2="dk2" accent1="accent1" accent2="accent2" accent3="accent3" accent4="accent4" accent5="accent5" accent6="accent6" hlink="hlink" folHlink="folHlink"/>
    </a:extraClrScheme>
    <a:extraClrScheme>
      <a:clrScheme name="170Gp_natural_light 3">
        <a:dk1>
          <a:srgbClr val="000000"/>
        </a:dk1>
        <a:lt1>
          <a:srgbClr val="FFFFFF"/>
        </a:lt1>
        <a:dk2>
          <a:srgbClr val="511550"/>
        </a:dk2>
        <a:lt2>
          <a:srgbClr val="DDDDDD"/>
        </a:lt2>
        <a:accent1>
          <a:srgbClr val="8B8DE1"/>
        </a:accent1>
        <a:accent2>
          <a:srgbClr val="CABDF5"/>
        </a:accent2>
        <a:accent3>
          <a:srgbClr val="FFFFFF"/>
        </a:accent3>
        <a:accent4>
          <a:srgbClr val="000000"/>
        </a:accent4>
        <a:accent5>
          <a:srgbClr val="C4C5EE"/>
        </a:accent5>
        <a:accent6>
          <a:srgbClr val="B7ABDE"/>
        </a:accent6>
        <a:hlink>
          <a:srgbClr val="58AFD2"/>
        </a:hlink>
        <a:folHlink>
          <a:srgbClr val="BFDF6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46052</TotalTime>
  <Words>7248</Words>
  <Application>Microsoft Office PowerPoint</Application>
  <PresentationFormat>On-screen Show (4:3)</PresentationFormat>
  <Paragraphs>759</Paragraphs>
  <Slides>62</Slides>
  <Notes>52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3" baseType="lpstr">
      <vt:lpstr>Arial</vt:lpstr>
      <vt:lpstr>Cambria</vt:lpstr>
      <vt:lpstr>Consolas</vt:lpstr>
      <vt:lpstr>Courier New</vt:lpstr>
      <vt:lpstr>Monaco</vt:lpstr>
      <vt:lpstr>Söhne</vt:lpstr>
      <vt:lpstr>Tahoma</vt:lpstr>
      <vt:lpstr>Times New Roman</vt:lpstr>
      <vt:lpstr>Wingdings</vt:lpstr>
      <vt:lpstr>170Gp_natural_light</vt:lpstr>
      <vt:lpstr>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Programming Concepts</dc:title>
  <dc:creator>radha</dc:creator>
  <cp:lastModifiedBy>Mai Trang</cp:lastModifiedBy>
  <cp:revision>541</cp:revision>
  <cp:lastPrinted>1601-01-01T00:00:00Z</cp:lastPrinted>
  <dcterms:created xsi:type="dcterms:W3CDTF">2001-02-20T09:46:25Z</dcterms:created>
  <dcterms:modified xsi:type="dcterms:W3CDTF">2025-12-04T01:26:17Z</dcterms:modified>
</cp:coreProperties>
</file>