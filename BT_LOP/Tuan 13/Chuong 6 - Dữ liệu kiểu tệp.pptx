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20" r:id="rId1"/>
  </p:sldMasterIdLst>
  <p:notesMasterIdLst>
    <p:notesMasterId r:id="rId8"/>
  </p:notesMasterIdLst>
  <p:handoutMasterIdLst>
    <p:handoutMasterId r:id="rId9"/>
  </p:handoutMasterIdLst>
  <p:sldIdLst>
    <p:sldId id="258" r:id="rId2"/>
    <p:sldId id="346" r:id="rId3"/>
    <p:sldId id="347" r:id="rId4"/>
    <p:sldId id="348" r:id="rId5"/>
    <p:sldId id="349" r:id="rId6"/>
    <p:sldId id="350" r:id="rId7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885" autoAdjust="0"/>
    <p:restoredTop sz="72889" autoAdjust="0"/>
  </p:normalViewPr>
  <p:slideViewPr>
    <p:cSldViewPr>
      <p:cViewPr varScale="1">
        <p:scale>
          <a:sx n="51" d="100"/>
          <a:sy n="51" d="100"/>
        </p:scale>
        <p:origin x="2304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42"/>
    </p:cViewPr>
  </p:sorterViewPr>
  <p:notesViewPr>
    <p:cSldViewPr>
      <p:cViewPr varScale="1">
        <p:scale>
          <a:sx n="45" d="100"/>
          <a:sy n="45" d="100"/>
        </p:scale>
        <p:origin x="-1386" y="-11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2">
            <a:extLst>
              <a:ext uri="{FF2B5EF4-FFF2-40B4-BE49-F238E27FC236}">
                <a16:creationId xmlns:a16="http://schemas.microsoft.com/office/drawing/2014/main" id="{50FDBEAE-44DE-4A00-ACE8-B7CD1C1DF65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0227" name="Rectangle 3">
            <a:extLst>
              <a:ext uri="{FF2B5EF4-FFF2-40B4-BE49-F238E27FC236}">
                <a16:creationId xmlns:a16="http://schemas.microsoft.com/office/drawing/2014/main" id="{DE89D31A-E28F-4CBD-9A34-F422A3082AB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0228" name="Rectangle 4">
            <a:extLst>
              <a:ext uri="{FF2B5EF4-FFF2-40B4-BE49-F238E27FC236}">
                <a16:creationId xmlns:a16="http://schemas.microsoft.com/office/drawing/2014/main" id="{7C781173-42EB-4629-8A66-CE751A29FFBE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0229" name="Rectangle 5">
            <a:extLst>
              <a:ext uri="{FF2B5EF4-FFF2-40B4-BE49-F238E27FC236}">
                <a16:creationId xmlns:a16="http://schemas.microsoft.com/office/drawing/2014/main" id="{F865A14B-72B7-43DE-B984-5B0F3D3BB3A8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fld id="{ACA5F5B9-3AA9-D140-930A-C115E07943F9}" type="slidenum">
              <a:rPr lang="en-US" altLang="en-VN"/>
              <a:pPr/>
              <a:t>‹#›</a:t>
            </a:fld>
            <a:endParaRPr lang="en-US" altLang="en-V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>
            <a:extLst>
              <a:ext uri="{FF2B5EF4-FFF2-40B4-BE49-F238E27FC236}">
                <a16:creationId xmlns:a16="http://schemas.microsoft.com/office/drawing/2014/main" id="{D29F10EB-7358-40F7-B7F7-53F7FD93E01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1075" name="Rectangle 3">
            <a:extLst>
              <a:ext uri="{FF2B5EF4-FFF2-40B4-BE49-F238E27FC236}">
                <a16:creationId xmlns:a16="http://schemas.microsoft.com/office/drawing/2014/main" id="{7DFD3FAF-0FF3-43A3-8CC6-878557698B1D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1748" name="Rectangle 4">
            <a:extLst>
              <a:ext uri="{FF2B5EF4-FFF2-40B4-BE49-F238E27FC236}">
                <a16:creationId xmlns:a16="http://schemas.microsoft.com/office/drawing/2014/main" id="{F720AB43-E98A-9A4D-B911-32568708BE8F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31077" name="Rectangle 5">
            <a:extLst>
              <a:ext uri="{FF2B5EF4-FFF2-40B4-BE49-F238E27FC236}">
                <a16:creationId xmlns:a16="http://schemas.microsoft.com/office/drawing/2014/main" id="{E809439F-4716-4E8F-B222-02A4E15E548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1078" name="Rectangle 6">
            <a:extLst>
              <a:ext uri="{FF2B5EF4-FFF2-40B4-BE49-F238E27FC236}">
                <a16:creationId xmlns:a16="http://schemas.microsoft.com/office/drawing/2014/main" id="{33AD13C1-9DB3-4439-ADB9-7A3C1BF47D8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1079" name="Rectangle 7">
            <a:extLst>
              <a:ext uri="{FF2B5EF4-FFF2-40B4-BE49-F238E27FC236}">
                <a16:creationId xmlns:a16="http://schemas.microsoft.com/office/drawing/2014/main" id="{815AC159-E7A7-4710-B727-2B18D70F053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ahoma" panose="020B0604030504040204" pitchFamily="34" charset="0"/>
              </a:defRPr>
            </a:lvl1pPr>
          </a:lstStyle>
          <a:p>
            <a:fld id="{C21AAE7B-BD7A-9B49-980F-9E80DA190BA0}" type="slidenum">
              <a:rPr lang="en-US" altLang="en-VN"/>
              <a:pPr/>
              <a:t>‹#›</a:t>
            </a:fld>
            <a:endParaRPr lang="en-US" altLang="en-V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sz="1800" b="0" i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Hệ điều hành không cho các chương trình</a:t>
            </a:r>
            <a:br>
              <a:rPr lang="vi-VN" sz="1800" b="0" i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</a:br>
            <a:r>
              <a:rPr lang="vi-VN" sz="1800" b="0" i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làm trực tiếp với tệp dữ liệu mà thông qua biến tệp. Điều này giúp cho</a:t>
            </a:r>
            <a:br>
              <a:rPr lang="vi-VN" sz="1800" b="0" i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</a:br>
            <a:r>
              <a:rPr lang="vi-VN" sz="1800" b="0" i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an toàn về dữ liệu trong tệp.</a:t>
            </a:r>
            <a:r>
              <a:rPr lang="vi-VN"/>
              <a:t> </a:t>
            </a:r>
            <a:endParaRPr lang="en-US"/>
          </a:p>
          <a:p>
            <a:r>
              <a:rPr lang="en-US" b="1"/>
              <a:t>Nếu gõ tiếng việt:  </a:t>
            </a:r>
            <a:r>
              <a:rPr lang="en-US"/>
              <a:t>trong chế độ mã hóa mặc định của hệ thống </a:t>
            </a:r>
            <a:r>
              <a:rPr lang="en-US" b="1"/>
              <a:t>cp1252</a:t>
            </a:r>
            <a:r>
              <a:rPr lang="en-US"/>
              <a:t> (mã hóa của Windows) sẽ báo lỗi</a:t>
            </a:r>
          </a:p>
          <a:p>
            <a:r>
              <a:rPr lang="en-US" b="1"/>
              <a:t>Giải pháp: </a:t>
            </a:r>
            <a:r>
              <a:rPr lang="en-US"/>
              <a:t>Để xử lý lỗi này, bạn cần chỉ định </a:t>
            </a:r>
            <a:r>
              <a:rPr lang="en-US" b="1"/>
              <a:t>mã hóa UTF-8</a:t>
            </a:r>
            <a:r>
              <a:rPr lang="en-US"/>
              <a:t> khi mở tệp để Python có thể ghi đúng các ký tự Unicode (bao gồm tiếng Việt).</a:t>
            </a:r>
          </a:p>
          <a:p>
            <a:r>
              <a:rPr lang="en-US"/>
              <a:t>Write: Một chuỗi văn bản (string)</a:t>
            </a:r>
          </a:p>
          <a:p>
            <a:r>
              <a:rPr lang="en-US"/>
              <a:t>Writeline: ghi nhiều dòng, dành cho </a:t>
            </a:r>
            <a:r>
              <a:rPr lang="vi-VN"/>
              <a:t>Một iterable (như danh sách) chứa các chuỗi</a:t>
            </a:r>
            <a:endParaRPr lang="en-US"/>
          </a:p>
          <a:p>
            <a:br>
              <a:rPr lang="vi-VN"/>
            </a:b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1AAE7B-BD7A-9B49-980F-9E80DA190BA0}" type="slidenum">
              <a:rPr lang="en-US" altLang="en-VN" smtClean="0"/>
              <a:pPr/>
              <a:t>2</a:t>
            </a:fld>
            <a:endParaRPr lang="en-US" altLang="en-VN"/>
          </a:p>
        </p:txBody>
      </p:sp>
    </p:spTree>
    <p:extLst>
      <p:ext uri="{BB962C8B-B14F-4D97-AF65-F5344CB8AC3E}">
        <p14:creationId xmlns:p14="http://schemas.microsoft.com/office/powerpoint/2010/main" val="31926071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sz="1800" b="0" i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Hệ điều hành không cho các chương trình</a:t>
            </a:r>
            <a:br>
              <a:rPr lang="vi-VN" sz="1800" b="0" i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</a:br>
            <a:r>
              <a:rPr lang="vi-VN" sz="1800" b="0" i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làm trực tiếp với tệp dữ liệu mà thông qua biến tệp. Điều này giúp cho</a:t>
            </a:r>
            <a:br>
              <a:rPr lang="vi-VN" sz="1800" b="0" i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</a:br>
            <a:r>
              <a:rPr lang="vi-VN" sz="1800" b="0" i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an toàn về dữ liệu trong tệp.</a:t>
            </a:r>
            <a:r>
              <a:rPr lang="vi-VN"/>
              <a:t> </a:t>
            </a:r>
            <a:endParaRPr lang="en-US"/>
          </a:p>
          <a:p>
            <a:r>
              <a:rPr lang="en-US" b="1"/>
              <a:t>Nếu gõ tiếng việt:  </a:t>
            </a:r>
            <a:r>
              <a:rPr lang="en-US"/>
              <a:t>trong chế độ mã hóa mặc định của hệ thống </a:t>
            </a:r>
            <a:r>
              <a:rPr lang="en-US" b="1"/>
              <a:t>cp1252</a:t>
            </a:r>
            <a:r>
              <a:rPr lang="en-US"/>
              <a:t> (mã hóa của Windows) sẽ báo lỗi</a:t>
            </a:r>
          </a:p>
          <a:p>
            <a:r>
              <a:rPr lang="en-US" b="1"/>
              <a:t>Giải pháp:</a:t>
            </a:r>
          </a:p>
          <a:p>
            <a:r>
              <a:rPr lang="en-US"/>
              <a:t>Để xử lý lỗi này, bạn cần chỉ định </a:t>
            </a:r>
            <a:r>
              <a:rPr lang="en-US" b="1"/>
              <a:t>mã hóa UTF-8</a:t>
            </a:r>
            <a:r>
              <a:rPr lang="en-US"/>
              <a:t> khi mở tệp để Python có thể ghi đúng các ký tự Unicode (bao gồm tiếng Việt).</a:t>
            </a:r>
          </a:p>
          <a:p>
            <a:br>
              <a:rPr lang="vi-VN"/>
            </a:b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1AAE7B-BD7A-9B49-980F-9E80DA190BA0}" type="slidenum">
              <a:rPr lang="en-US" altLang="en-VN" smtClean="0"/>
              <a:pPr/>
              <a:t>3</a:t>
            </a:fld>
            <a:endParaRPr lang="en-US" altLang="en-VN"/>
          </a:p>
        </p:txBody>
      </p:sp>
    </p:spTree>
    <p:extLst>
      <p:ext uri="{BB962C8B-B14F-4D97-AF65-F5344CB8AC3E}">
        <p14:creationId xmlns:p14="http://schemas.microsoft.com/office/powerpoint/2010/main" val="8724192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sz="1800" b="0" i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Hệ điều hành không cho các chương trình</a:t>
            </a:r>
            <a:br>
              <a:rPr lang="vi-VN" sz="1800" b="0" i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</a:br>
            <a:r>
              <a:rPr lang="vi-VN" sz="1800" b="0" i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làm trực tiếp với tệp dữ liệu mà thông qua biến tệp. Điều này giúp cho</a:t>
            </a:r>
            <a:br>
              <a:rPr lang="vi-VN" sz="1800" b="0" i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</a:br>
            <a:r>
              <a:rPr lang="vi-VN" sz="1800" b="0" i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an toàn về dữ liệu trong tệp.</a:t>
            </a:r>
            <a:r>
              <a:rPr lang="vi-VN"/>
              <a:t> </a:t>
            </a:r>
            <a:endParaRPr lang="en-US"/>
          </a:p>
          <a:p>
            <a:r>
              <a:rPr lang="en-US" b="1"/>
              <a:t>Nếu gõ tiếng việt:  </a:t>
            </a:r>
            <a:r>
              <a:rPr lang="en-US"/>
              <a:t>trong chế độ mã hóa mặc định của hệ thống </a:t>
            </a:r>
            <a:r>
              <a:rPr lang="en-US" b="1"/>
              <a:t>cp1252</a:t>
            </a:r>
            <a:r>
              <a:rPr lang="en-US"/>
              <a:t> (mã hóa của Windows) sẽ báo lỗi</a:t>
            </a:r>
          </a:p>
          <a:p>
            <a:r>
              <a:rPr lang="en-US" b="1"/>
              <a:t>Giải pháp:</a:t>
            </a:r>
          </a:p>
          <a:p>
            <a:r>
              <a:rPr lang="en-US"/>
              <a:t>Để xử lý lỗi này, bạn cần chỉ định </a:t>
            </a:r>
            <a:r>
              <a:rPr lang="en-US" b="1"/>
              <a:t>mã hóa UTF-8</a:t>
            </a:r>
            <a:r>
              <a:rPr lang="en-US"/>
              <a:t> khi mở tệp để Python có thể ghi đúng các ký tự Unicode (bao gồm tiếng Việt).</a:t>
            </a:r>
          </a:p>
          <a:p>
            <a:br>
              <a:rPr lang="vi-VN"/>
            </a:b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1AAE7B-BD7A-9B49-980F-9E80DA190BA0}" type="slidenum">
              <a:rPr lang="en-US" altLang="en-VN" smtClean="0"/>
              <a:pPr/>
              <a:t>4</a:t>
            </a:fld>
            <a:endParaRPr lang="en-US" altLang="en-VN"/>
          </a:p>
        </p:txBody>
      </p:sp>
    </p:spTree>
    <p:extLst>
      <p:ext uri="{BB962C8B-B14F-4D97-AF65-F5344CB8AC3E}">
        <p14:creationId xmlns:p14="http://schemas.microsoft.com/office/powerpoint/2010/main" val="16708956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 bwMode="gray"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3">
            <a:extLst>
              <a:ext uri="{FF2B5EF4-FFF2-40B4-BE49-F238E27FC236}">
                <a16:creationId xmlns:a16="http://schemas.microsoft.com/office/drawing/2014/main" id="{5DE2E64A-5777-9046-865A-3E67310504E0}"/>
              </a:ext>
            </a:extLst>
          </p:cNvPr>
          <p:cNvSpPr>
            <a:spLocks noChangeArrowheads="1"/>
          </p:cNvSpPr>
          <p:nvPr/>
        </p:nvSpPr>
        <p:spPr bwMode="gray">
          <a:xfrm flipV="1">
            <a:off x="0" y="3003550"/>
            <a:ext cx="9144000" cy="777875"/>
          </a:xfrm>
          <a:prstGeom prst="rect">
            <a:avLst/>
          </a:prstGeom>
          <a:gradFill rotWithShape="1">
            <a:gsLst>
              <a:gs pos="0">
                <a:schemeClr val="accent2">
                  <a:gamma/>
                  <a:tint val="0"/>
                  <a:invGamma/>
                </a:schemeClr>
              </a:gs>
              <a:gs pos="100000">
                <a:schemeClr val="accent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135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6843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7D4D78-F675-F29C-0AC5-A4419173EC4A}"/>
              </a:ext>
            </a:extLst>
          </p:cNvPr>
          <p:cNvSpPr txBox="1"/>
          <p:nvPr userDrawn="1"/>
        </p:nvSpPr>
        <p:spPr>
          <a:xfrm>
            <a:off x="6150873" y="6550223"/>
            <a:ext cx="29931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vi-VN" altLang="en-VN" sz="1400"/>
              <a:t>Lập trình cơ bản Python/</a:t>
            </a:r>
            <a:r>
              <a:rPr lang="vi-VN" altLang="en-VN" sz="1400" err="1"/>
              <a:t>Chương 4</a:t>
            </a:r>
            <a:r>
              <a:rPr lang="en-US" altLang="en-VN" sz="1400"/>
              <a:t>/ </a:t>
            </a:r>
            <a:fld id="{F6A94F50-5340-8F41-9F0B-278FB63B8536}" type="slidenum">
              <a:rPr lang="en-US" altLang="en-VN" sz="1400"/>
              <a:t>‹#›</a:t>
            </a:fld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1758115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8458200" cy="533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219200"/>
            <a:ext cx="8229600" cy="5105400"/>
          </a:xfrm>
        </p:spPr>
        <p:txBody>
          <a:bodyPr/>
          <a:lstStyle/>
          <a:p>
            <a:pPr lvl="0"/>
            <a:r>
              <a:rPr lang="en-US" noProof="0"/>
              <a:t>Click icon to add table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5C265ED-49A8-6549-B613-448E381685C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400800"/>
            <a:ext cx="2133600" cy="3206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020A702-2B0B-7147-92A1-54ACB292CE2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400800"/>
            <a:ext cx="2895600" cy="3206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D17075-37D8-D487-44F4-607C0D146D45}"/>
              </a:ext>
            </a:extLst>
          </p:cNvPr>
          <p:cNvSpPr txBox="1"/>
          <p:nvPr userDrawn="1"/>
        </p:nvSpPr>
        <p:spPr>
          <a:xfrm>
            <a:off x="6150873" y="6550223"/>
            <a:ext cx="29931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vi-VN" altLang="en-VN" sz="1400"/>
              <a:t>Lập trình cơ bản Python/</a:t>
            </a:r>
            <a:r>
              <a:rPr lang="vi-VN" altLang="en-VN" sz="1400" err="1"/>
              <a:t>Chương 4</a:t>
            </a:r>
            <a:r>
              <a:rPr lang="en-US" altLang="en-VN" sz="1400"/>
              <a:t>/ </a:t>
            </a:r>
            <a:fld id="{F6A94F50-5340-8F41-9F0B-278FB63B8536}" type="slidenum">
              <a:rPr lang="en-US" altLang="en-VN" sz="1400"/>
              <a:t>‹#›</a:t>
            </a:fld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1063563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6150873" y="6550223"/>
            <a:ext cx="29931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vi-VN" altLang="en-VN" sz="1400"/>
              <a:t>Lập trình cơ bản Python/</a:t>
            </a:r>
            <a:r>
              <a:rPr lang="en-US" altLang="en-VN" sz="1400" err="1"/>
              <a:t>Chương</a:t>
            </a:r>
            <a:r>
              <a:rPr lang="en-US" altLang="en-VN" sz="1400"/>
              <a:t> 4/ </a:t>
            </a:r>
            <a:fld id="{F6A94F50-5340-8F41-9F0B-278FB63B8536}" type="slidenum">
              <a:rPr lang="en-US" altLang="en-VN" sz="1400"/>
              <a:t>‹#›</a:t>
            </a:fld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4162382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.bin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50" name="Object 44">
            <a:extLst>
              <a:ext uri="{FF2B5EF4-FFF2-40B4-BE49-F238E27FC236}">
                <a16:creationId xmlns:a16="http://schemas.microsoft.com/office/drawing/2014/main" id="{04889410-A453-8748-BA70-DAFDE695150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91440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6" imgW="4349750" imgH="552450" progId="Photoshop.Image.6">
                  <p:embed/>
                </p:oleObj>
              </mc:Choice>
              <mc:Fallback>
                <p:oleObj name="Image" r:id="rId6" imgW="4349750" imgH="552450" progId="Photoshop.Image.6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69" name="Rectangle 45">
            <a:extLst>
              <a:ext uri="{FF2B5EF4-FFF2-40B4-BE49-F238E27FC236}">
                <a16:creationId xmlns:a16="http://schemas.microsoft.com/office/drawing/2014/main" id="{3FDD4CD5-4AE9-3A43-8232-22BDAFBECED4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990600"/>
            <a:ext cx="9144000" cy="120650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50000">
                <a:schemeClr val="accent2">
                  <a:gamma/>
                  <a:tint val="48627"/>
                  <a:invGamma/>
                </a:schemeClr>
              </a:gs>
              <a:gs pos="100000">
                <a:schemeClr val="accent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1350">
              <a:solidFill>
                <a:srgbClr val="000000"/>
              </a:solidFill>
            </a:endParaRP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5AEEFB2-D350-A945-9C3D-3091701AC0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19200"/>
            <a:ext cx="8229600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74FD047B-1A7F-CD49-B3E0-B93AF286DF6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324600" y="6400800"/>
            <a:ext cx="23622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rgbClr val="000000"/>
                </a:solidFill>
              </a:defRPr>
            </a:lvl1pPr>
          </a:lstStyle>
          <a:p>
            <a:r>
              <a:rPr lang="vi-VN" altLang="en-VN"/>
              <a:t>Lập trình cơ bản Python/</a:t>
            </a:r>
            <a:r>
              <a:rPr lang="vi-VN" altLang="en-VN" err="1"/>
              <a:t>Chương 4</a:t>
            </a:r>
            <a:r>
              <a:rPr lang="en-US" altLang="en-VN"/>
              <a:t>/ </a:t>
            </a:r>
            <a:fld id="{B05EE22A-D66F-6B46-9486-713D260165E6}" type="slidenum">
              <a:rPr lang="en-US" altLang="en-VN"/>
              <a:pPr/>
              <a:t>‹#›</a:t>
            </a:fld>
            <a:endParaRPr lang="en-US" altLang="en-VN"/>
          </a:p>
          <a:p>
            <a:endParaRPr lang="en-US" altLang="en-VN"/>
          </a:p>
        </p:txBody>
      </p:sp>
      <p:sp>
        <p:nvSpPr>
          <p:cNvPr id="2056" name="Rectangle 2">
            <a:extLst>
              <a:ext uri="{FF2B5EF4-FFF2-40B4-BE49-F238E27FC236}">
                <a16:creationId xmlns:a16="http://schemas.microsoft.com/office/drawing/2014/main" id="{9601932A-0426-7548-A1DD-2085FF88A0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white">
          <a:xfrm>
            <a:off x="381000" y="304800"/>
            <a:ext cx="8458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45791" dir="2021404" algn="ctr" rotWithShape="0">
                    <a:schemeClr val="tx1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VN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9" r:id="rId1"/>
    <p:sldLayoutId id="2147483885" r:id="rId2"/>
    <p:sldLayoutId id="2147483895" r:id="rId3"/>
    <p:sldLayoutId id="2147483920" r:id="rId4"/>
  </p:sldLayoutIdLst>
  <p:txStyles>
    <p:titleStyle>
      <a:lvl1pPr algn="ctr" rtl="0" fontAlgn="base">
        <a:spcBef>
          <a:spcPct val="0"/>
        </a:spcBef>
        <a:spcAft>
          <a:spcPct val="0"/>
        </a:spcAft>
        <a:defRPr sz="3000" b="1" kern="1200">
          <a:solidFill>
            <a:schemeClr val="bg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3000" b="1">
          <a:solidFill>
            <a:schemeClr val="bg1"/>
          </a:solidFill>
          <a:latin typeface="Times New Roman" panose="02020603050405020304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3000" b="1">
          <a:solidFill>
            <a:schemeClr val="bg1"/>
          </a:solidFill>
          <a:latin typeface="Times New Roman" panose="02020603050405020304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3000" b="1">
          <a:solidFill>
            <a:schemeClr val="bg1"/>
          </a:solidFill>
          <a:latin typeface="Times New Roman" panose="02020603050405020304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3000" b="1">
          <a:solidFill>
            <a:schemeClr val="bg1"/>
          </a:solidFill>
          <a:latin typeface="Times New Roman" panose="02020603050405020304" pitchFamily="18" charset="0"/>
        </a:defRPr>
      </a:lvl5pPr>
      <a:lvl6pPr marL="3429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bg1"/>
          </a:solidFill>
          <a:latin typeface="Times New Roman" panose="02020603050405020304" pitchFamily="18" charset="0"/>
        </a:defRPr>
      </a:lvl6pPr>
      <a:lvl7pPr marL="6858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bg1"/>
          </a:solidFill>
          <a:latin typeface="Times New Roman" panose="02020603050405020304" pitchFamily="18" charset="0"/>
        </a:defRPr>
      </a:lvl7pPr>
      <a:lvl8pPr marL="10287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bg1"/>
          </a:solidFill>
          <a:latin typeface="Times New Roman" panose="02020603050405020304" pitchFamily="18" charset="0"/>
        </a:defRPr>
      </a:lvl8pPr>
      <a:lvl9pPr marL="13716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bg1"/>
          </a:solidFill>
          <a:latin typeface="Times New Roman" panose="02020603050405020304" pitchFamily="18" charset="0"/>
        </a:defRPr>
      </a:lvl9pPr>
    </p:titleStyle>
    <p:bodyStyle>
      <a:lvl1pPr marL="257175" indent="-257175" algn="l" rtl="0" fontAlgn="base">
        <a:spcBef>
          <a:spcPct val="20000"/>
        </a:spcBef>
        <a:spcAft>
          <a:spcPct val="0"/>
        </a:spcAft>
        <a:buClr>
          <a:schemeClr val="tx2"/>
        </a:buClr>
        <a:buFont typeface="Wingdings" pitchFamily="2" charset="2"/>
        <a:buChar char="v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rtl="0" fontAlgn="base">
        <a:spcBef>
          <a:spcPct val="20000"/>
        </a:spcBef>
        <a:spcAft>
          <a:spcPct val="0"/>
        </a:spcAft>
        <a:buClr>
          <a:schemeClr val="accent2"/>
        </a:buClr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rtl="0" fontAlgn="base">
        <a:spcBef>
          <a:spcPct val="20000"/>
        </a:spcBef>
        <a:spcAft>
          <a:spcPct val="0"/>
        </a:spcAft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rtl="0" fontAlgn="base">
        <a:spcBef>
          <a:spcPct val="20000"/>
        </a:spcBef>
        <a:spcAft>
          <a:spcPct val="0"/>
        </a:spcAft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922C754-0F4F-F3F3-5A54-C6CB0EF24087}"/>
              </a:ext>
            </a:extLst>
          </p:cNvPr>
          <p:cNvSpPr txBox="1">
            <a:spLocks noChangeArrowheads="1"/>
          </p:cNvSpPr>
          <p:nvPr/>
        </p:nvSpPr>
        <p:spPr bwMode="white">
          <a:xfrm>
            <a:off x="1447800" y="3238500"/>
            <a:ext cx="58674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buNone/>
              <a:defRPr sz="1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57213" indent="-2143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US" sz="2400">
                <a:solidFill>
                  <a:schemeClr val="tx1"/>
                </a:solidFill>
              </a:rPr>
              <a:t>CHƯƠNG 6. DỮ LIỆU KIỂU TỆP</a:t>
            </a:r>
          </a:p>
        </p:txBody>
      </p:sp>
    </p:spTree>
  </p:cSld>
  <p:clrMapOvr>
    <a:masterClrMapping/>
  </p:clrMapOvr>
  <p:transition spd="slow">
    <p:rand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304800" y="457200"/>
            <a:ext cx="3454555" cy="381000"/>
            <a:chOff x="789624" y="1073706"/>
            <a:chExt cx="4606073" cy="508000"/>
          </a:xfrm>
        </p:grpSpPr>
        <p:sp>
          <p:nvSpPr>
            <p:cNvPr id="3" name="AutoShape 52"/>
            <p:cNvSpPr>
              <a:spLocks noChangeArrowheads="1"/>
            </p:cNvSpPr>
            <p:nvPr/>
          </p:nvSpPr>
          <p:spPr bwMode="gray">
            <a:xfrm>
              <a:off x="976097" y="1073706"/>
              <a:ext cx="4419600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b="1">
                  <a:solidFill>
                    <a:srgbClr val="FFFF00"/>
                  </a:solidFill>
                  <a:latin typeface="Cambria" panose="02040503050406030204" pitchFamily="18" charset="0"/>
                </a:rPr>
                <a:t>1. Mở tệp ghi dữ liệu</a:t>
              </a:r>
              <a:endParaRPr lang="en-US" sz="2800" b="1" kern="0">
                <a:solidFill>
                  <a:srgbClr val="FFFF00"/>
                </a:solidFill>
                <a:latin typeface="Cambria" panose="02040503050406030204" pitchFamily="18" charset="0"/>
              </a:endParaRPr>
            </a:p>
          </p:txBody>
        </p:sp>
        <p:grpSp>
          <p:nvGrpSpPr>
            <p:cNvPr id="4" name="Group 17"/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800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800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/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800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C63E34B1-BF36-47B1-8671-801B76DABB54}"/>
              </a:ext>
            </a:extLst>
          </p:cNvPr>
          <p:cNvSpPr txBox="1"/>
          <p:nvPr/>
        </p:nvSpPr>
        <p:spPr>
          <a:xfrm>
            <a:off x="76200" y="1145255"/>
            <a:ext cx="8686800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b="1"/>
              <a:t>Khai báo biến tệp</a:t>
            </a:r>
          </a:p>
          <a:p>
            <a:r>
              <a:rPr lang="en-US"/>
              <a:t>&lt; biến tệp&gt; = open(&lt;tên tệp&gt;, ‘w’)</a:t>
            </a:r>
          </a:p>
          <a:p>
            <a:r>
              <a:rPr lang="en-US"/>
              <a:t>	f1 = open(“C:/python/Vidu.txt”,‟w‟, encoding="utf-8")</a:t>
            </a:r>
          </a:p>
          <a:p>
            <a:r>
              <a:rPr lang="en-US"/>
              <a:t>Hoặc with open(&lt;tên tệp&gt;, ’w’)  as &lt;biến tệp&gt;:</a:t>
            </a:r>
          </a:p>
          <a:p>
            <a:r>
              <a:rPr lang="en-US"/>
              <a:t>	&lt;Khối lệnh làm việc với tệp&gt;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pl-PL" b="1"/>
              <a:t>Ghi </a:t>
            </a:r>
            <a:r>
              <a:rPr lang="en-US" b="1"/>
              <a:t>dữ liệu vào tệp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/>
              <a:t>Sử dụng Câu lệnh write() hoặc writelines()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/>
              <a:t>&lt; biến tệp&gt;.write(&lt;chuỗi ký tự&gt;)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/>
              <a:t>f1.write(”Lập trình Python cơ bản”)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/>
              <a:t>Ghi một chuỗi kí tự vào tệp.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b="1"/>
              <a:t>Đóng tệp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/>
              <a:t>f1.close()</a:t>
            </a:r>
          </a:p>
          <a:p>
            <a:pPr lvl="1"/>
            <a:r>
              <a:rPr lang="en-US"/>
              <a:t>f1=open("F:/help.txt","w",encoding="utf-8")</a:t>
            </a:r>
          </a:p>
          <a:p>
            <a:pPr lvl="1"/>
            <a:r>
              <a:rPr lang="en-US"/>
              <a:t>f1.write("Lập trình python \n")</a:t>
            </a:r>
          </a:p>
          <a:p>
            <a:pPr lvl="1"/>
            <a:r>
              <a:rPr lang="en-US"/>
              <a:t>f1.write("rất thú vị")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0B4301DB-83A7-48CE-9940-2AF833B894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AA4926"/>
                </a:solidFill>
                <a:effectLst/>
                <a:latin typeface="JetBrains Mono"/>
              </a:rPr>
              <a:t>encoding</a:t>
            </a: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=</a:t>
            </a: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"utf-8"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47131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304800" y="457200"/>
            <a:ext cx="3454555" cy="381000"/>
            <a:chOff x="789624" y="1073706"/>
            <a:chExt cx="4606073" cy="508000"/>
          </a:xfrm>
        </p:grpSpPr>
        <p:sp>
          <p:nvSpPr>
            <p:cNvPr id="3" name="AutoShape 52"/>
            <p:cNvSpPr>
              <a:spLocks noChangeArrowheads="1"/>
            </p:cNvSpPr>
            <p:nvPr/>
          </p:nvSpPr>
          <p:spPr bwMode="gray">
            <a:xfrm>
              <a:off x="976097" y="1073706"/>
              <a:ext cx="4419600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b="1">
                  <a:solidFill>
                    <a:srgbClr val="FFFF00"/>
                  </a:solidFill>
                  <a:latin typeface="Cambria" panose="02040503050406030204" pitchFamily="18" charset="0"/>
                </a:rPr>
                <a:t>2. Mở tệp đọc dữ liệu</a:t>
              </a:r>
              <a:endParaRPr lang="en-US" sz="2800" b="1" kern="0">
                <a:solidFill>
                  <a:srgbClr val="FFFF00"/>
                </a:solidFill>
                <a:latin typeface="Cambria" panose="02040503050406030204" pitchFamily="18" charset="0"/>
              </a:endParaRPr>
            </a:p>
          </p:txBody>
        </p:sp>
        <p:grpSp>
          <p:nvGrpSpPr>
            <p:cNvPr id="4" name="Group 17"/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800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800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/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800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C63E34B1-BF36-47B1-8671-801B76DABB54}"/>
              </a:ext>
            </a:extLst>
          </p:cNvPr>
          <p:cNvSpPr txBox="1"/>
          <p:nvPr/>
        </p:nvSpPr>
        <p:spPr>
          <a:xfrm>
            <a:off x="152400" y="1219200"/>
            <a:ext cx="86868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/>
              <a:t>Khai báo biến tệp</a:t>
            </a:r>
          </a:p>
          <a:p>
            <a:r>
              <a:rPr lang="en-US"/>
              <a:t>&lt; biến tệp&gt; = open(&lt;tên tệp&gt;, ‘r’)</a:t>
            </a:r>
          </a:p>
          <a:p>
            <a:r>
              <a:rPr lang="en-US"/>
              <a:t>	f1 = open(“C:/python/Vidu.txt”,‟r‟)</a:t>
            </a:r>
          </a:p>
          <a:p>
            <a:r>
              <a:rPr lang="en-US"/>
              <a:t>Hoặc with open(&lt;tên tệp&gt; ,’r’)  as &lt;biến tệp&gt;:</a:t>
            </a:r>
          </a:p>
          <a:p>
            <a:r>
              <a:rPr lang="en-US"/>
              <a:t>	&lt;Khối lệnh làm việc với tệp&gt;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/>
              <a:t>Đọc dữ liệu từ tệp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/>
              <a:t>f1.read(): đọc tất cả dữ liệu từ tệp hoặc read(n): đọc n byte tính từ con trỏ chuột	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/>
              <a:t>readline(): đọc từng dòng của tệp văn bản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/>
              <a:t>Đóng tệp: f1.close()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0B4301DB-83A7-48CE-9940-2AF833B894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AA4926"/>
                </a:solidFill>
                <a:effectLst/>
                <a:latin typeface="JetBrains Mono"/>
              </a:rPr>
              <a:t>encoding</a:t>
            </a: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=</a:t>
            </a: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"utf-8"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0209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304800" y="457200"/>
            <a:ext cx="3454555" cy="381000"/>
            <a:chOff x="789624" y="1073706"/>
            <a:chExt cx="4606073" cy="508000"/>
          </a:xfrm>
        </p:grpSpPr>
        <p:sp>
          <p:nvSpPr>
            <p:cNvPr id="3" name="AutoShape 52"/>
            <p:cNvSpPr>
              <a:spLocks noChangeArrowheads="1"/>
            </p:cNvSpPr>
            <p:nvPr/>
          </p:nvSpPr>
          <p:spPr bwMode="gray">
            <a:xfrm>
              <a:off x="976097" y="1073706"/>
              <a:ext cx="4419600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b="1">
                  <a:solidFill>
                    <a:srgbClr val="FFFF00"/>
                  </a:solidFill>
                  <a:latin typeface="Cambria" panose="02040503050406030204" pitchFamily="18" charset="0"/>
                </a:rPr>
                <a:t>3. Mở tệp để ghi them dữ liệu</a:t>
              </a:r>
              <a:endParaRPr lang="en-US" sz="2800" b="1" kern="0">
                <a:solidFill>
                  <a:srgbClr val="FFFF00"/>
                </a:solidFill>
                <a:latin typeface="Cambria" panose="02040503050406030204" pitchFamily="18" charset="0"/>
              </a:endParaRPr>
            </a:p>
          </p:txBody>
        </p:sp>
        <p:grpSp>
          <p:nvGrpSpPr>
            <p:cNvPr id="4" name="Group 17"/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/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800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/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800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/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800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C63E34B1-BF36-47B1-8671-801B76DABB54}"/>
              </a:ext>
            </a:extLst>
          </p:cNvPr>
          <p:cNvSpPr txBox="1"/>
          <p:nvPr/>
        </p:nvSpPr>
        <p:spPr>
          <a:xfrm>
            <a:off x="152400" y="1219200"/>
            <a:ext cx="86868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/>
              <a:t>Khai báo biến tệp</a:t>
            </a:r>
          </a:p>
          <a:p>
            <a:r>
              <a:rPr lang="en-US"/>
              <a:t>&lt; biến tệp&gt; = open(&lt;tên tệp&gt;, “a”)</a:t>
            </a:r>
          </a:p>
          <a:p>
            <a:r>
              <a:rPr lang="en-US"/>
              <a:t>	f1 = open(“C:/python/Vidu.txt”,‟a‟)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/>
              <a:t>Ghi thêm dữ liệu vào tệp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/>
              <a:t>f1.write(“Nội dung mới ghi thêm”):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/>
              <a:t>Đóng tệp: f1.close()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0B4301DB-83A7-48CE-9940-2AF833B894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AA4926"/>
                </a:solidFill>
                <a:effectLst/>
                <a:latin typeface="JetBrains Mono"/>
              </a:rPr>
              <a:t>encoding</a:t>
            </a: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=</a:t>
            </a: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"utf-8"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96663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82A0151-3209-4D1D-8D84-B07113DD0845}"/>
              </a:ext>
            </a:extLst>
          </p:cNvPr>
          <p:cNvSpPr txBox="1"/>
          <p:nvPr/>
        </p:nvSpPr>
        <p:spPr>
          <a:xfrm>
            <a:off x="457200" y="1351508"/>
            <a:ext cx="85344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b="1"/>
              <a:t>Bài tập 1. Tổng các số hạng lẻ</a:t>
            </a:r>
          </a:p>
          <a:p>
            <a:r>
              <a:rPr lang="vi-VN"/>
              <a:t>Cho dãy số gồm các số nguyên dương được ghi trong tệp Dayso.txt. Hãy đọc các số hạng</a:t>
            </a:r>
            <a:r>
              <a:rPr lang="en-US"/>
              <a:t> </a:t>
            </a:r>
            <a:r>
              <a:rPr lang="vi-VN"/>
              <a:t>của dãy số này và tính tổng của các số hạng lẻ trong dãy. Các số hạng có thể được ghi trên nhiều</a:t>
            </a:r>
            <a:r>
              <a:rPr lang="en-US"/>
              <a:t> </a:t>
            </a:r>
            <a:r>
              <a:rPr lang="vi-VN"/>
              <a:t>dòng</a:t>
            </a:r>
          </a:p>
          <a:p>
            <a:r>
              <a:rPr lang="vi-VN"/>
              <a:t>Ví dụ:</a:t>
            </a:r>
          </a:p>
          <a:p>
            <a:r>
              <a:rPr lang="vi-VN"/>
              <a:t>Dayso.txt</a:t>
            </a:r>
          </a:p>
          <a:p>
            <a:r>
              <a:rPr lang="vi-VN"/>
              <a:t>122 33 10</a:t>
            </a:r>
          </a:p>
          <a:p>
            <a:r>
              <a:rPr lang="vi-VN"/>
              <a:t>10 25 1</a:t>
            </a:r>
          </a:p>
          <a:p>
            <a:r>
              <a:rPr lang="vi-VN"/>
              <a:t>Tổng các số hạng lẻ trong tệp là: 33 + 25+1 = 59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3708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30F498F-D3BA-4DE5-8ABD-F9607DB43390}"/>
              </a:ext>
            </a:extLst>
          </p:cNvPr>
          <p:cNvSpPr txBox="1"/>
          <p:nvPr/>
        </p:nvSpPr>
        <p:spPr>
          <a:xfrm>
            <a:off x="609600" y="1371600"/>
            <a:ext cx="80010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f = open('F:/dayso.txt','r',encoding="utf-8")</a:t>
            </a:r>
          </a:p>
          <a:p>
            <a:r>
              <a:rPr lang="en-US"/>
              <a:t>list_lines = f.readlines();</a:t>
            </a:r>
          </a:p>
          <a:p>
            <a:r>
              <a:rPr lang="en-US"/>
              <a:t>f.close()</a:t>
            </a:r>
          </a:p>
          <a:p>
            <a:r>
              <a:rPr lang="en-US"/>
              <a:t>kq = 0</a:t>
            </a:r>
          </a:p>
          <a:p>
            <a:r>
              <a:rPr lang="en-US"/>
              <a:t>for line in list_lines:</a:t>
            </a:r>
          </a:p>
          <a:p>
            <a:r>
              <a:rPr lang="en-US"/>
              <a:t>    number = line.split()</a:t>
            </a:r>
          </a:p>
          <a:p>
            <a:r>
              <a:rPr lang="en-US"/>
              <a:t>    for x in number:</a:t>
            </a:r>
          </a:p>
          <a:p>
            <a:r>
              <a:rPr lang="en-US"/>
              <a:t>        y = int(x)</a:t>
            </a:r>
          </a:p>
          <a:p>
            <a:r>
              <a:rPr lang="en-US"/>
              <a:t>        if y%2 == 1:</a:t>
            </a:r>
          </a:p>
          <a:p>
            <a:r>
              <a:rPr lang="en-US"/>
              <a:t>                kq = kq + y</a:t>
            </a:r>
          </a:p>
          <a:p>
            <a:r>
              <a:rPr lang="en-US"/>
              <a:t>print("Tong cac so hang le: ",kq)</a:t>
            </a:r>
          </a:p>
        </p:txBody>
      </p:sp>
    </p:spTree>
    <p:extLst>
      <p:ext uri="{BB962C8B-B14F-4D97-AF65-F5344CB8AC3E}">
        <p14:creationId xmlns:p14="http://schemas.microsoft.com/office/powerpoint/2010/main" val="3640578193"/>
      </p:ext>
    </p:extLst>
  </p:cSld>
  <p:clrMapOvr>
    <a:masterClrMapping/>
  </p:clrMapOvr>
</p:sld>
</file>

<file path=ppt/theme/theme1.xml><?xml version="1.0" encoding="utf-8"?>
<a:theme xmlns:a="http://schemas.openxmlformats.org/drawingml/2006/main" name="170Gp_natural_light">
  <a:themeElements>
    <a:clrScheme name="170Gp_natural_light 1">
      <a:dk1>
        <a:srgbClr val="000000"/>
      </a:dk1>
      <a:lt1>
        <a:srgbClr val="FFFFFF"/>
      </a:lt1>
      <a:dk2>
        <a:srgbClr val="000066"/>
      </a:dk2>
      <a:lt2>
        <a:srgbClr val="C0C0C0"/>
      </a:lt2>
      <a:accent1>
        <a:srgbClr val="65D135"/>
      </a:accent1>
      <a:accent2>
        <a:srgbClr val="ECCE4C"/>
      </a:accent2>
      <a:accent3>
        <a:srgbClr val="FFFFFF"/>
      </a:accent3>
      <a:accent4>
        <a:srgbClr val="000000"/>
      </a:accent4>
      <a:accent5>
        <a:srgbClr val="B8E5AE"/>
      </a:accent5>
      <a:accent6>
        <a:srgbClr val="D6BA44"/>
      </a:accent6>
      <a:hlink>
        <a:srgbClr val="AE0404"/>
      </a:hlink>
      <a:folHlink>
        <a:srgbClr val="0066CC"/>
      </a:folHlink>
    </a:clrScheme>
    <a:fontScheme name="170Gp_natural_light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170Gp_natural_light 1">
        <a:dk1>
          <a:srgbClr val="000000"/>
        </a:dk1>
        <a:lt1>
          <a:srgbClr val="FFFFFF"/>
        </a:lt1>
        <a:dk2>
          <a:srgbClr val="000066"/>
        </a:dk2>
        <a:lt2>
          <a:srgbClr val="C0C0C0"/>
        </a:lt2>
        <a:accent1>
          <a:srgbClr val="65D135"/>
        </a:accent1>
        <a:accent2>
          <a:srgbClr val="ECCE4C"/>
        </a:accent2>
        <a:accent3>
          <a:srgbClr val="FFFFFF"/>
        </a:accent3>
        <a:accent4>
          <a:srgbClr val="000000"/>
        </a:accent4>
        <a:accent5>
          <a:srgbClr val="B8E5AE"/>
        </a:accent5>
        <a:accent6>
          <a:srgbClr val="D6BA44"/>
        </a:accent6>
        <a:hlink>
          <a:srgbClr val="AE0404"/>
        </a:hlink>
        <a:folHlink>
          <a:srgbClr val="0066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70Gp_natural_light 2">
        <a:dk1>
          <a:srgbClr val="000000"/>
        </a:dk1>
        <a:lt1>
          <a:srgbClr val="FFFFFF"/>
        </a:lt1>
        <a:dk2>
          <a:srgbClr val="17407D"/>
        </a:dk2>
        <a:lt2>
          <a:srgbClr val="DDDDDD"/>
        </a:lt2>
        <a:accent1>
          <a:srgbClr val="5DC5B9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B6DFD9"/>
        </a:accent5>
        <a:accent6>
          <a:srgbClr val="8AB9E7"/>
        </a:accent6>
        <a:hlink>
          <a:srgbClr val="5D99DB"/>
        </a:hlink>
        <a:folHlink>
          <a:srgbClr val="F1CA6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70Gp_natural_light 3">
        <a:dk1>
          <a:srgbClr val="000000"/>
        </a:dk1>
        <a:lt1>
          <a:srgbClr val="FFFFFF"/>
        </a:lt1>
        <a:dk2>
          <a:srgbClr val="511550"/>
        </a:dk2>
        <a:lt2>
          <a:srgbClr val="DDDDDD"/>
        </a:lt2>
        <a:accent1>
          <a:srgbClr val="8B8DE1"/>
        </a:accent1>
        <a:accent2>
          <a:srgbClr val="CABDF5"/>
        </a:accent2>
        <a:accent3>
          <a:srgbClr val="FFFFFF"/>
        </a:accent3>
        <a:accent4>
          <a:srgbClr val="000000"/>
        </a:accent4>
        <a:accent5>
          <a:srgbClr val="C4C5EE"/>
        </a:accent5>
        <a:accent6>
          <a:srgbClr val="B7ABDE"/>
        </a:accent6>
        <a:hlink>
          <a:srgbClr val="58AFD2"/>
        </a:hlink>
        <a:folHlink>
          <a:srgbClr val="BFDF63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Designs\Blends.pot</Template>
  <TotalTime>43588</TotalTime>
  <Words>822</Words>
  <Application>Microsoft Office PowerPoint</Application>
  <PresentationFormat>On-screen Show (4:3)</PresentationFormat>
  <Paragraphs>74</Paragraphs>
  <Slides>6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Arial</vt:lpstr>
      <vt:lpstr>Cambria</vt:lpstr>
      <vt:lpstr>JetBrains Mono</vt:lpstr>
      <vt:lpstr>Tahoma</vt:lpstr>
      <vt:lpstr>Times New Roman</vt:lpstr>
      <vt:lpstr>Wingdings</vt:lpstr>
      <vt:lpstr>170Gp_natural_light</vt:lpstr>
      <vt:lpstr>Image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Programming Concepts</dc:title>
  <dc:creator>radha</dc:creator>
  <cp:lastModifiedBy>Mai Trang</cp:lastModifiedBy>
  <cp:revision>509</cp:revision>
  <cp:lastPrinted>1601-01-01T00:00:00Z</cp:lastPrinted>
  <dcterms:created xsi:type="dcterms:W3CDTF">2001-02-20T09:46:25Z</dcterms:created>
  <dcterms:modified xsi:type="dcterms:W3CDTF">2025-12-18T01:51:09Z</dcterms:modified>
</cp:coreProperties>
</file>